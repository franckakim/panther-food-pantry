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f344f84-a8eb-f102-3663-800dd1583bab}">
          <p14:sldIdLst>
            <p14:sldId id="256"/>
            <p14:sldId id="257"/>
            <p14:sldId id="258"/>
            <p14:sldId id="259"/>
          </p14:sldIdLst>
        </p14:section>
        <p14:section name="Four architecture options" id="{59bdc5fb-ce36-9aba-91c8-8ab7a1c1edcc}">
          <p14:sldIdLst>
            <p14:sldId id="260"/>
            <p14:sldId id="261"/>
            <p14:sldId id="262"/>
            <p14:sldId id="263"/>
            <p14:sldId id="264"/>
            <p14:sldId id="265"/>
            <p14:sldId id="266"/>
            <p14:sldId id="267"/>
            <p14:sldId id="268"/>
            <p14:sldId id="269"/>
          </p14:sldIdLst>
        </p14:section>
        <p14:section name="Comparison and recommendation" id="{d349db08-3165-da3c-f4bf-1cf0177592c2}">
          <p14:sldIdLst>
            <p14:sldId id="270"/>
            <p14:sldId id="271"/>
          </p14:sldIdLst>
        </p14:section>
        <p14:section name="Detailed design" id="{aecef3c4-0bab-fab8-489e-08118a32fbf2}">
          <p14:sldIdLst>
            <p14:sldId id="272"/>
            <p14:sldId id="273"/>
            <p14:sldId id="274"/>
            <p14:sldId id="275"/>
            <p14:sldId id="276"/>
            <p14:sldId id="277"/>
          </p14:sldIdLst>
        </p14:section>
        <p14:section name="Delivery plan" id="{f83241ae-8772-8ae7-24ca-81d1e3e94a74}">
          <p14:sldIdLst>
            <p14:sldId id="278"/>
            <p14:sldId id="279"/>
            <p14:sldId id="280"/>
            <p14:sldId id="281"/>
            <p14:sldId id="282"/>
            <p14:sldId id="283"/>
          </p14:sldIdLst>
        </p14:section>
        <p14:section name="Appendix" id="{41dd03e3-a836-d684-f9a4-67de48fa661f}">
          <p14:sldIdLst>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goal of this talk: we considered four architectures for the pantry system, chose one, and will show why it is correct, secure and finishable by November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answer. Three reasons: it fits the tools in our Homework 2 report, it gives every team member clear ownership, and it can be finished on time, with a pre-agreed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from Proposal section 1. Three roles from Proposal section 3. The workflow chevrons come from Homework 2 page 1. Highlight distribution: it is the step where the system can go wrong, and the design is built around protecting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proposal left these questions open. Each decision is reversible, but cheaper to change now than later. The one we expect questions on is login: we chose the app's own accounts because campus single sign-on requires IT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options implement the same requirements and the same twelve database tables. What changes is where the code runs and who operates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per option. A: a classic server-rendered monolith. B: our pick. C: backend-as-a-service, where the database itself enforces security. D: fully serverless and event-driven. The differences are about where logic lives and who runs the infrastructure, not just language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numbered steps: 1 the browser posts an HTML form with a CSRF token. 2 middleware checks the token and loads the session. 3 group permission check. 4 the view validates and saves through the ORM. 5 one transaction writes the request and the audit row. 6 and 7 email is sent after commit, inside the same process. 8 the server redirects to a rendered page. Everything runs in one container on Render.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A is the safest plan. We keep it as the fallback: if one feature is not working end-to-end on the deployed site by October 29, we switch to server-rendered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steps: 1 the browser downloads the React app from the same container. 2 the app sends POST /api/requests with JSON; the httpOnly cookie goes along automatically. 3 the auth guard confirms the role. 4 the Requests module validates the slot. 5 one PostgreSQL transaction writes request plus audit row. 6 the API returns 201, then a background task sends email. 7 the email API delivers it; a failure is logged, never shown as a failed request. GitHub Actions deploys on merge to main; an uptime monitor pings /health.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B: it is a monolith in deployment, so it is simple to run, but modular in code, so eight people can work in parallel without stepping on each other. Same origin means no CORS configuration and safer cookies.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steps: 1 the app loads from a CDN. 2 the student signs in with Supabase Auth and gets a JWT, a signed token stating who they are. 3 the app calls the auto-generated REST API directly. 4 the insert runs inside Postgres as the authenticated role. 5 Row-Level Security checks the user. 6 and 7 a database webhook calls an Edge Function. 8 the function sends the email. The red dashed line is the trust boundary: the RLS policies are the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Supabase is attractive, but it moves our security model into database policies none of us have written before. One missing policy is a data leak, and that risk is hard to test away in six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steps: 1 the app loads from CloudFront and S3. 2 Cognito sign-in returns a JWT. 3 API Gateway validates the token before any code runs. 4 it invokes a Lambda function. 5 the function writes through RDS Proxy into PostgreSQL in a private network. 6 it publishes an event and returns. 7 EventBridge routes the event. 8 a Notify function sends email through SES. A scheduler runs a daily expiry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include D to show we considered a cloud-native design and rejected it for cost and complexity, not because we did not know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across the B column. B ties A on cost, scale and reliability because both are one container and one database, and beats it on fit with our tools and team. C and D lose on fit, feasibility and, for D,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Senior engineers respect a design that names its own limits. These are the concrete conditions that would make another option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views are shared by all four options, but we present them for Option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box is a value of requests.status. Arrows are the only allowed changes, and each shows who makes it. Every arrow is one API action and at least one test; any other change returns 409 Conflict. Point out the walk-in path on the right and the no-account rule at the bottom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The invariant is enforced three independent ways, and we prove it with a concurrency test in CI. If asked what happens when two people take the last item: one succeeds, one is told only zero are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Sequence diagram, time flows down. 1 staff screen posts the distribution. 2 begin a transaction. 3 select matching lots ordered by expiry date and lock them. 4 locked rows return. If stock is short, roll back and return 409. 5 decrement with a CHECK constraint. 6 insert distribution, lines, ledger and audit rows and complete the request. 7 commit. 8 return a receipt. FEFO means first expired, first out, which serves the proposal's food-waste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items versus lots. Canned beans is an item; each delivery of beans is a lot with its own expiry date and shelf. qty_on_hand is a fast running total; inventory_txns is the ledger that explains every change, and a test checks they agree. Student profiles can exist without a user account: that is the provisional profile for walk-ins.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Records of who uses a food pantry are sensitive. We minimize what we collect, restrict who can see it, and audit every staff action. The honest gap is data retention: we will set that with pantry staff.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 get from today to a working demo on November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Must-haves are the loop we demo. Should-haves are first to go if we slip. The Won't list is as important as the Must list: it tells the audience we scoped deliberately.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Sprint 0 is the foundation: every laptop can run the whole stack with one command, and CI runs on every pull request. The Oct 29 checkpoint is our go or no-go for Option B. Code freezes Nov 15 so we can rehearse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module has an owner and a backup. DevOps and testing start first, because everyone depends on the pipeline in Sprint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risk is that we have not talked to the people who run the pantry. We will do that before the requirements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Restate the recommendation in one sentence and open the floor. The appendix has prepared answers to the most likely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Whoever presents the matching slide should be able to give these answers without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Whoever presents the matching slide should be able to give these answers without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rtlCol="0"/>
          <a:lstStyle>
            <a:lvl1pPr indent="0" marL="0">
              <a:buNone/>
              <a:defRPr lang="en-US" sz="4400" b="1" dirty="0">
                <a:solidFill>
                  <a:schemeClr val="bg1"/>
                </a:solidFill>
                <a:latin typeface="Cambria" pitchFamily="34" charset="0"/>
                <a:ea typeface="Cambria" pitchFamily="34" charset="-122"/>
                <a:cs typeface="Cambria" pitchFamily="34" charset="-120"/>
              </a:defRPr>
            </a:lvl1pPr>
          </a:lstStyle>
          <a:p>
            <a:pPr indent="0" marL="0">
              <a:buNone/>
            </a:pPr>
            <a:endParaRPr lang="en-US" sz="4400" dirty="0"/>
          </a:p>
        </p:txBody>
      </p:sp>
      <p:sp>
        <p:nvSpPr>
          <p:cNvPr id="3" name="Text 0"/>
          <p:cNvSpPr/>
          <p:nvPr>
            <p:ph idx="101" type="body" hasCustomPrompt="1"/>
          </p:nvPr>
        </p:nvSpPr>
        <p:spPr>
          <a:xfrm>
            <a:off x="731520" y="3794760"/>
            <a:ext cx="10698480" cy="1463040"/>
          </a:xfrm>
          <a:prstGeom prst="rect">
            <a:avLst/>
          </a:prstGeom>
          <a:noFill/>
          <a:ln/>
        </p:spPr>
        <p:txBody>
          <a:bodyPr wrap="square" rtlCol="0"/>
          <a:lstStyle>
            <a:lvl1pPr indent="0" marL="0">
              <a:buNone/>
              <a:defRPr lang="en-US" sz="1800" dirty="0">
                <a:solidFill>
                  <a:schemeClr val="accent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rtlCol="0"/>
          <a:lstStyle>
            <a:lvl1pPr indent="0" marL="0">
              <a:buNone/>
              <a:defRPr lang="en-US" sz="4000" b="1" dirty="0">
                <a:solidFill>
                  <a:schemeClr val="bg1"/>
                </a:solidFill>
                <a:latin typeface="Cambria" pitchFamily="34" charset="0"/>
                <a:ea typeface="Cambria" pitchFamily="34" charset="-122"/>
                <a:cs typeface="Cambria" pitchFamily="34" charset="-120"/>
              </a:defRPr>
            </a:lvl1pPr>
          </a:lstStyle>
          <a:p>
            <a:pPr indent="0" marL="0">
              <a:buNone/>
            </a:pPr>
            <a:endParaRPr lang="en-US" sz="4000" dirty="0"/>
          </a:p>
        </p:txBody>
      </p:sp>
      <p:sp>
        <p:nvSpPr>
          <p:cNvPr id="3" name="Text 0"/>
          <p:cNvSpPr/>
          <p:nvPr>
            <p:ph idx="101" type="body" hasCustomPrompt="1"/>
          </p:nvPr>
        </p:nvSpPr>
        <p:spPr>
          <a:xfrm>
            <a:off x="731520" y="3703320"/>
            <a:ext cx="10698480" cy="914400"/>
          </a:xfrm>
          <a:prstGeom prst="rect">
            <a:avLst/>
          </a:prstGeom>
          <a:noFill/>
          <a:ln/>
        </p:spPr>
        <p:txBody>
          <a:bodyPr wrap="square" rtlCol="0"/>
          <a:lstStyle>
            <a:lvl1pPr indent="0" marL="0">
              <a:buNone/>
              <a:defRPr lang="en-US" sz="1800" dirty="0">
                <a:solidFill>
                  <a:schemeClr val="accent2"/>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indent="0" marL="0">
              <a:buNone/>
              <a:defRPr lang="en-US" sz="3200" b="1" dirty="0">
                <a:solidFill>
                  <a:schemeClr val="tx2"/>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6B6478"/>
                </a:solidFill>
              </a:rPr>
              <a:t>Panther Food Pantry Management System  ·  CINS 5318  ·  Fall 2026</a:t>
            </a:r>
            <a:endParaRPr lang="en-US" sz="1000" dirty="0"/>
          </a:p>
        </p:txBody>
      </p:sp>
      <p:sp>
        <p:nvSpPr>
          <p:cNvPr id="25" name="Slide Number Placeholder 0"/>
          <p:cNvSpPr>
            <a:spLocks noGrp="1"/>
          </p:cNvSpPr>
          <p:nvPr>
            <p:ph type="sldNum" sz="quarter" idx="4294967295"/>
          </p:nvPr>
        </p:nvSpPr>
        <p:spPr>
          <a:xfrm>
            <a:off x="11247120" y="6400800"/>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8"/>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iagram">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64240" cy="640080"/>
          </a:xfrm>
          <a:prstGeom prst="rect">
            <a:avLst/>
          </a:prstGeom>
          <a:noFill/>
          <a:ln/>
        </p:spPr>
        <p:txBody>
          <a:bodyPr wrap="square" rtlCol="0"/>
          <a:lstStyle>
            <a:lvl1pPr indent="0" marL="0">
              <a:buNone/>
              <a:defRPr lang="en-US" sz="2800" b="1" dirty="0">
                <a:solidFill>
                  <a:schemeClr val="tx2"/>
                </a:solidFill>
                <a:latin typeface="Cambria" pitchFamily="34" charset="0"/>
                <a:ea typeface="Cambria" pitchFamily="34" charset="-122"/>
                <a:cs typeface="Cambria" pitchFamily="34" charset="-120"/>
              </a:defRPr>
            </a:lvl1pPr>
          </a:lstStyle>
          <a:p>
            <a:pPr indent="0" marL="0">
              <a:buNone/>
            </a:pPr>
            <a:endParaRPr lang="en-US" sz="28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6B6478"/>
                </a:solidFill>
              </a:rPr>
              <a:t>Panther Food Pantry Management System  ·  CINS 5318  ·  Fall 2026</a:t>
            </a:r>
            <a:endParaRPr lang="en-US" sz="1000" dirty="0"/>
          </a:p>
        </p:txBody>
      </p:sp>
      <p:sp>
        <p:nvSpPr>
          <p:cNvPr id="25" name="Slide Number Placeholder 0"/>
          <p:cNvSpPr>
            <a:spLocks noGrp="1"/>
          </p:cNvSpPr>
          <p:nvPr>
            <p:ph type="sldNum" sz="quarter" idx="4294967295"/>
          </p:nvPr>
        </p:nvSpPr>
        <p:spPr>
          <a:xfrm>
            <a:off x="11247120" y="6400800"/>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5.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5.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5.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5.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5.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5.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5.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rtlCol="0" anchor="b"/>
          <a:lstStyle/>
          <a:p>
            <a:pPr indent="0" marL="0">
              <a:buNone/>
            </a:pPr>
            <a:r>
              <a:rPr lang="en-US" sz="4400" b="1" dirty="0">
                <a:solidFill>
                  <a:schemeClr val="bg1"/>
                </a:solidFill>
                <a:latin typeface="Cambria" pitchFamily="34" charset="0"/>
                <a:ea typeface="Cambria" pitchFamily="34" charset="-122"/>
                <a:cs typeface="Cambria" pitchFamily="34" charset="-120"/>
              </a:rPr>
              <a:t>Panther Food Pantry Management System</a:t>
            </a:r>
            <a:endParaRPr lang="en-US" sz="4400" dirty="0"/>
          </a:p>
        </p:txBody>
      </p:sp>
      <p:sp>
        <p:nvSpPr>
          <p:cNvPr id="3" name="Text 0"/>
          <p:cNvSpPr/>
          <p:nvPr>
            <p:ph idx="101" type="body" hasCustomPrompt="1"/>
          </p:nvPr>
        </p:nvSpPr>
        <p:spPr>
          <a:xfrm>
            <a:off x="731520" y="3794760"/>
            <a:ext cx="10698480" cy="1463040"/>
          </a:xfrm>
          <a:prstGeom prst="rect">
            <a:avLst/>
          </a:prstGeom>
          <a:noFill/>
          <a:ln/>
        </p:spPr>
        <p:txBody>
          <a:bodyPr wrap="square" rtlCol="0" anchor="t"/>
          <a:lstStyle/>
          <a:p>
            <a:pPr indent="0" marL="0">
              <a:buNone/>
            </a:pPr>
            <a:r>
              <a:rPr lang="en-US" sz="1800" dirty="0">
                <a:solidFill>
                  <a:schemeClr val="accent2"/>
                </a:solidFill>
              </a:rPr>
              <a:t>Software architecture: four options and one recommendation</a:t>
            </a:r>
            <a:endParaRPr lang="en-US" sz="1800" dirty="0"/>
          </a:p>
          <a:p>
            <a:pPr indent="0" marL="0">
              <a:buNone/>
            </a:pPr>
            <a:r>
              <a:rPr lang="en-US" sz="1800" dirty="0">
                <a:solidFill>
                  <a:schemeClr val="accent2"/>
                </a:solidFill>
              </a:rPr>
              <a:t>CINS 5318 Software Engineering  ·  Prairie View A&amp;M University  ·  Fall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Our recommendation: Option B</a:t>
            </a:r>
            <a:endParaRPr lang="en-US" sz="3200" dirty="0"/>
          </a:p>
        </p:txBody>
      </p:sp>
      <p:sp>
        <p:nvSpPr>
          <p:cNvPr id="3" name="text-1"/>
          <p:cNvSpPr txBox="1"/>
          <p:nvPr/>
        </p:nvSpPr>
        <p:spPr>
          <a:xfrm>
            <a:off x="548640" y="1097280"/>
            <a:ext cx="11064240" cy="457200"/>
          </a:xfrm>
          <a:prstGeom prst="rect">
            <a:avLst/>
          </a:prstGeom>
          <a:noFill/>
          <a:ln/>
        </p:spPr>
        <p:txBody>
          <a:bodyPr wrap="square" lIns="0" tIns="0" rIns="0" bIns="0" rtlCol="0" anchor="t"/>
          <a:lstStyle/>
          <a:p>
            <a:pPr indent="0" marL="0">
              <a:buNone/>
            </a:pPr>
            <a:r>
              <a:rPr lang="en-US" sz="1800" dirty="0">
                <a:solidFill>
                  <a:srgbClr val="4A4458"/>
                </a:solidFill>
              </a:rPr>
              <a:t>A React single-page app and a FastAPI modular monolith over PostgreSQL, shipped as one Docker container.</a:t>
            </a:r>
            <a:endParaRPr lang="en-US" sz="1800" dirty="0"/>
          </a:p>
        </p:txBody>
      </p:sp>
      <p:sp>
        <p:nvSpPr>
          <p:cNvPr id="4" name="card-2"/>
          <p:cNvSpPr/>
          <p:nvPr/>
        </p:nvSpPr>
        <p:spPr>
          <a:xfrm>
            <a:off x="548640" y="1920240"/>
            <a:ext cx="3538728" cy="3566160"/>
          </a:xfrm>
          <a:prstGeom prst="roundRect">
            <a:avLst>
              <a:gd name="adj" fmla="val 2067"/>
            </a:avLst>
          </a:prstGeom>
          <a:solidFill>
            <a:schemeClr val="bg2"/>
          </a:solidFill>
          <a:ln w="12700">
            <a:solidFill>
              <a:schemeClr val="bg2"/>
            </a:solidFill>
            <a:prstDash val="solid"/>
          </a:ln>
        </p:spPr>
      </p:sp>
      <p:sp>
        <p:nvSpPr>
          <p:cNvPr id="5" name="badge-3"/>
          <p:cNvSpPr/>
          <p:nvPr/>
        </p:nvSpPr>
        <p:spPr>
          <a:xfrm>
            <a:off x="822960" y="2194560"/>
            <a:ext cx="594360" cy="594360"/>
          </a:xfrm>
          <a:prstGeom prst="ellipse">
            <a:avLst/>
          </a:prstGeom>
          <a:solidFill>
            <a:schemeClr val="accent1"/>
          </a:solidFill>
          <a:ln w="12700">
            <a:solidFill>
              <a:schemeClr val="accent1"/>
            </a:solidFill>
            <a:prstDash val="solid"/>
          </a:ln>
        </p:spPr>
      </p:sp>
      <p:sp>
        <p:nvSpPr>
          <p:cNvPr id="6" name="badge-text-4"/>
          <p:cNvSpPr txBox="1"/>
          <p:nvPr/>
        </p:nvSpPr>
        <p:spPr>
          <a:xfrm>
            <a:off x="822960" y="2194560"/>
            <a:ext cx="594360" cy="59436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7" name="text-5"/>
          <p:cNvSpPr txBox="1"/>
          <p:nvPr/>
        </p:nvSpPr>
        <p:spPr>
          <a:xfrm>
            <a:off x="822960" y="3017520"/>
            <a:ext cx="3017520" cy="731520"/>
          </a:xfrm>
          <a:prstGeom prst="rect">
            <a:avLst/>
          </a:prstGeom>
          <a:noFill/>
          <a:ln/>
        </p:spPr>
        <p:txBody>
          <a:bodyPr wrap="square" lIns="0" tIns="0" rIns="0" bIns="0" rtlCol="0" anchor="t"/>
          <a:lstStyle/>
          <a:p>
            <a:pPr indent="0" marL="0">
              <a:buNone/>
            </a:pPr>
            <a:r>
              <a:rPr lang="en-US" sz="2000" b="1" dirty="0">
                <a:solidFill>
                  <a:schemeClr val="tx2"/>
                </a:solidFill>
              </a:rPr>
              <a:t>Uses every tool we committed to</a:t>
            </a:r>
            <a:endParaRPr lang="en-US" sz="2000" dirty="0"/>
          </a:p>
        </p:txBody>
      </p:sp>
      <p:sp>
        <p:nvSpPr>
          <p:cNvPr id="8" name="text-6"/>
          <p:cNvSpPr txBox="1"/>
          <p:nvPr/>
        </p:nvSpPr>
        <p:spPr>
          <a:xfrm>
            <a:off x="822960" y="3794760"/>
            <a:ext cx="3017520" cy="1554480"/>
          </a:xfrm>
          <a:prstGeom prst="rect">
            <a:avLst/>
          </a:prstGeom>
          <a:noFill/>
          <a:ln/>
        </p:spPr>
        <p:txBody>
          <a:bodyPr wrap="square" lIns="0" tIns="0" rIns="0" bIns="0" rtlCol="0" anchor="t"/>
          <a:lstStyle/>
          <a:p>
            <a:pPr indent="0" marL="0">
              <a:buNone/>
            </a:pPr>
            <a:r>
              <a:rPr lang="en-US" sz="1600" dirty="0">
                <a:solidFill>
                  <a:schemeClr val="tx1"/>
                </a:solidFill>
              </a:rPr>
              <a:t>Jira, Figma, VS Code, GitHub Actions, API tests and Docker (Homework 2) each have real work to do.</a:t>
            </a:r>
            <a:endParaRPr lang="en-US" sz="1600" dirty="0"/>
          </a:p>
        </p:txBody>
      </p:sp>
      <p:sp>
        <p:nvSpPr>
          <p:cNvPr id="9" name="card-7"/>
          <p:cNvSpPr/>
          <p:nvPr/>
        </p:nvSpPr>
        <p:spPr>
          <a:xfrm>
            <a:off x="4325112" y="1920240"/>
            <a:ext cx="3538728" cy="3566160"/>
          </a:xfrm>
          <a:prstGeom prst="roundRect">
            <a:avLst>
              <a:gd name="adj" fmla="val 2067"/>
            </a:avLst>
          </a:prstGeom>
          <a:solidFill>
            <a:schemeClr val="bg2"/>
          </a:solidFill>
          <a:ln w="12700">
            <a:solidFill>
              <a:schemeClr val="bg2"/>
            </a:solidFill>
            <a:prstDash val="solid"/>
          </a:ln>
        </p:spPr>
      </p:sp>
      <p:sp>
        <p:nvSpPr>
          <p:cNvPr id="10" name="badge-8"/>
          <p:cNvSpPr/>
          <p:nvPr/>
        </p:nvSpPr>
        <p:spPr>
          <a:xfrm>
            <a:off x="4599432" y="2194560"/>
            <a:ext cx="594360" cy="594360"/>
          </a:xfrm>
          <a:prstGeom prst="ellipse">
            <a:avLst/>
          </a:prstGeom>
          <a:solidFill>
            <a:schemeClr val="accent1"/>
          </a:solidFill>
          <a:ln w="12700">
            <a:solidFill>
              <a:schemeClr val="accent1"/>
            </a:solidFill>
            <a:prstDash val="solid"/>
          </a:ln>
        </p:spPr>
      </p:sp>
      <p:sp>
        <p:nvSpPr>
          <p:cNvPr id="11" name="badge-text-9"/>
          <p:cNvSpPr txBox="1"/>
          <p:nvPr/>
        </p:nvSpPr>
        <p:spPr>
          <a:xfrm>
            <a:off x="4599432" y="2194560"/>
            <a:ext cx="594360" cy="59436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2" name="text-10"/>
          <p:cNvSpPr txBox="1"/>
          <p:nvPr/>
        </p:nvSpPr>
        <p:spPr>
          <a:xfrm>
            <a:off x="4599432" y="3017520"/>
            <a:ext cx="3017520" cy="731520"/>
          </a:xfrm>
          <a:prstGeom prst="rect">
            <a:avLst/>
          </a:prstGeom>
          <a:noFill/>
          <a:ln/>
        </p:spPr>
        <p:txBody>
          <a:bodyPr wrap="square" lIns="0" tIns="0" rIns="0" bIns="0" rtlCol="0" anchor="t"/>
          <a:lstStyle/>
          <a:p>
            <a:pPr indent="0" marL="0">
              <a:buNone/>
            </a:pPr>
            <a:r>
              <a:rPr lang="en-US" sz="2000" b="1" dirty="0">
                <a:solidFill>
                  <a:schemeClr val="tx2"/>
                </a:solidFill>
              </a:rPr>
              <a:t>Splits cleanly across 8 people</a:t>
            </a:r>
            <a:endParaRPr lang="en-US" sz="2000" dirty="0"/>
          </a:p>
        </p:txBody>
      </p:sp>
      <p:sp>
        <p:nvSpPr>
          <p:cNvPr id="13" name="text-11"/>
          <p:cNvSpPr txBox="1"/>
          <p:nvPr/>
        </p:nvSpPr>
        <p:spPr>
          <a:xfrm>
            <a:off x="4599432" y="3794760"/>
            <a:ext cx="3017520" cy="1554480"/>
          </a:xfrm>
          <a:prstGeom prst="rect">
            <a:avLst/>
          </a:prstGeom>
          <a:noFill/>
          <a:ln/>
        </p:spPr>
        <p:txBody>
          <a:bodyPr wrap="square" lIns="0" tIns="0" rIns="0" bIns="0" rtlCol="0" anchor="t"/>
          <a:lstStyle/>
          <a:p>
            <a:pPr indent="0" marL="0">
              <a:buNone/>
            </a:pPr>
            <a:r>
              <a:rPr lang="en-US" sz="1600" dirty="0">
                <a:solidFill>
                  <a:schemeClr val="tx1"/>
                </a:solidFill>
              </a:rPr>
              <a:t>Two UI developers, two backend developers, DevOps and testing, project management and documentation.</a:t>
            </a:r>
            <a:endParaRPr lang="en-US" sz="1600" dirty="0"/>
          </a:p>
        </p:txBody>
      </p:sp>
      <p:sp>
        <p:nvSpPr>
          <p:cNvPr id="14" name="card-12"/>
          <p:cNvSpPr/>
          <p:nvPr/>
        </p:nvSpPr>
        <p:spPr>
          <a:xfrm>
            <a:off x="8101584" y="1920240"/>
            <a:ext cx="3538728" cy="3566160"/>
          </a:xfrm>
          <a:prstGeom prst="roundRect">
            <a:avLst>
              <a:gd name="adj" fmla="val 2067"/>
            </a:avLst>
          </a:prstGeom>
          <a:solidFill>
            <a:schemeClr val="bg2"/>
          </a:solidFill>
          <a:ln w="12700">
            <a:solidFill>
              <a:schemeClr val="bg2"/>
            </a:solidFill>
            <a:prstDash val="solid"/>
          </a:ln>
        </p:spPr>
      </p:sp>
      <p:sp>
        <p:nvSpPr>
          <p:cNvPr id="15" name="badge-13"/>
          <p:cNvSpPr/>
          <p:nvPr/>
        </p:nvSpPr>
        <p:spPr>
          <a:xfrm>
            <a:off x="8375904" y="2194560"/>
            <a:ext cx="594360" cy="594360"/>
          </a:xfrm>
          <a:prstGeom prst="ellipse">
            <a:avLst/>
          </a:prstGeom>
          <a:solidFill>
            <a:schemeClr val="accent1"/>
          </a:solidFill>
          <a:ln w="12700">
            <a:solidFill>
              <a:schemeClr val="accent1"/>
            </a:solidFill>
            <a:prstDash val="solid"/>
          </a:ln>
        </p:spPr>
      </p:sp>
      <p:sp>
        <p:nvSpPr>
          <p:cNvPr id="16" name="badge-text-14"/>
          <p:cNvSpPr txBox="1"/>
          <p:nvPr/>
        </p:nvSpPr>
        <p:spPr>
          <a:xfrm>
            <a:off x="8375904" y="2194560"/>
            <a:ext cx="594360" cy="59436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7" name="text-15"/>
          <p:cNvSpPr txBox="1"/>
          <p:nvPr/>
        </p:nvSpPr>
        <p:spPr>
          <a:xfrm>
            <a:off x="8375904" y="3017520"/>
            <a:ext cx="3017520" cy="731520"/>
          </a:xfrm>
          <a:prstGeom prst="rect">
            <a:avLst/>
          </a:prstGeom>
          <a:noFill/>
          <a:ln/>
        </p:spPr>
        <p:txBody>
          <a:bodyPr wrap="square" lIns="0" tIns="0" rIns="0" bIns="0" rtlCol="0" anchor="t"/>
          <a:lstStyle/>
          <a:p>
            <a:pPr indent="0" marL="0">
              <a:buNone/>
            </a:pPr>
            <a:r>
              <a:rPr lang="en-US" sz="2000" b="1" dirty="0">
                <a:solidFill>
                  <a:schemeClr val="tx2"/>
                </a:solidFill>
              </a:rPr>
              <a:t>Finishable by November 19</a:t>
            </a:r>
            <a:endParaRPr lang="en-US" sz="2000" dirty="0"/>
          </a:p>
        </p:txBody>
      </p:sp>
      <p:sp>
        <p:nvSpPr>
          <p:cNvPr id="18" name="text-16"/>
          <p:cNvSpPr txBox="1"/>
          <p:nvPr/>
        </p:nvSpPr>
        <p:spPr>
          <a:xfrm>
            <a:off x="8375904" y="3794760"/>
            <a:ext cx="3017520" cy="1554480"/>
          </a:xfrm>
          <a:prstGeom prst="rect">
            <a:avLst/>
          </a:prstGeom>
          <a:noFill/>
          <a:ln/>
        </p:spPr>
        <p:txBody>
          <a:bodyPr wrap="square" lIns="0" tIns="0" rIns="0" bIns="0" rtlCol="0" anchor="t"/>
          <a:lstStyle/>
          <a:p>
            <a:pPr indent="0" marL="0">
              <a:buNone/>
            </a:pPr>
            <a:r>
              <a:rPr lang="en-US" sz="1600" dirty="0">
                <a:solidFill>
                  <a:schemeClr val="tx1"/>
                </a:solidFill>
              </a:rPr>
              <a:t>Six one-week sprints, code freeze Nov 15, and a fallback to the simpler Option A if we are behind on Oct 29.</a:t>
            </a:r>
            <a:endParaRPr lang="en-US" sz="1600" dirty="0"/>
          </a:p>
        </p:txBody>
      </p:sp>
      <p:sp>
        <p:nvSpPr>
          <p:cNvPr id="19" name="text-17"/>
          <p:cNvSpPr txBox="1"/>
          <p:nvPr/>
        </p:nvSpPr>
        <p:spPr>
          <a:xfrm>
            <a:off x="548640" y="5760720"/>
            <a:ext cx="11064240" cy="365760"/>
          </a:xfrm>
          <a:prstGeom prst="rect">
            <a:avLst/>
          </a:prstGeom>
          <a:noFill/>
          <a:ln/>
        </p:spPr>
        <p:txBody>
          <a:bodyPr wrap="square" lIns="0" tIns="0" rIns="0" bIns="0" rtlCol="0" anchor="t"/>
          <a:lstStyle/>
          <a:p>
            <a:pPr indent="0" marL="0">
              <a:buNone/>
            </a:pPr>
            <a:r>
              <a:rPr lang="en-US" sz="1400" i="1" dirty="0">
                <a:solidFill>
                  <a:srgbClr val="6B6478"/>
                </a:solidFill>
              </a:rPr>
              <a:t>The rest of this deck shows the four options, how they compare, and the detailed design of Option B.</a:t>
            </a:r>
            <a:endParaRPr lang="en-US" sz="1400" dirty="0"/>
          </a:p>
        </p:txBody>
      </p:sp>
      <p:sp>
        <p:nvSpPr>
          <p:cNvPr id="25" name="Slide Number Placeholder 0"/>
          <p:cNvSpPr>
            <a:spLocks noGrp="1"/>
          </p:cNvSpPr>
          <p:nvPr>
            <p:ph type="sldNum" sz="quarter" idx="4294967295"/>
          </p:nvPr>
        </p:nvSpPr>
        <p:spPr>
          <a:xfrm>
            <a:off x="11247120" y="6400800"/>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The problem and who uses the system</a:t>
            </a:r>
            <a:endParaRPr lang="en-US" sz="3200" dirty="0"/>
          </a:p>
        </p:txBody>
      </p:sp>
      <p:sp>
        <p:nvSpPr>
          <p:cNvPr id="3" name="text-18"/>
          <p:cNvSpPr txBox="1"/>
          <p:nvPr/>
        </p:nvSpPr>
        <p:spPr>
          <a:xfrm>
            <a:off x="548640" y="1234440"/>
            <a:ext cx="4206240" cy="365760"/>
          </a:xfrm>
          <a:prstGeom prst="rect">
            <a:avLst/>
          </a:prstGeom>
          <a:noFill/>
          <a:ln/>
        </p:spPr>
        <p:txBody>
          <a:bodyPr wrap="square" lIns="0" tIns="0" rIns="0" bIns="0" rtlCol="0" anchor="t"/>
          <a:lstStyle/>
          <a:p>
            <a:pPr indent="0" marL="0">
              <a:buNone/>
            </a:pPr>
            <a:r>
              <a:rPr lang="en-US" sz="2000" b="1" dirty="0">
                <a:solidFill>
                  <a:schemeClr val="tx2"/>
                </a:solidFill>
              </a:rPr>
              <a:t>Today (Proposal §1)</a:t>
            </a:r>
            <a:endParaRPr lang="en-US" sz="2000" dirty="0"/>
          </a:p>
        </p:txBody>
      </p:sp>
      <p:sp>
        <p:nvSpPr>
          <p:cNvPr id="4" name="text-19"/>
          <p:cNvSpPr txBox="1"/>
          <p:nvPr/>
        </p:nvSpPr>
        <p:spPr>
          <a:xfrm>
            <a:off x="548640" y="1737360"/>
            <a:ext cx="4206240" cy="265176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chemeClr val="tx1"/>
                </a:solidFill>
              </a:rPr>
              <a:t>Paper forms, spreadsheets and in-person messages</a:t>
            </a:r>
            <a:endParaRPr lang="en-US" sz="1600" dirty="0"/>
          </a:p>
          <a:p>
            <a:pPr marL="228600" indent="-228600">
              <a:spcAft>
                <a:spcPts val="600"/>
              </a:spcAft>
              <a:buSzPct val="100000"/>
              <a:buChar char="•"/>
            </a:pPr>
            <a:r>
              <a:rPr lang="en-US" sz="1600" dirty="0">
                <a:solidFill>
                  <a:schemeClr val="tx1"/>
                </a:solidFill>
              </a:rPr>
              <a:t>Stock counts drift from what is on the shelves</a:t>
            </a:r>
            <a:endParaRPr lang="en-US" sz="1600" dirty="0"/>
          </a:p>
          <a:p>
            <a:pPr marL="228600" indent="-228600">
              <a:spcAft>
                <a:spcPts val="600"/>
              </a:spcAft>
              <a:buSzPct val="100000"/>
              <a:buChar char="•"/>
            </a:pPr>
            <a:r>
              <a:rPr lang="en-US" sz="1600" dirty="0">
                <a:solidFill>
                  <a:schemeClr val="tx1"/>
                </a:solidFill>
              </a:rPr>
              <a:t>Students cannot see food availability or request status</a:t>
            </a:r>
            <a:endParaRPr lang="en-US" sz="1600" dirty="0"/>
          </a:p>
          <a:p>
            <a:pPr marL="228600" indent="-228600">
              <a:spcAft>
                <a:spcPts val="600"/>
              </a:spcAft>
              <a:buSzPct val="100000"/>
              <a:buChar char="•"/>
            </a:pPr>
            <a:r>
              <a:rPr lang="en-US" sz="1600" dirty="0">
                <a:solidFill>
                  <a:schemeClr val="tx1"/>
                </a:solidFill>
              </a:rPr>
              <a:t>Staff re-type the same data into several places</a:t>
            </a:r>
            <a:endParaRPr lang="en-US" sz="1600" dirty="0"/>
          </a:p>
        </p:txBody>
      </p:sp>
      <p:sp>
        <p:nvSpPr>
          <p:cNvPr id="5" name="card-20"/>
          <p:cNvSpPr/>
          <p:nvPr/>
        </p:nvSpPr>
        <p:spPr>
          <a:xfrm>
            <a:off x="5120640" y="1234440"/>
            <a:ext cx="6519672" cy="914400"/>
          </a:xfrm>
          <a:prstGeom prst="roundRect">
            <a:avLst>
              <a:gd name="adj" fmla="val 8000"/>
            </a:avLst>
          </a:prstGeom>
          <a:solidFill>
            <a:schemeClr val="bg2"/>
          </a:solidFill>
          <a:ln w="12700">
            <a:solidFill>
              <a:schemeClr val="bg2"/>
            </a:solidFill>
            <a:prstDash val="solid"/>
          </a:ln>
        </p:spPr>
      </p:sp>
      <p:sp>
        <p:nvSpPr>
          <p:cNvPr id="6" name="badge-21"/>
          <p:cNvSpPr/>
          <p:nvPr/>
        </p:nvSpPr>
        <p:spPr>
          <a:xfrm>
            <a:off x="5303520" y="1435608"/>
            <a:ext cx="512064" cy="512064"/>
          </a:xfrm>
          <a:prstGeom prst="ellipse">
            <a:avLst/>
          </a:prstGeom>
          <a:solidFill>
            <a:schemeClr val="accent1"/>
          </a:solidFill>
          <a:ln w="12700">
            <a:solidFill>
              <a:schemeClr val="accent1"/>
            </a:solidFill>
            <a:prstDash val="solid"/>
          </a:ln>
        </p:spPr>
      </p:sp>
      <p:sp>
        <p:nvSpPr>
          <p:cNvPr id="7" name="badge-text-22"/>
          <p:cNvSpPr txBox="1"/>
          <p:nvPr/>
        </p:nvSpPr>
        <p:spPr>
          <a:xfrm>
            <a:off x="5303520" y="1435608"/>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rPr>
              <a:t>S</a:t>
            </a:r>
            <a:endParaRPr lang="en-US" sz="1800" dirty="0"/>
          </a:p>
        </p:txBody>
      </p:sp>
      <p:sp>
        <p:nvSpPr>
          <p:cNvPr id="8" name="text-23"/>
          <p:cNvSpPr txBox="1"/>
          <p:nvPr/>
        </p:nvSpPr>
        <p:spPr>
          <a:xfrm>
            <a:off x="6035040" y="1344168"/>
            <a:ext cx="5394960" cy="320040"/>
          </a:xfrm>
          <a:prstGeom prst="rect">
            <a:avLst/>
          </a:prstGeom>
          <a:noFill/>
          <a:ln/>
        </p:spPr>
        <p:txBody>
          <a:bodyPr wrap="square" lIns="0" tIns="0" rIns="0" bIns="0" rtlCol="0" anchor="t"/>
          <a:lstStyle/>
          <a:p>
            <a:pPr indent="0" marL="0">
              <a:buNone/>
            </a:pPr>
            <a:r>
              <a:rPr lang="en-US" sz="1700" b="1" dirty="0">
                <a:solidFill>
                  <a:schemeClr val="tx2"/>
                </a:solidFill>
              </a:rPr>
              <a:t>Student</a:t>
            </a:r>
            <a:endParaRPr lang="en-US" sz="1700" dirty="0"/>
          </a:p>
        </p:txBody>
      </p:sp>
      <p:sp>
        <p:nvSpPr>
          <p:cNvPr id="9" name="text-24"/>
          <p:cNvSpPr txBox="1"/>
          <p:nvPr/>
        </p:nvSpPr>
        <p:spPr>
          <a:xfrm>
            <a:off x="6035040" y="1673352"/>
            <a:ext cx="5394960" cy="365760"/>
          </a:xfrm>
          <a:prstGeom prst="rect">
            <a:avLst/>
          </a:prstGeom>
          <a:noFill/>
          <a:ln/>
        </p:spPr>
        <p:txBody>
          <a:bodyPr wrap="square" lIns="0" tIns="0" rIns="0" bIns="0" rtlCol="0" anchor="t"/>
          <a:lstStyle/>
          <a:p>
            <a:pPr indent="0" marL="0">
              <a:buNone/>
            </a:pPr>
            <a:r>
              <a:rPr lang="en-US" sz="1500" dirty="0">
                <a:solidFill>
                  <a:schemeClr val="tx1"/>
                </a:solidFill>
              </a:rPr>
              <a:t>Requests help with a pickup slot, tracks status and history</a:t>
            </a:r>
            <a:endParaRPr lang="en-US" sz="1500" dirty="0"/>
          </a:p>
        </p:txBody>
      </p:sp>
      <p:sp>
        <p:nvSpPr>
          <p:cNvPr id="10" name="card-25"/>
          <p:cNvSpPr/>
          <p:nvPr/>
        </p:nvSpPr>
        <p:spPr>
          <a:xfrm>
            <a:off x="5120640" y="2313432"/>
            <a:ext cx="6519672" cy="914400"/>
          </a:xfrm>
          <a:prstGeom prst="roundRect">
            <a:avLst>
              <a:gd name="adj" fmla="val 8000"/>
            </a:avLst>
          </a:prstGeom>
          <a:solidFill>
            <a:schemeClr val="bg2"/>
          </a:solidFill>
          <a:ln w="12700">
            <a:solidFill>
              <a:schemeClr val="bg2"/>
            </a:solidFill>
            <a:prstDash val="solid"/>
          </a:ln>
        </p:spPr>
      </p:sp>
      <p:sp>
        <p:nvSpPr>
          <p:cNvPr id="11" name="badge-26"/>
          <p:cNvSpPr/>
          <p:nvPr/>
        </p:nvSpPr>
        <p:spPr>
          <a:xfrm>
            <a:off x="5303520" y="2514600"/>
            <a:ext cx="512064" cy="512064"/>
          </a:xfrm>
          <a:prstGeom prst="ellipse">
            <a:avLst/>
          </a:prstGeom>
          <a:solidFill>
            <a:schemeClr val="accent1"/>
          </a:solidFill>
          <a:ln w="12700">
            <a:solidFill>
              <a:schemeClr val="accent1"/>
            </a:solidFill>
            <a:prstDash val="solid"/>
          </a:ln>
        </p:spPr>
      </p:sp>
      <p:sp>
        <p:nvSpPr>
          <p:cNvPr id="12" name="badge-text-27"/>
          <p:cNvSpPr txBox="1"/>
          <p:nvPr/>
        </p:nvSpPr>
        <p:spPr>
          <a:xfrm>
            <a:off x="5303520" y="2514600"/>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rPr>
              <a:t>T</a:t>
            </a:r>
            <a:endParaRPr lang="en-US" sz="1800" dirty="0"/>
          </a:p>
        </p:txBody>
      </p:sp>
      <p:sp>
        <p:nvSpPr>
          <p:cNvPr id="13" name="text-28"/>
          <p:cNvSpPr txBox="1"/>
          <p:nvPr/>
        </p:nvSpPr>
        <p:spPr>
          <a:xfrm>
            <a:off x="6035040" y="2423160"/>
            <a:ext cx="5394960" cy="320040"/>
          </a:xfrm>
          <a:prstGeom prst="rect">
            <a:avLst/>
          </a:prstGeom>
          <a:noFill/>
          <a:ln/>
        </p:spPr>
        <p:txBody>
          <a:bodyPr wrap="square" lIns="0" tIns="0" rIns="0" bIns="0" rtlCol="0" anchor="t"/>
          <a:lstStyle/>
          <a:p>
            <a:pPr indent="0" marL="0">
              <a:buNone/>
            </a:pPr>
            <a:r>
              <a:rPr lang="en-US" sz="1700" b="1" dirty="0">
                <a:solidFill>
                  <a:schemeClr val="tx2"/>
                </a:solidFill>
              </a:rPr>
              <a:t>Pantry staff</a:t>
            </a:r>
            <a:endParaRPr lang="en-US" sz="1700" dirty="0"/>
          </a:p>
        </p:txBody>
      </p:sp>
      <p:sp>
        <p:nvSpPr>
          <p:cNvPr id="14" name="text-29"/>
          <p:cNvSpPr txBox="1"/>
          <p:nvPr/>
        </p:nvSpPr>
        <p:spPr>
          <a:xfrm>
            <a:off x="6035040" y="2752344"/>
            <a:ext cx="5394960" cy="365760"/>
          </a:xfrm>
          <a:prstGeom prst="rect">
            <a:avLst/>
          </a:prstGeom>
          <a:noFill/>
          <a:ln/>
        </p:spPr>
        <p:txBody>
          <a:bodyPr wrap="square" lIns="0" tIns="0" rIns="0" bIns="0" rtlCol="0" anchor="t"/>
          <a:lstStyle/>
          <a:p>
            <a:pPr indent="0" marL="0">
              <a:buNone/>
            </a:pPr>
            <a:r>
              <a:rPr lang="en-US" sz="1500" dirty="0">
                <a:solidFill>
                  <a:schemeClr val="tx1"/>
                </a:solidFill>
              </a:rPr>
              <a:t>Approves requests, records donations and distributions</a:t>
            </a:r>
            <a:endParaRPr lang="en-US" sz="1500" dirty="0"/>
          </a:p>
        </p:txBody>
      </p:sp>
      <p:sp>
        <p:nvSpPr>
          <p:cNvPr id="15" name="card-30"/>
          <p:cNvSpPr/>
          <p:nvPr/>
        </p:nvSpPr>
        <p:spPr>
          <a:xfrm>
            <a:off x="5120640" y="3392424"/>
            <a:ext cx="6519672" cy="914400"/>
          </a:xfrm>
          <a:prstGeom prst="roundRect">
            <a:avLst>
              <a:gd name="adj" fmla="val 8000"/>
            </a:avLst>
          </a:prstGeom>
          <a:solidFill>
            <a:schemeClr val="bg2"/>
          </a:solidFill>
          <a:ln w="12700">
            <a:solidFill>
              <a:schemeClr val="bg2"/>
            </a:solidFill>
            <a:prstDash val="solid"/>
          </a:ln>
        </p:spPr>
      </p:sp>
      <p:sp>
        <p:nvSpPr>
          <p:cNvPr id="16" name="badge-31"/>
          <p:cNvSpPr/>
          <p:nvPr/>
        </p:nvSpPr>
        <p:spPr>
          <a:xfrm>
            <a:off x="5303520" y="3593592"/>
            <a:ext cx="512064" cy="512064"/>
          </a:xfrm>
          <a:prstGeom prst="ellipse">
            <a:avLst/>
          </a:prstGeom>
          <a:solidFill>
            <a:schemeClr val="accent1"/>
          </a:solidFill>
          <a:ln w="12700">
            <a:solidFill>
              <a:schemeClr val="accent1"/>
            </a:solidFill>
            <a:prstDash val="solid"/>
          </a:ln>
        </p:spPr>
      </p:sp>
      <p:sp>
        <p:nvSpPr>
          <p:cNvPr id="17" name="badge-text-32"/>
          <p:cNvSpPr txBox="1"/>
          <p:nvPr/>
        </p:nvSpPr>
        <p:spPr>
          <a:xfrm>
            <a:off x="5303520" y="3593592"/>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8" name="text-33"/>
          <p:cNvSpPr txBox="1"/>
          <p:nvPr/>
        </p:nvSpPr>
        <p:spPr>
          <a:xfrm>
            <a:off x="6035040" y="3502152"/>
            <a:ext cx="5394960" cy="320040"/>
          </a:xfrm>
          <a:prstGeom prst="rect">
            <a:avLst/>
          </a:prstGeom>
          <a:noFill/>
          <a:ln/>
        </p:spPr>
        <p:txBody>
          <a:bodyPr wrap="square" lIns="0" tIns="0" rIns="0" bIns="0" rtlCol="0" anchor="t"/>
          <a:lstStyle/>
          <a:p>
            <a:pPr indent="0" marL="0">
              <a:buNone/>
            </a:pPr>
            <a:r>
              <a:rPr lang="en-US" sz="1700" b="1" dirty="0">
                <a:solidFill>
                  <a:schemeClr val="tx2"/>
                </a:solidFill>
              </a:rPr>
              <a:t>Administrator</a:t>
            </a:r>
            <a:endParaRPr lang="en-US" sz="1700" dirty="0"/>
          </a:p>
        </p:txBody>
      </p:sp>
      <p:sp>
        <p:nvSpPr>
          <p:cNvPr id="19" name="text-34"/>
          <p:cNvSpPr txBox="1"/>
          <p:nvPr/>
        </p:nvSpPr>
        <p:spPr>
          <a:xfrm>
            <a:off x="6035040" y="3831336"/>
            <a:ext cx="5394960" cy="365760"/>
          </a:xfrm>
          <a:prstGeom prst="rect">
            <a:avLst/>
          </a:prstGeom>
          <a:noFill/>
          <a:ln/>
        </p:spPr>
        <p:txBody>
          <a:bodyPr wrap="square" lIns="0" tIns="0" rIns="0" bIns="0" rtlCol="0" anchor="t"/>
          <a:lstStyle/>
          <a:p>
            <a:pPr indent="0" marL="0">
              <a:buNone/>
            </a:pPr>
            <a:r>
              <a:rPr lang="en-US" sz="1500" dirty="0">
                <a:solidFill>
                  <a:schemeClr val="tx1"/>
                </a:solidFill>
              </a:rPr>
              <a:t>Manages users, reviews dashboards and reports</a:t>
            </a:r>
            <a:endParaRPr lang="en-US" sz="1500" dirty="0"/>
          </a:p>
        </p:txBody>
      </p:sp>
      <p:sp>
        <p:nvSpPr>
          <p:cNvPr id="20" name="flow-35"/>
          <p:cNvSpPr/>
          <p:nvPr/>
        </p:nvSpPr>
        <p:spPr>
          <a:xfrm>
            <a:off x="548640" y="4709160"/>
            <a:ext cx="1828800" cy="777240"/>
          </a:xfrm>
          <a:prstGeom prst="chevron">
            <a:avLst/>
          </a:prstGeom>
          <a:solidFill>
            <a:schemeClr val="accent1"/>
          </a:solidFill>
          <a:ln w="12700">
            <a:solidFill>
              <a:schemeClr val="bg1"/>
            </a:solidFill>
            <a:prstDash val="solid"/>
          </a:ln>
        </p:spPr>
      </p:sp>
      <p:sp>
        <p:nvSpPr>
          <p:cNvPr id="21" name="text-36"/>
          <p:cNvSpPr txBox="1"/>
          <p:nvPr/>
        </p:nvSpPr>
        <p:spPr>
          <a:xfrm>
            <a:off x="822960" y="4709160"/>
            <a:ext cx="1325880" cy="777240"/>
          </a:xfrm>
          <a:prstGeom prst="rect">
            <a:avLst/>
          </a:prstGeom>
          <a:noFill/>
          <a:ln/>
        </p:spPr>
        <p:txBody>
          <a:bodyPr wrap="square" lIns="0" tIns="0" rIns="0" bIns="0" rtlCol="0" anchor="ctr"/>
          <a:lstStyle/>
          <a:p>
            <a:pPr algn="ctr" indent="0" marL="0">
              <a:buNone/>
            </a:pPr>
            <a:r>
              <a:rPr lang="en-US" sz="1400" b="1" dirty="0">
                <a:solidFill>
                  <a:schemeClr val="bg1"/>
                </a:solidFill>
              </a:rPr>
              <a:t>Request</a:t>
            </a:r>
            <a:endParaRPr lang="en-US" sz="1400" dirty="0"/>
          </a:p>
        </p:txBody>
      </p:sp>
      <p:sp>
        <p:nvSpPr>
          <p:cNvPr id="22" name="flow-37"/>
          <p:cNvSpPr/>
          <p:nvPr/>
        </p:nvSpPr>
        <p:spPr>
          <a:xfrm>
            <a:off x="2404872" y="4709160"/>
            <a:ext cx="1828800" cy="777240"/>
          </a:xfrm>
          <a:prstGeom prst="chevron">
            <a:avLst/>
          </a:prstGeom>
          <a:solidFill>
            <a:schemeClr val="accent1"/>
          </a:solidFill>
          <a:ln w="12700">
            <a:solidFill>
              <a:schemeClr val="bg1"/>
            </a:solidFill>
            <a:prstDash val="solid"/>
          </a:ln>
        </p:spPr>
      </p:sp>
      <p:sp>
        <p:nvSpPr>
          <p:cNvPr id="23" name="text-38"/>
          <p:cNvSpPr txBox="1"/>
          <p:nvPr/>
        </p:nvSpPr>
        <p:spPr>
          <a:xfrm>
            <a:off x="2679192" y="4709160"/>
            <a:ext cx="1325880" cy="777240"/>
          </a:xfrm>
          <a:prstGeom prst="rect">
            <a:avLst/>
          </a:prstGeom>
          <a:noFill/>
          <a:ln/>
        </p:spPr>
        <p:txBody>
          <a:bodyPr wrap="square" lIns="0" tIns="0" rIns="0" bIns="0" rtlCol="0" anchor="ctr"/>
          <a:lstStyle/>
          <a:p>
            <a:pPr algn="ctr" indent="0" marL="0">
              <a:buNone/>
            </a:pPr>
            <a:r>
              <a:rPr lang="en-US" sz="1400" b="1" dirty="0">
                <a:solidFill>
                  <a:schemeClr val="bg1"/>
                </a:solidFill>
              </a:rPr>
              <a:t>Staff review</a:t>
            </a:r>
            <a:endParaRPr lang="en-US" sz="1400" dirty="0"/>
          </a:p>
        </p:txBody>
      </p:sp>
      <p:sp>
        <p:nvSpPr>
          <p:cNvPr id="24" name="flow-39"/>
          <p:cNvSpPr/>
          <p:nvPr/>
        </p:nvSpPr>
        <p:spPr>
          <a:xfrm>
            <a:off x="4261104" y="4709160"/>
            <a:ext cx="1828800" cy="777240"/>
          </a:xfrm>
          <a:prstGeom prst="chevron">
            <a:avLst/>
          </a:prstGeom>
          <a:solidFill>
            <a:schemeClr val="accent1"/>
          </a:solidFill>
          <a:ln w="12700">
            <a:solidFill>
              <a:schemeClr val="bg1"/>
            </a:solidFill>
            <a:prstDash val="solid"/>
          </a:ln>
        </p:spPr>
      </p:sp>
      <p:sp>
        <p:nvSpPr>
          <p:cNvPr id="25" name="text-40"/>
          <p:cNvSpPr txBox="1"/>
          <p:nvPr/>
        </p:nvSpPr>
        <p:spPr>
          <a:xfrm>
            <a:off x="4535424" y="4709160"/>
            <a:ext cx="1325880" cy="777240"/>
          </a:xfrm>
          <a:prstGeom prst="rect">
            <a:avLst/>
          </a:prstGeom>
          <a:noFill/>
          <a:ln/>
        </p:spPr>
        <p:txBody>
          <a:bodyPr wrap="square" lIns="0" tIns="0" rIns="0" bIns="0" rtlCol="0" anchor="ctr"/>
          <a:lstStyle/>
          <a:p>
            <a:pPr algn="ctr" indent="0" marL="0">
              <a:buNone/>
            </a:pPr>
            <a:r>
              <a:rPr lang="en-US" sz="1400" b="1" dirty="0">
                <a:solidFill>
                  <a:schemeClr val="bg1"/>
                </a:solidFill>
              </a:rPr>
              <a:t>Pickup slot</a:t>
            </a:r>
            <a:endParaRPr lang="en-US" sz="1400" dirty="0"/>
          </a:p>
        </p:txBody>
      </p:sp>
      <p:sp>
        <p:nvSpPr>
          <p:cNvPr id="26" name="flow-41"/>
          <p:cNvSpPr/>
          <p:nvPr/>
        </p:nvSpPr>
        <p:spPr>
          <a:xfrm>
            <a:off x="6117336" y="4709160"/>
            <a:ext cx="1828800" cy="777240"/>
          </a:xfrm>
          <a:prstGeom prst="chevron">
            <a:avLst/>
          </a:prstGeom>
          <a:solidFill>
            <a:schemeClr val="accent2"/>
          </a:solidFill>
          <a:ln w="12700">
            <a:solidFill>
              <a:schemeClr val="bg1"/>
            </a:solidFill>
            <a:prstDash val="solid"/>
          </a:ln>
        </p:spPr>
      </p:sp>
      <p:sp>
        <p:nvSpPr>
          <p:cNvPr id="27" name="text-42"/>
          <p:cNvSpPr txBox="1"/>
          <p:nvPr/>
        </p:nvSpPr>
        <p:spPr>
          <a:xfrm>
            <a:off x="6391656" y="4709160"/>
            <a:ext cx="1325880" cy="777240"/>
          </a:xfrm>
          <a:prstGeom prst="rect">
            <a:avLst/>
          </a:prstGeom>
          <a:noFill/>
          <a:ln/>
        </p:spPr>
        <p:txBody>
          <a:bodyPr wrap="square" lIns="0" tIns="0" rIns="0" bIns="0" rtlCol="0" anchor="ctr"/>
          <a:lstStyle/>
          <a:p>
            <a:pPr algn="ctr" indent="0" marL="0">
              <a:buNone/>
            </a:pPr>
            <a:r>
              <a:rPr lang="en-US" sz="1400" b="1" dirty="0">
                <a:solidFill>
                  <a:schemeClr val="tx1"/>
                </a:solidFill>
              </a:rPr>
              <a:t>Distribution</a:t>
            </a:r>
            <a:endParaRPr lang="en-US" sz="1400" dirty="0"/>
          </a:p>
        </p:txBody>
      </p:sp>
      <p:sp>
        <p:nvSpPr>
          <p:cNvPr id="28" name="flow-43"/>
          <p:cNvSpPr/>
          <p:nvPr/>
        </p:nvSpPr>
        <p:spPr>
          <a:xfrm>
            <a:off x="7973568" y="4709160"/>
            <a:ext cx="1828800" cy="777240"/>
          </a:xfrm>
          <a:prstGeom prst="chevron">
            <a:avLst/>
          </a:prstGeom>
          <a:solidFill>
            <a:schemeClr val="accent1"/>
          </a:solidFill>
          <a:ln w="12700">
            <a:solidFill>
              <a:schemeClr val="bg1"/>
            </a:solidFill>
            <a:prstDash val="solid"/>
          </a:ln>
        </p:spPr>
      </p:sp>
      <p:sp>
        <p:nvSpPr>
          <p:cNvPr id="29" name="text-44"/>
          <p:cNvSpPr txBox="1"/>
          <p:nvPr/>
        </p:nvSpPr>
        <p:spPr>
          <a:xfrm>
            <a:off x="8247888" y="4709160"/>
            <a:ext cx="1325880" cy="777240"/>
          </a:xfrm>
          <a:prstGeom prst="rect">
            <a:avLst/>
          </a:prstGeom>
          <a:noFill/>
          <a:ln/>
        </p:spPr>
        <p:txBody>
          <a:bodyPr wrap="square" lIns="0" tIns="0" rIns="0" bIns="0" rtlCol="0" anchor="ctr"/>
          <a:lstStyle/>
          <a:p>
            <a:pPr algn="ctr" indent="0" marL="0">
              <a:buNone/>
            </a:pPr>
            <a:r>
              <a:rPr lang="en-US" sz="1400" b="1" dirty="0">
                <a:solidFill>
                  <a:schemeClr val="bg1"/>
                </a:solidFill>
              </a:rPr>
              <a:t>Stock update</a:t>
            </a:r>
            <a:endParaRPr lang="en-US" sz="1400" dirty="0"/>
          </a:p>
        </p:txBody>
      </p:sp>
      <p:sp>
        <p:nvSpPr>
          <p:cNvPr id="30" name="flow-45"/>
          <p:cNvSpPr/>
          <p:nvPr/>
        </p:nvSpPr>
        <p:spPr>
          <a:xfrm>
            <a:off x="9829800" y="4709160"/>
            <a:ext cx="1828800" cy="777240"/>
          </a:xfrm>
          <a:prstGeom prst="chevron">
            <a:avLst/>
          </a:prstGeom>
          <a:solidFill>
            <a:schemeClr val="accent1"/>
          </a:solidFill>
          <a:ln w="12700">
            <a:solidFill>
              <a:schemeClr val="bg1"/>
            </a:solidFill>
            <a:prstDash val="solid"/>
          </a:ln>
        </p:spPr>
      </p:sp>
      <p:sp>
        <p:nvSpPr>
          <p:cNvPr id="31" name="text-46"/>
          <p:cNvSpPr txBox="1"/>
          <p:nvPr/>
        </p:nvSpPr>
        <p:spPr>
          <a:xfrm>
            <a:off x="10104120" y="4709160"/>
            <a:ext cx="1325880" cy="777240"/>
          </a:xfrm>
          <a:prstGeom prst="rect">
            <a:avLst/>
          </a:prstGeom>
          <a:noFill/>
          <a:ln/>
        </p:spPr>
        <p:txBody>
          <a:bodyPr wrap="square" lIns="0" tIns="0" rIns="0" bIns="0" rtlCol="0" anchor="ctr"/>
          <a:lstStyle/>
          <a:p>
            <a:pPr algn="ctr" indent="0" marL="0">
              <a:buNone/>
            </a:pPr>
            <a:r>
              <a:rPr lang="en-US" sz="1400" b="1" dirty="0">
                <a:solidFill>
                  <a:schemeClr val="bg1"/>
                </a:solidFill>
              </a:rPr>
              <a:t>Record</a:t>
            </a:r>
            <a:endParaRPr lang="en-US" sz="1400" dirty="0"/>
          </a:p>
        </p:txBody>
      </p:sp>
      <p:sp>
        <p:nvSpPr>
          <p:cNvPr id="32" name="text-47"/>
          <p:cNvSpPr txBox="1"/>
          <p:nvPr/>
        </p:nvSpPr>
        <p:spPr>
          <a:xfrm>
            <a:off x="548640" y="5669280"/>
            <a:ext cx="11064240" cy="365760"/>
          </a:xfrm>
          <a:prstGeom prst="rect">
            <a:avLst/>
          </a:prstGeom>
          <a:noFill/>
          <a:ln/>
        </p:spPr>
        <p:txBody>
          <a:bodyPr wrap="square" lIns="0" tIns="0" rIns="0" bIns="0" rtlCol="0" anchor="t"/>
          <a:lstStyle/>
          <a:p>
            <a:pPr indent="0" marL="0">
              <a:buNone/>
            </a:pPr>
            <a:r>
              <a:rPr lang="en-US" sz="1400" i="1" dirty="0">
                <a:solidFill>
                  <a:srgbClr val="6B6478"/>
                </a:solidFill>
              </a:rPr>
              <a:t>Core workflow from Homework 2 p.1. The distribution step must never leave the stock count wrong.</a:t>
            </a:r>
            <a:endParaRPr lang="en-US" sz="1400" dirty="0"/>
          </a:p>
        </p:txBody>
      </p:sp>
      <p:sp>
        <p:nvSpPr>
          <p:cNvPr id="25" name="Slide Number Placeholder 0"/>
          <p:cNvSpPr>
            <a:spLocks noGrp="1"/>
          </p:cNvSpPr>
          <p:nvPr>
            <p:ph type="sldNum" sz="quarter" idx="4294967295"/>
          </p:nvPr>
        </p:nvSpPr>
        <p:spPr>
          <a:xfrm>
            <a:off x="11247120" y="6400800"/>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Decisions we made to unblock the design</a:t>
            </a:r>
            <a:endParaRPr lang="en-US" sz="3200" dirty="0"/>
          </a:p>
        </p:txBody>
      </p:sp>
      <p:graphicFrame>
        <p:nvGraphicFramePr>
          <p:cNvPr id="5" name="decisions-48"/>
          <p:cNvGraphicFramePr>
            <a:graphicFrameLocks noGrp="1"/>
          </p:cNvGraphicFramePr>
          <p:nvPr>
            <p:extLst>
              <p:ext uri="{D42A27DB-BD31-4B8C-83A1-F6EECF244321}">
                <p14:modId xmlns:p14="http://schemas.microsoft.com/office/powerpoint/2010/main" val="1579011935"/>
              </p:ext>
            </p:extLst>
          </p:nvPr>
        </p:nvGraphicFramePr>
        <p:xfrm>
          <a:off x="548640" y="1234440"/>
          <a:ext cx="11091672" cy="914400"/>
        </p:xfrm>
        <a:graphic>
          <a:graphicData uri="http://schemas.openxmlformats.org/drawingml/2006/table">
            <a:tbl>
              <a:tblPr/>
              <a:tblGrid>
                <a:gridCol w="2377440"/>
                <a:gridCol w="4206240"/>
                <a:gridCol w="4507992"/>
              </a:tblGrid>
              <a:tr h="512064">
                <a:tc>
                  <a:txBody>
                    <a:bodyPr/>
                    <a:lstStyle/>
                    <a:p>
                      <a:pPr indent="0" marL="0">
                        <a:buNone/>
                      </a:pPr>
                      <a:r>
                        <a:rPr lang="en-US" sz="1400" b="1" dirty="0">
                          <a:solidFill>
                            <a:schemeClr val="bg1"/>
                          </a:solidFill>
                        </a:rPr>
                        <a:t>Question</a:t>
                      </a:r>
                      <a:endParaRPr lang="en-US" sz="1400" dirty="0"/>
                    </a:p>
                  </a:txBody>
                  <a:tcPr marL="101600" marR="1016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Decision</a:t>
                      </a:r>
                      <a:endParaRPr lang="en-US" sz="1400" dirty="0"/>
                    </a:p>
                  </a:txBody>
                  <a:tcPr marL="101600" marR="1016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Why</a:t>
                      </a:r>
                      <a:endParaRPr lang="en-US" sz="1400" dirty="0"/>
                    </a:p>
                  </a:txBody>
                  <a:tcPr marL="101600" marR="1016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chemeClr val="tx2"/>
                    </a:solidFill>
                  </a:tcPr>
                </a:tc>
              </a:tr>
              <a:tr h="512064">
                <a:tc>
                  <a:txBody>
                    <a:bodyPr/>
                    <a:lstStyle/>
                    <a:p>
                      <a:pPr indent="0" marL="0">
                        <a:buNone/>
                      </a:pPr>
                      <a:r>
                        <a:rPr lang="en-US" sz="1300" b="1" dirty="0">
                          <a:solidFill>
                            <a:schemeClr val="tx1"/>
                          </a:solidFill>
                        </a:rPr>
                        <a:t>Technology stack</a:t>
                      </a:r>
                      <a:endParaRPr lang="en-US" sz="1300" dirty="0"/>
                    </a:p>
                  </a:txBody>
                  <a:tcPr marL="101600" marR="1016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4F1F8"/>
                    </a:solidFill>
                  </a:tcPr>
                </a:tc>
                <a:tc>
                  <a:txBody>
                    <a:bodyPr/>
                    <a:lstStyle/>
                    <a:p>
                      <a:pPr indent="0" marL="0">
                        <a:buNone/>
                      </a:pPr>
                      <a:r>
                        <a:rPr lang="en-US" sz="1300" dirty="0">
                          <a:solidFill>
                            <a:schemeClr val="tx1"/>
                          </a:solidFill>
                        </a:rPr>
                        <a:t>Python + FastAPI, React, PostgreSQL</a:t>
                      </a:r>
                      <a:endParaRPr lang="en-US" sz="1300" dirty="0"/>
                    </a:p>
                  </a:txBody>
                  <a:tcPr marL="101600" marR="1016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4F1F8"/>
                    </a:solidFill>
                  </a:tcPr>
                </a:tc>
                <a:tc>
                  <a:txBody>
                    <a:bodyPr/>
                    <a:lstStyle/>
                    <a:p>
                      <a:pPr indent="0" marL="0">
                        <a:buNone/>
                      </a:pPr>
                      <a:r>
                        <a:rPr lang="en-US" sz="1300" dirty="0">
                          <a:solidFill>
                            <a:schemeClr val="tx1"/>
                          </a:solidFill>
                        </a:rPr>
                        <a:t>Widely known; transactions and constraints protect stock</a:t>
                      </a:r>
                      <a:endParaRPr lang="en-US" sz="1300" dirty="0"/>
                    </a:p>
                  </a:txBody>
                  <a:tcPr marL="101600" marR="1016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4F1F8"/>
                    </a:solidFill>
                  </a:tcPr>
                </a:tc>
              </a:tr>
              <a:tr h="512064">
                <a:tc>
                  <a:txBody>
                    <a:bodyPr/>
                    <a:lstStyle/>
                    <a:p>
                      <a:pPr indent="0" marL="0">
                        <a:buNone/>
                      </a:pPr>
                      <a:r>
                        <a:rPr lang="en-US" sz="1300" b="1" dirty="0">
                          <a:solidFill>
                            <a:schemeClr val="tx1"/>
                          </a:solidFill>
                        </a:rPr>
                        <a:t>Login</a:t>
                      </a:r>
                      <a:endParaRPr lang="en-US" sz="1300" dirty="0"/>
                    </a:p>
                  </a:txBody>
                  <a:tcPr marL="101600" marR="1016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Own email + password accounts, httpOnly session cookie</a:t>
                      </a:r>
                      <a:endParaRPr lang="en-US" sz="1300" dirty="0"/>
                    </a:p>
                  </a:txBody>
                  <a:tcPr marL="101600" marR="1016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Campus single sign-on needs IT approval we cannot get by Nov 19</a:t>
                      </a:r>
                      <a:endParaRPr lang="en-US" sz="1300" dirty="0"/>
                    </a:p>
                  </a:txBody>
                  <a:tcPr marL="101600" marR="1016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FFFFF"/>
                    </a:solidFill>
                  </a:tcPr>
                </a:tc>
              </a:tr>
              <a:tr h="512064">
                <a:tc>
                  <a:txBody>
                    <a:bodyPr/>
                    <a:lstStyle/>
                    <a:p>
                      <a:pPr indent="0" marL="0">
                        <a:buNone/>
                      </a:pPr>
                      <a:r>
                        <a:rPr lang="en-US" sz="1300" b="1" dirty="0">
                          <a:solidFill>
                            <a:schemeClr val="tx1"/>
                          </a:solidFill>
                        </a:rPr>
                        <a:t>Student without an account</a:t>
                      </a:r>
                      <a:endParaRPr lang="en-US" sz="1300" dirty="0"/>
                    </a:p>
                  </a:txBody>
                  <a:tcPr marL="101600" marR="1016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4F1F8"/>
                    </a:solidFill>
                  </a:tcPr>
                </a:tc>
                <a:tc>
                  <a:txBody>
                    <a:bodyPr/>
                    <a:lstStyle/>
                    <a:p>
                      <a:pPr indent="0" marL="0">
                        <a:buNone/>
                      </a:pPr>
                      <a:r>
                        <a:rPr lang="en-US" sz="1300" dirty="0">
                          <a:solidFill>
                            <a:schemeClr val="tx1"/>
                          </a:solidFill>
                        </a:rPr>
                        <a:t>Staff help create one; provisional profile if that fails</a:t>
                      </a:r>
                      <a:endParaRPr lang="en-US" sz="1300" dirty="0"/>
                    </a:p>
                  </a:txBody>
                  <a:tcPr marL="101600" marR="1016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4F1F8"/>
                    </a:solidFill>
                  </a:tcPr>
                </a:tc>
                <a:tc>
                  <a:txBody>
                    <a:bodyPr/>
                    <a:lstStyle/>
                    <a:p>
                      <a:pPr indent="0" marL="0">
                        <a:buNone/>
                      </a:pPr>
                      <a:r>
                        <a:rPr lang="en-US" sz="1300" dirty="0">
                          <a:solidFill>
                            <a:schemeClr val="tx1"/>
                          </a:solidFill>
                        </a:rPr>
                        <a:t>Stock stays accurate and nobody is turned away</a:t>
                      </a:r>
                      <a:endParaRPr lang="en-US" sz="1300" dirty="0"/>
                    </a:p>
                  </a:txBody>
                  <a:tcPr marL="101600" marR="1016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4F1F8"/>
                    </a:solidFill>
                  </a:tcPr>
                </a:tc>
              </a:tr>
              <a:tr h="512064">
                <a:tc>
                  <a:txBody>
                    <a:bodyPr/>
                    <a:lstStyle/>
                    <a:p>
                      <a:pPr indent="0" marL="0">
                        <a:buNone/>
                      </a:pPr>
                      <a:r>
                        <a:rPr lang="en-US" sz="1300" b="1" dirty="0">
                          <a:solidFill>
                            <a:schemeClr val="tx1"/>
                          </a:solidFill>
                        </a:rPr>
                        <a:t>Request vs. appointment</a:t>
                      </a:r>
                      <a:endParaRPr lang="en-US" sz="1300" dirty="0"/>
                    </a:p>
                  </a:txBody>
                  <a:tcPr marL="101600" marR="1016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One object: every request includes a pickup slot</a:t>
                      </a:r>
                      <a:endParaRPr lang="en-US" sz="1300" dirty="0"/>
                    </a:p>
                  </a:txBody>
                  <a:tcPr marL="101600" marR="1016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One status field, fewer screens, fewer bugs</a:t>
                      </a:r>
                      <a:endParaRPr lang="en-US" sz="1300" dirty="0"/>
                    </a:p>
                  </a:txBody>
                  <a:tcPr marL="101600" marR="1016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FFFFF"/>
                    </a:solidFill>
                  </a:tcPr>
                </a:tc>
              </a:tr>
              <a:tr h="512064">
                <a:tc>
                  <a:txBody>
                    <a:bodyPr/>
                    <a:lstStyle/>
                    <a:p>
                      <a:pPr indent="0" marL="0">
                        <a:buNone/>
                      </a:pPr>
                      <a:r>
                        <a:rPr lang="en-US" sz="1300" b="1" dirty="0">
                          <a:solidFill>
                            <a:schemeClr val="tx1"/>
                          </a:solidFill>
                        </a:rPr>
                        <a:t>Inventory detail</a:t>
                      </a:r>
                      <a:endParaRPr lang="en-US" sz="1300" dirty="0"/>
                    </a:p>
                  </a:txBody>
                  <a:tcPr marL="101600" marR="1016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4F1F8"/>
                    </a:solidFill>
                  </a:tcPr>
                </a:tc>
                <a:tc>
                  <a:txBody>
                    <a:bodyPr/>
                    <a:lstStyle/>
                    <a:p>
                      <a:pPr indent="0" marL="0">
                        <a:buNone/>
                      </a:pPr>
                      <a:r>
                        <a:rPr lang="en-US" sz="1300" dirty="0">
                          <a:solidFill>
                            <a:schemeClr val="tx1"/>
                          </a:solidFill>
                        </a:rPr>
                        <a:t>Items (catalog) + lots (each delivery, own expiry and shelf)</a:t>
                      </a:r>
                      <a:endParaRPr lang="en-US" sz="1300" dirty="0"/>
                    </a:p>
                  </a:txBody>
                  <a:tcPr marL="101600" marR="1016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4F1F8"/>
                    </a:solidFill>
                  </a:tcPr>
                </a:tc>
                <a:tc>
                  <a:txBody>
                    <a:bodyPr/>
                    <a:lstStyle/>
                    <a:p>
                      <a:pPr indent="0" marL="0">
                        <a:buNone/>
                      </a:pPr>
                      <a:r>
                        <a:rPr lang="en-US" sz="1300" dirty="0">
                          <a:solidFill>
                            <a:schemeClr val="tx1"/>
                          </a:solidFill>
                        </a:rPr>
                        <a:t>Enables expiry alerts and first-expired-first-out</a:t>
                      </a:r>
                      <a:endParaRPr lang="en-US" sz="1300" dirty="0"/>
                    </a:p>
                  </a:txBody>
                  <a:tcPr marL="101600" marR="1016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4F1F8"/>
                    </a:solidFill>
                  </a:tcPr>
                </a:tc>
              </a:tr>
              <a:tr h="512064">
                <a:tc>
                  <a:txBody>
                    <a:bodyPr/>
                    <a:lstStyle/>
                    <a:p>
                      <a:pPr indent="0" marL="0">
                        <a:buNone/>
                      </a:pPr>
                      <a:r>
                        <a:rPr lang="en-US" sz="1300" b="1" dirty="0">
                          <a:solidFill>
                            <a:schemeClr val="tx1"/>
                          </a:solidFill>
                        </a:rPr>
                        <a:t>Notifications</a:t>
                      </a:r>
                      <a:endParaRPr lang="en-US" sz="1300" dirty="0"/>
                    </a:p>
                  </a:txBody>
                  <a:tcPr marL="101600" marR="1016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In-app status now, email next, no SMS</a:t>
                      </a:r>
                      <a:endParaRPr lang="en-US" sz="1300" dirty="0"/>
                    </a:p>
                  </a:txBody>
                  <a:tcPr marL="101600" marR="1016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SMS costs money and adds a vendor</a:t>
                      </a:r>
                      <a:endParaRPr lang="en-US" sz="1300" dirty="0"/>
                    </a:p>
                  </a:txBody>
                  <a:tcPr marL="101600" marR="1016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FFFFF"/>
                    </a:solidFill>
                  </a:tcPr>
                </a:tc>
              </a:tr>
              <a:tr h="512064">
                <a:tc>
                  <a:txBody>
                    <a:bodyPr/>
                    <a:lstStyle/>
                    <a:p>
                      <a:pPr indent="0" marL="0">
                        <a:buNone/>
                      </a:pPr>
                      <a:r>
                        <a:rPr lang="en-US" sz="1300" b="1" dirty="0">
                          <a:solidFill>
                            <a:schemeClr val="tx1"/>
                          </a:solidFill>
                        </a:rPr>
                        <a:t>Hosting</a:t>
                      </a:r>
                      <a:endParaRPr lang="en-US" sz="1300" dirty="0"/>
                    </a:p>
                  </a:txBody>
                  <a:tcPr marL="101600" marR="1016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4F1F8"/>
                    </a:solidFill>
                  </a:tcPr>
                </a:tc>
                <a:tc>
                  <a:txBody>
                    <a:bodyPr/>
                    <a:lstStyle/>
                    <a:p>
                      <a:pPr indent="0" marL="0">
                        <a:buNone/>
                      </a:pPr>
                      <a:r>
                        <a:rPr lang="en-US" sz="1300" dirty="0">
                          <a:solidFill>
                            <a:schemeClr val="tx1"/>
                          </a:solidFill>
                        </a:rPr>
                        <a:t>Free-tier platform + local Docker fallback</a:t>
                      </a:r>
                      <a:endParaRPr lang="en-US" sz="1300" dirty="0"/>
                    </a:p>
                  </a:txBody>
                  <a:tcPr marL="101600" marR="1016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4F1F8"/>
                    </a:solidFill>
                  </a:tcPr>
                </a:tc>
                <a:tc>
                  <a:txBody>
                    <a:bodyPr/>
                    <a:lstStyle/>
                    <a:p>
                      <a:pPr indent="0" marL="0">
                        <a:buNone/>
                      </a:pPr>
                      <a:r>
                        <a:rPr lang="en-US" sz="1300" dirty="0">
                          <a:solidFill>
                            <a:schemeClr val="tx1"/>
                          </a:solidFill>
                        </a:rPr>
                        <a:t>Assumed $0 budget; free tiers can sleep when idle</a:t>
                      </a:r>
                      <a:endParaRPr lang="en-US" sz="1300" dirty="0"/>
                    </a:p>
                  </a:txBody>
                  <a:tcPr marL="101600" marR="1016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4F1F8"/>
                    </a:solidFill>
                  </a:tcPr>
                </a:tc>
              </a:tr>
              <a:tr h="512064">
                <a:tc>
                  <a:txBody>
                    <a:bodyPr/>
                    <a:lstStyle/>
                    <a:p>
                      <a:pPr indent="0" marL="0">
                        <a:buNone/>
                      </a:pPr>
                      <a:r>
                        <a:rPr lang="en-US" sz="1300" b="1" dirty="0">
                          <a:solidFill>
                            <a:schemeClr val="tx1"/>
                          </a:solidFill>
                        </a:rPr>
                        <a:t>API testing</a:t>
                      </a:r>
                      <a:endParaRPr lang="en-US" sz="1300" dirty="0"/>
                    </a:p>
                  </a:txBody>
                  <a:tcPr marL="101600" marR="1016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Bruno instead of Postman</a:t>
                      </a:r>
                      <a:endParaRPr lang="en-US" sz="1300" dirty="0"/>
                    </a:p>
                  </a:txBody>
                  <a:tcPr marL="101600" marR="1016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Postman's free plan covers one user (Homework 2 p.3)</a:t>
                      </a:r>
                      <a:endParaRPr lang="en-US" sz="1300" dirty="0"/>
                    </a:p>
                  </a:txBody>
                  <a:tcPr marL="101600" marR="1016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00800"/>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rtlCol="0" anchor="b"/>
          <a:lstStyle/>
          <a:p>
            <a:pPr indent="0" marL="0">
              <a:buNone/>
            </a:pPr>
            <a:r>
              <a:rPr lang="en-US" sz="4000" b="1" dirty="0">
                <a:solidFill>
                  <a:schemeClr val="bg1"/>
                </a:solidFill>
                <a:latin typeface="Cambria" pitchFamily="34" charset="0"/>
                <a:ea typeface="Cambria" pitchFamily="34" charset="-122"/>
                <a:cs typeface="Cambria" pitchFamily="34" charset="-120"/>
              </a:rPr>
              <a:t>Four architecture options</a:t>
            </a:r>
            <a:endParaRPr lang="en-US" sz="4000" dirty="0"/>
          </a:p>
        </p:txBody>
      </p:sp>
      <p:sp>
        <p:nvSpPr>
          <p:cNvPr id="3" name="Text 0"/>
          <p:cNvSpPr/>
          <p:nvPr>
            <p:ph idx="101" type="body" hasCustomPrompt="1"/>
          </p:nvPr>
        </p:nvSpPr>
        <p:spPr>
          <a:xfrm>
            <a:off x="731520" y="3703320"/>
            <a:ext cx="10698480" cy="914400"/>
          </a:xfrm>
          <a:prstGeom prst="rect">
            <a:avLst/>
          </a:prstGeom>
          <a:noFill/>
          <a:ln/>
        </p:spPr>
        <p:txBody>
          <a:bodyPr wrap="square" rtlCol="0" anchor="t"/>
          <a:lstStyle/>
          <a:p>
            <a:pPr indent="0" marL="0">
              <a:buNone/>
            </a:pPr>
            <a:r>
              <a:rPr lang="en-US" sz="1800" dirty="0">
                <a:solidFill>
                  <a:schemeClr val="accent2"/>
                </a:solidFill>
              </a:rPr>
              <a:t>Same requirements, same data model, four different ways to build it</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From simplest to most cloud-native</a:t>
            </a:r>
            <a:endParaRPr lang="en-US" sz="3200" dirty="0"/>
          </a:p>
        </p:txBody>
      </p:sp>
      <p:sp>
        <p:nvSpPr>
          <p:cNvPr id="3" name="card-49"/>
          <p:cNvSpPr/>
          <p:nvPr/>
        </p:nvSpPr>
        <p:spPr>
          <a:xfrm>
            <a:off x="548640" y="1280160"/>
            <a:ext cx="2633472" cy="4846320"/>
          </a:xfrm>
          <a:prstGeom prst="roundRect">
            <a:avLst>
              <a:gd name="adj" fmla="val 2778"/>
            </a:avLst>
          </a:prstGeom>
          <a:solidFill>
            <a:schemeClr val="bg2"/>
          </a:solidFill>
          <a:ln w="12700">
            <a:solidFill>
              <a:schemeClr val="bg2"/>
            </a:solidFill>
            <a:prstDash val="solid"/>
          </a:ln>
        </p:spPr>
      </p:sp>
      <p:sp>
        <p:nvSpPr>
          <p:cNvPr id="4" name="badge-50"/>
          <p:cNvSpPr/>
          <p:nvPr/>
        </p:nvSpPr>
        <p:spPr>
          <a:xfrm>
            <a:off x="777240" y="1508760"/>
            <a:ext cx="640080" cy="640080"/>
          </a:xfrm>
          <a:prstGeom prst="ellipse">
            <a:avLst/>
          </a:prstGeom>
          <a:solidFill>
            <a:schemeClr val="accent1"/>
          </a:solidFill>
          <a:ln w="12700">
            <a:solidFill>
              <a:schemeClr val="accent1"/>
            </a:solidFill>
            <a:prstDash val="solid"/>
          </a:ln>
        </p:spPr>
      </p:sp>
      <p:sp>
        <p:nvSpPr>
          <p:cNvPr id="5" name="badge-text-51"/>
          <p:cNvSpPr txBox="1"/>
          <p:nvPr/>
        </p:nvSpPr>
        <p:spPr>
          <a:xfrm>
            <a:off x="777240" y="1508760"/>
            <a:ext cx="640080" cy="640080"/>
          </a:xfrm>
          <a:prstGeom prst="rect">
            <a:avLst/>
          </a:prstGeom>
          <a:noFill/>
          <a:ln/>
        </p:spPr>
        <p:txBody>
          <a:bodyPr wrap="square" lIns="0" tIns="0" rIns="0" bIns="0" rtlCol="0" anchor="ctr"/>
          <a:lstStyle/>
          <a:p>
            <a:pPr algn="ctr" indent="0" marL="0">
              <a:buNone/>
            </a:pPr>
            <a:r>
              <a:rPr lang="en-US" sz="2600" b="1" dirty="0">
                <a:solidFill>
                  <a:schemeClr val="bg1"/>
                </a:solidFill>
              </a:rPr>
              <a:t>A</a:t>
            </a:r>
            <a:endParaRPr lang="en-US" sz="2600" dirty="0"/>
          </a:p>
        </p:txBody>
      </p:sp>
      <p:sp>
        <p:nvSpPr>
          <p:cNvPr id="6" name="text-52"/>
          <p:cNvSpPr txBox="1"/>
          <p:nvPr/>
        </p:nvSpPr>
        <p:spPr>
          <a:xfrm>
            <a:off x="777240" y="2331720"/>
            <a:ext cx="2194560" cy="914400"/>
          </a:xfrm>
          <a:prstGeom prst="rect">
            <a:avLst/>
          </a:prstGeom>
          <a:noFill/>
          <a:ln/>
        </p:spPr>
        <p:txBody>
          <a:bodyPr wrap="square" lIns="0" tIns="0" rIns="0" bIns="0" rtlCol="0" anchor="t"/>
          <a:lstStyle/>
          <a:p>
            <a:pPr indent="0" marL="0">
              <a:buNone/>
            </a:pPr>
            <a:r>
              <a:rPr lang="en-US" sz="1800" b="1" dirty="0">
                <a:solidFill>
                  <a:schemeClr val="tx2"/>
                </a:solidFill>
              </a:rPr>
              <a:t>Server-rendered Django monolith</a:t>
            </a:r>
            <a:endParaRPr lang="en-US" sz="1800" dirty="0"/>
          </a:p>
        </p:txBody>
      </p:sp>
      <p:sp>
        <p:nvSpPr>
          <p:cNvPr id="7" name="text-53"/>
          <p:cNvSpPr txBox="1"/>
          <p:nvPr/>
        </p:nvSpPr>
        <p:spPr>
          <a:xfrm>
            <a:off x="777240" y="3291840"/>
            <a:ext cx="2194560" cy="1554480"/>
          </a:xfrm>
          <a:prstGeom prst="rect">
            <a:avLst/>
          </a:prstGeom>
          <a:noFill/>
          <a:ln/>
        </p:spPr>
        <p:txBody>
          <a:bodyPr wrap="square" lIns="0" tIns="0" rIns="0" bIns="0" rtlCol="0" anchor="t"/>
          <a:lstStyle/>
          <a:p>
            <a:pPr indent="0" marL="0">
              <a:buNone/>
            </a:pPr>
            <a:r>
              <a:rPr lang="en-US" sz="1500" dirty="0">
                <a:solidFill>
                  <a:schemeClr val="tx1"/>
                </a:solidFill>
              </a:rPr>
              <a:t>The server builds every HTML page; Django Admin provides staff screens almost free.</a:t>
            </a:r>
            <a:endParaRPr lang="en-US" sz="1500" dirty="0"/>
          </a:p>
        </p:txBody>
      </p:sp>
      <p:sp>
        <p:nvSpPr>
          <p:cNvPr id="8" name="text-54"/>
          <p:cNvSpPr txBox="1"/>
          <p:nvPr/>
        </p:nvSpPr>
        <p:spPr>
          <a:xfrm>
            <a:off x="777240" y="4937760"/>
            <a:ext cx="2194560" cy="1005840"/>
          </a:xfrm>
          <a:prstGeom prst="rect">
            <a:avLst/>
          </a:prstGeom>
          <a:noFill/>
          <a:ln/>
        </p:spPr>
        <p:txBody>
          <a:bodyPr wrap="square" lIns="0" tIns="0" rIns="0" bIns="0" rtlCol="0" anchor="t"/>
          <a:lstStyle/>
          <a:p>
            <a:pPr indent="0" marL="0">
              <a:buNone/>
            </a:pPr>
            <a:r>
              <a:rPr lang="en-US" sz="1400" i="1" dirty="0">
                <a:solidFill>
                  <a:schemeClr val="tx1"/>
                </a:solidFill>
              </a:rPr>
              <a:t>Best when time is very short or JavaScript skills are weak.</a:t>
            </a:r>
            <a:endParaRPr lang="en-US" sz="1400" dirty="0"/>
          </a:p>
        </p:txBody>
      </p:sp>
      <p:sp>
        <p:nvSpPr>
          <p:cNvPr id="9" name="card-55"/>
          <p:cNvSpPr/>
          <p:nvPr/>
        </p:nvSpPr>
        <p:spPr>
          <a:xfrm>
            <a:off x="3364992" y="1280160"/>
            <a:ext cx="2633472" cy="4846320"/>
          </a:xfrm>
          <a:prstGeom prst="roundRect">
            <a:avLst>
              <a:gd name="adj" fmla="val 2778"/>
            </a:avLst>
          </a:prstGeom>
          <a:solidFill>
            <a:schemeClr val="accent1"/>
          </a:solidFill>
          <a:ln w="12700">
            <a:solidFill>
              <a:schemeClr val="accent1"/>
            </a:solidFill>
            <a:prstDash val="solid"/>
          </a:ln>
        </p:spPr>
      </p:sp>
      <p:sp>
        <p:nvSpPr>
          <p:cNvPr id="10" name="badge-56"/>
          <p:cNvSpPr/>
          <p:nvPr/>
        </p:nvSpPr>
        <p:spPr>
          <a:xfrm>
            <a:off x="3593592" y="1508760"/>
            <a:ext cx="640080" cy="640080"/>
          </a:xfrm>
          <a:prstGeom prst="ellipse">
            <a:avLst/>
          </a:prstGeom>
          <a:solidFill>
            <a:schemeClr val="accent2"/>
          </a:solidFill>
          <a:ln w="12700">
            <a:solidFill>
              <a:schemeClr val="accent2"/>
            </a:solidFill>
            <a:prstDash val="solid"/>
          </a:ln>
        </p:spPr>
      </p:sp>
      <p:sp>
        <p:nvSpPr>
          <p:cNvPr id="11" name="badge-text-57"/>
          <p:cNvSpPr txBox="1"/>
          <p:nvPr/>
        </p:nvSpPr>
        <p:spPr>
          <a:xfrm>
            <a:off x="3593592" y="1508760"/>
            <a:ext cx="640080" cy="640080"/>
          </a:xfrm>
          <a:prstGeom prst="rect">
            <a:avLst/>
          </a:prstGeom>
          <a:noFill/>
          <a:ln/>
        </p:spPr>
        <p:txBody>
          <a:bodyPr wrap="square" lIns="0" tIns="0" rIns="0" bIns="0" rtlCol="0" anchor="ctr"/>
          <a:lstStyle/>
          <a:p>
            <a:pPr algn="ctr" indent="0" marL="0">
              <a:buNone/>
            </a:pPr>
            <a:r>
              <a:rPr lang="en-US" sz="2600" b="1" dirty="0">
                <a:solidFill>
                  <a:schemeClr val="bg1"/>
                </a:solidFill>
              </a:rPr>
              <a:t>B</a:t>
            </a:r>
            <a:endParaRPr lang="en-US" sz="2600" dirty="0"/>
          </a:p>
        </p:txBody>
      </p:sp>
      <p:sp>
        <p:nvSpPr>
          <p:cNvPr id="12" name="text-58"/>
          <p:cNvSpPr txBox="1"/>
          <p:nvPr/>
        </p:nvSpPr>
        <p:spPr>
          <a:xfrm>
            <a:off x="4370832" y="1645920"/>
            <a:ext cx="1508760" cy="365760"/>
          </a:xfrm>
          <a:prstGeom prst="rect">
            <a:avLst/>
          </a:prstGeom>
          <a:noFill/>
          <a:ln/>
        </p:spPr>
        <p:txBody>
          <a:bodyPr wrap="square" lIns="0" tIns="0" rIns="0" bIns="0" rtlCol="0" anchor="ctr"/>
          <a:lstStyle/>
          <a:p>
            <a:pPr indent="0" marL="0">
              <a:buNone/>
            </a:pPr>
            <a:r>
              <a:rPr lang="en-US" sz="1200" b="1" dirty="0">
                <a:solidFill>
                  <a:schemeClr val="accent2"/>
                </a:solidFill>
              </a:rPr>
              <a:t>RECOMMENDED</a:t>
            </a:r>
            <a:endParaRPr lang="en-US" sz="1200" dirty="0"/>
          </a:p>
        </p:txBody>
      </p:sp>
      <p:sp>
        <p:nvSpPr>
          <p:cNvPr id="13" name="text-59"/>
          <p:cNvSpPr txBox="1"/>
          <p:nvPr/>
        </p:nvSpPr>
        <p:spPr>
          <a:xfrm>
            <a:off x="3593592" y="2331720"/>
            <a:ext cx="2194560" cy="914400"/>
          </a:xfrm>
          <a:prstGeom prst="rect">
            <a:avLst/>
          </a:prstGeom>
          <a:noFill/>
          <a:ln/>
        </p:spPr>
        <p:txBody>
          <a:bodyPr wrap="square" lIns="0" tIns="0" rIns="0" bIns="0" rtlCol="0" anchor="t"/>
          <a:lstStyle/>
          <a:p>
            <a:pPr indent="0" marL="0">
              <a:buNone/>
            </a:pPr>
            <a:r>
              <a:rPr lang="en-US" sz="1800" b="1" dirty="0">
                <a:solidFill>
                  <a:schemeClr val="bg1"/>
                </a:solidFill>
              </a:rPr>
              <a:t>React SPA + FastAPI modular monolith</a:t>
            </a:r>
            <a:endParaRPr lang="en-US" sz="1800" dirty="0"/>
          </a:p>
        </p:txBody>
      </p:sp>
      <p:sp>
        <p:nvSpPr>
          <p:cNvPr id="14" name="text-60"/>
          <p:cNvSpPr txBox="1"/>
          <p:nvPr/>
        </p:nvSpPr>
        <p:spPr>
          <a:xfrm>
            <a:off x="3593592" y="3291840"/>
            <a:ext cx="2194560" cy="1554480"/>
          </a:xfrm>
          <a:prstGeom prst="rect">
            <a:avLst/>
          </a:prstGeom>
          <a:noFill/>
          <a:ln/>
        </p:spPr>
        <p:txBody>
          <a:bodyPr wrap="square" lIns="0" tIns="0" rIns="0" bIns="0" rtlCol="0" anchor="t"/>
          <a:lstStyle/>
          <a:p>
            <a:pPr indent="0" marL="0">
              <a:buNone/>
            </a:pPr>
            <a:r>
              <a:rPr lang="en-US" sz="1500" dirty="0">
                <a:solidFill>
                  <a:schemeClr val="bg1"/>
                </a:solidFill>
              </a:rPr>
              <a:t>One container serves the React app and a JSON API with separate internal modules.</a:t>
            </a:r>
            <a:endParaRPr lang="en-US" sz="1500" dirty="0"/>
          </a:p>
        </p:txBody>
      </p:sp>
      <p:sp>
        <p:nvSpPr>
          <p:cNvPr id="15" name="text-61"/>
          <p:cNvSpPr txBox="1"/>
          <p:nvPr/>
        </p:nvSpPr>
        <p:spPr>
          <a:xfrm>
            <a:off x="3593592" y="4937760"/>
            <a:ext cx="2194560" cy="1005840"/>
          </a:xfrm>
          <a:prstGeom prst="rect">
            <a:avLst/>
          </a:prstGeom>
          <a:noFill/>
          <a:ln/>
        </p:spPr>
        <p:txBody>
          <a:bodyPr wrap="square" lIns="0" tIns="0" rIns="0" bIns="0" rtlCol="0" anchor="t"/>
          <a:lstStyle/>
          <a:p>
            <a:pPr indent="0" marL="0">
              <a:buNone/>
            </a:pPr>
            <a:r>
              <a:rPr lang="en-US" sz="1400" i="1" dirty="0">
                <a:solidFill>
                  <a:schemeClr val="bg1"/>
                </a:solidFill>
              </a:rPr>
              <a:t>Best for this project: modern, testable, finishable.</a:t>
            </a:r>
            <a:endParaRPr lang="en-US" sz="1400" dirty="0"/>
          </a:p>
        </p:txBody>
      </p:sp>
      <p:sp>
        <p:nvSpPr>
          <p:cNvPr id="16" name="card-62"/>
          <p:cNvSpPr/>
          <p:nvPr/>
        </p:nvSpPr>
        <p:spPr>
          <a:xfrm>
            <a:off x="6181344" y="1280160"/>
            <a:ext cx="2633472" cy="4846320"/>
          </a:xfrm>
          <a:prstGeom prst="roundRect">
            <a:avLst>
              <a:gd name="adj" fmla="val 2778"/>
            </a:avLst>
          </a:prstGeom>
          <a:solidFill>
            <a:schemeClr val="bg2"/>
          </a:solidFill>
          <a:ln w="12700">
            <a:solidFill>
              <a:schemeClr val="bg2"/>
            </a:solidFill>
            <a:prstDash val="solid"/>
          </a:ln>
        </p:spPr>
      </p:sp>
      <p:sp>
        <p:nvSpPr>
          <p:cNvPr id="17" name="badge-63"/>
          <p:cNvSpPr/>
          <p:nvPr/>
        </p:nvSpPr>
        <p:spPr>
          <a:xfrm>
            <a:off x="6409944" y="1508760"/>
            <a:ext cx="640080" cy="640080"/>
          </a:xfrm>
          <a:prstGeom prst="ellipse">
            <a:avLst/>
          </a:prstGeom>
          <a:solidFill>
            <a:schemeClr val="accent1"/>
          </a:solidFill>
          <a:ln w="12700">
            <a:solidFill>
              <a:schemeClr val="accent1"/>
            </a:solidFill>
            <a:prstDash val="solid"/>
          </a:ln>
        </p:spPr>
      </p:sp>
      <p:sp>
        <p:nvSpPr>
          <p:cNvPr id="18" name="badge-text-64"/>
          <p:cNvSpPr txBox="1"/>
          <p:nvPr/>
        </p:nvSpPr>
        <p:spPr>
          <a:xfrm>
            <a:off x="6409944" y="1508760"/>
            <a:ext cx="640080" cy="640080"/>
          </a:xfrm>
          <a:prstGeom prst="rect">
            <a:avLst/>
          </a:prstGeom>
          <a:noFill/>
          <a:ln/>
        </p:spPr>
        <p:txBody>
          <a:bodyPr wrap="square" lIns="0" tIns="0" rIns="0" bIns="0" rtlCol="0" anchor="ctr"/>
          <a:lstStyle/>
          <a:p>
            <a:pPr algn="ctr" indent="0" marL="0">
              <a:buNone/>
            </a:pPr>
            <a:r>
              <a:rPr lang="en-US" sz="2600" b="1" dirty="0">
                <a:solidFill>
                  <a:schemeClr val="bg1"/>
                </a:solidFill>
              </a:rPr>
              <a:t>C</a:t>
            </a:r>
            <a:endParaRPr lang="en-US" sz="2600" dirty="0"/>
          </a:p>
        </p:txBody>
      </p:sp>
      <p:sp>
        <p:nvSpPr>
          <p:cNvPr id="19" name="text-65"/>
          <p:cNvSpPr txBox="1"/>
          <p:nvPr/>
        </p:nvSpPr>
        <p:spPr>
          <a:xfrm>
            <a:off x="6409944" y="2331720"/>
            <a:ext cx="2194560" cy="914400"/>
          </a:xfrm>
          <a:prstGeom prst="rect">
            <a:avLst/>
          </a:prstGeom>
          <a:noFill/>
          <a:ln/>
        </p:spPr>
        <p:txBody>
          <a:bodyPr wrap="square" lIns="0" tIns="0" rIns="0" bIns="0" rtlCol="0" anchor="t"/>
          <a:lstStyle/>
          <a:p>
            <a:pPr indent="0" marL="0">
              <a:buNone/>
            </a:pPr>
            <a:r>
              <a:rPr lang="en-US" sz="1800" b="1" dirty="0">
                <a:solidFill>
                  <a:schemeClr val="tx2"/>
                </a:solidFill>
              </a:rPr>
              <a:t>Supabase backend-as-a-service</a:t>
            </a:r>
            <a:endParaRPr lang="en-US" sz="1800" dirty="0"/>
          </a:p>
        </p:txBody>
      </p:sp>
      <p:sp>
        <p:nvSpPr>
          <p:cNvPr id="20" name="text-66"/>
          <p:cNvSpPr txBox="1"/>
          <p:nvPr/>
        </p:nvSpPr>
        <p:spPr>
          <a:xfrm>
            <a:off x="6409944" y="3291840"/>
            <a:ext cx="2194560" cy="1554480"/>
          </a:xfrm>
          <a:prstGeom prst="rect">
            <a:avLst/>
          </a:prstGeom>
          <a:noFill/>
          <a:ln/>
        </p:spPr>
        <p:txBody>
          <a:bodyPr wrap="square" lIns="0" tIns="0" rIns="0" bIns="0" rtlCol="0" anchor="t"/>
          <a:lstStyle/>
          <a:p>
            <a:pPr indent="0" marL="0">
              <a:buNone/>
            </a:pPr>
            <a:r>
              <a:rPr lang="en-US" sz="1500" dirty="0">
                <a:solidFill>
                  <a:schemeClr val="tx1"/>
                </a:solidFill>
              </a:rPr>
              <a:t>The browser talks to a hosted Postgres; database policies enforce who sees what.</a:t>
            </a:r>
            <a:endParaRPr lang="en-US" sz="1500" dirty="0"/>
          </a:p>
        </p:txBody>
      </p:sp>
      <p:sp>
        <p:nvSpPr>
          <p:cNvPr id="21" name="text-67"/>
          <p:cNvSpPr txBox="1"/>
          <p:nvPr/>
        </p:nvSpPr>
        <p:spPr>
          <a:xfrm>
            <a:off x="6409944" y="4937760"/>
            <a:ext cx="2194560" cy="1005840"/>
          </a:xfrm>
          <a:prstGeom prst="rect">
            <a:avLst/>
          </a:prstGeom>
          <a:noFill/>
          <a:ln/>
        </p:spPr>
        <p:txBody>
          <a:bodyPr wrap="square" lIns="0" tIns="0" rIns="0" bIns="0" rtlCol="0" anchor="t"/>
          <a:lstStyle/>
          <a:p>
            <a:pPr indent="0" marL="0">
              <a:buNone/>
            </a:pPr>
            <a:r>
              <a:rPr lang="en-US" sz="1400" i="1" dirty="0">
                <a:solidFill>
                  <a:schemeClr val="tx1"/>
                </a:solidFill>
              </a:rPr>
              <a:t>Best when a tiny team needs basic screens fast.</a:t>
            </a:r>
            <a:endParaRPr lang="en-US" sz="1400" dirty="0"/>
          </a:p>
        </p:txBody>
      </p:sp>
      <p:sp>
        <p:nvSpPr>
          <p:cNvPr id="22" name="card-68"/>
          <p:cNvSpPr/>
          <p:nvPr/>
        </p:nvSpPr>
        <p:spPr>
          <a:xfrm>
            <a:off x="8997696" y="1280160"/>
            <a:ext cx="2633472" cy="4846320"/>
          </a:xfrm>
          <a:prstGeom prst="roundRect">
            <a:avLst>
              <a:gd name="adj" fmla="val 2778"/>
            </a:avLst>
          </a:prstGeom>
          <a:solidFill>
            <a:schemeClr val="bg2"/>
          </a:solidFill>
          <a:ln w="12700">
            <a:solidFill>
              <a:schemeClr val="bg2"/>
            </a:solidFill>
            <a:prstDash val="solid"/>
          </a:ln>
        </p:spPr>
      </p:sp>
      <p:sp>
        <p:nvSpPr>
          <p:cNvPr id="23" name="badge-69"/>
          <p:cNvSpPr/>
          <p:nvPr/>
        </p:nvSpPr>
        <p:spPr>
          <a:xfrm>
            <a:off x="9226296" y="1508760"/>
            <a:ext cx="640080" cy="640080"/>
          </a:xfrm>
          <a:prstGeom prst="ellipse">
            <a:avLst/>
          </a:prstGeom>
          <a:solidFill>
            <a:schemeClr val="accent1"/>
          </a:solidFill>
          <a:ln w="12700">
            <a:solidFill>
              <a:schemeClr val="accent1"/>
            </a:solidFill>
            <a:prstDash val="solid"/>
          </a:ln>
        </p:spPr>
      </p:sp>
      <p:sp>
        <p:nvSpPr>
          <p:cNvPr id="24" name="badge-text-70"/>
          <p:cNvSpPr txBox="1"/>
          <p:nvPr/>
        </p:nvSpPr>
        <p:spPr>
          <a:xfrm>
            <a:off x="9226296" y="1508760"/>
            <a:ext cx="640080" cy="640080"/>
          </a:xfrm>
          <a:prstGeom prst="rect">
            <a:avLst/>
          </a:prstGeom>
          <a:noFill/>
          <a:ln/>
        </p:spPr>
        <p:txBody>
          <a:bodyPr wrap="square" lIns="0" tIns="0" rIns="0" bIns="0" rtlCol="0" anchor="ctr"/>
          <a:lstStyle/>
          <a:p>
            <a:pPr algn="ctr" indent="0" marL="0">
              <a:buNone/>
            </a:pPr>
            <a:r>
              <a:rPr lang="en-US" sz="2600" b="1" dirty="0">
                <a:solidFill>
                  <a:schemeClr val="bg1"/>
                </a:solidFill>
              </a:rPr>
              <a:t>D</a:t>
            </a:r>
            <a:endParaRPr lang="en-US" sz="2600" dirty="0"/>
          </a:p>
        </p:txBody>
      </p:sp>
      <p:sp>
        <p:nvSpPr>
          <p:cNvPr id="25" name="text-71"/>
          <p:cNvSpPr txBox="1"/>
          <p:nvPr/>
        </p:nvSpPr>
        <p:spPr>
          <a:xfrm>
            <a:off x="9226296" y="2331720"/>
            <a:ext cx="2194560" cy="914400"/>
          </a:xfrm>
          <a:prstGeom prst="rect">
            <a:avLst/>
          </a:prstGeom>
          <a:noFill/>
          <a:ln/>
        </p:spPr>
        <p:txBody>
          <a:bodyPr wrap="square" lIns="0" tIns="0" rIns="0" bIns="0" rtlCol="0" anchor="t"/>
          <a:lstStyle/>
          <a:p>
            <a:pPr indent="0" marL="0">
              <a:buNone/>
            </a:pPr>
            <a:r>
              <a:rPr lang="en-US" sz="1800" b="1" dirty="0">
                <a:solidFill>
                  <a:schemeClr val="tx2"/>
                </a:solidFill>
              </a:rPr>
              <a:t>AWS serverless and event-driven</a:t>
            </a:r>
            <a:endParaRPr lang="en-US" sz="1800" dirty="0"/>
          </a:p>
        </p:txBody>
      </p:sp>
      <p:sp>
        <p:nvSpPr>
          <p:cNvPr id="26" name="text-72"/>
          <p:cNvSpPr txBox="1"/>
          <p:nvPr/>
        </p:nvSpPr>
        <p:spPr>
          <a:xfrm>
            <a:off x="9226296" y="3291840"/>
            <a:ext cx="2194560" cy="1554480"/>
          </a:xfrm>
          <a:prstGeom prst="rect">
            <a:avLst/>
          </a:prstGeom>
          <a:noFill/>
          <a:ln/>
        </p:spPr>
        <p:txBody>
          <a:bodyPr wrap="square" lIns="0" tIns="0" rIns="0" bIns="0" rtlCol="0" anchor="t"/>
          <a:lstStyle/>
          <a:p>
            <a:pPr indent="0" marL="0">
              <a:buNone/>
            </a:pPr>
            <a:r>
              <a:rPr lang="en-US" sz="1500" dirty="0">
                <a:solidFill>
                  <a:schemeClr val="tx1"/>
                </a:solidFill>
              </a:rPr>
              <a:t>Lambda functions behind API Gateway; events drive email and daily expiry scans.</a:t>
            </a:r>
            <a:endParaRPr lang="en-US" sz="1500" dirty="0"/>
          </a:p>
        </p:txBody>
      </p:sp>
      <p:sp>
        <p:nvSpPr>
          <p:cNvPr id="27" name="text-73"/>
          <p:cNvSpPr txBox="1"/>
          <p:nvPr/>
        </p:nvSpPr>
        <p:spPr>
          <a:xfrm>
            <a:off x="9226296" y="4937760"/>
            <a:ext cx="2194560" cy="1005840"/>
          </a:xfrm>
          <a:prstGeom prst="rect">
            <a:avLst/>
          </a:prstGeom>
          <a:noFill/>
          <a:ln/>
        </p:spPr>
        <p:txBody>
          <a:bodyPr wrap="square" lIns="0" tIns="0" rIns="0" bIns="0" rtlCol="0" anchor="t"/>
          <a:lstStyle/>
          <a:p>
            <a:pPr indent="0" marL="0">
              <a:buNone/>
            </a:pPr>
            <a:r>
              <a:rPr lang="en-US" sz="1400" i="1" dirty="0">
                <a:solidFill>
                  <a:schemeClr val="tx1"/>
                </a:solidFill>
              </a:rPr>
              <a:t>Best for many campuses with a paid AWS budget.</a:t>
            </a:r>
            <a:endParaRPr lang="en-US" sz="1400" dirty="0"/>
          </a:p>
        </p:txBody>
      </p:sp>
      <p:sp>
        <p:nvSpPr>
          <p:cNvPr id="25" name="Slide Number Placeholder 0"/>
          <p:cNvSpPr>
            <a:spLocks noGrp="1"/>
          </p:cNvSpPr>
          <p:nvPr>
            <p:ph type="sldNum" sz="quarter" idx="4294967295"/>
          </p:nvPr>
        </p:nvSpPr>
        <p:spPr>
          <a:xfrm>
            <a:off x="11247120" y="6400800"/>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64240" cy="64008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Option A — Server-rendered Django monolith</a:t>
            </a:r>
            <a:endParaRPr lang="en-US" sz="2800" dirty="0"/>
          </a:p>
        </p:txBody>
      </p:sp>
      <p:pic>
        <p:nvPicPr>
          <p:cNvPr id="3" name="diagram-74" descr="Option A — Server-rendered Django monolith">    </p:cNvPr>
          <p:cNvPicPr>
            <a:picLocks noChangeAspect="1"/>
          </p:cNvPicPr>
          <p:nvPr/>
        </p:nvPicPr>
        <p:blipFill>
          <a:blip r:embed="rId1"/>
          <a:stretch>
            <a:fillRect/>
          </a:stretch>
        </p:blipFill>
        <p:spPr>
          <a:xfrm>
            <a:off x="934817" y="960120"/>
            <a:ext cx="10322061" cy="5257800"/>
          </a:xfrm>
          <a:prstGeom prst="rect">
            <a:avLst/>
          </a:prstGeom>
        </p:spPr>
      </p:pic>
      <p:sp>
        <p:nvSpPr>
          <p:cNvPr id="4" name="text-75"/>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100" i="1" dirty="0">
                <a:solidFill>
                  <a:srgbClr val="6B6478"/>
                </a:solidFill>
              </a:rPr>
              <a:t>Steps 1–8: form POST → CSRF + session → permission check → view → transaction → email after commit → redirect to rendered page</a:t>
            </a:r>
            <a:endParaRPr lang="en-US" sz="1100" dirty="0"/>
          </a:p>
        </p:txBody>
      </p:sp>
      <p:sp>
        <p:nvSpPr>
          <p:cNvPr id="25" name="Slide Number Placeholder 0"/>
          <p:cNvSpPr>
            <a:spLocks noGrp="1"/>
          </p:cNvSpPr>
          <p:nvPr>
            <p:ph type="sldNum" sz="quarter" idx="4294967295"/>
          </p:nvPr>
        </p:nvSpPr>
        <p:spPr>
          <a:xfrm>
            <a:off x="11247120" y="6400800"/>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Option A: fastest to build, least to show</a:t>
            </a:r>
            <a:endParaRPr lang="en-US" sz="3200" dirty="0"/>
          </a:p>
        </p:txBody>
      </p:sp>
      <p:sp>
        <p:nvSpPr>
          <p:cNvPr id="3" name="badge-76"/>
          <p:cNvSpPr/>
          <p:nvPr/>
        </p:nvSpPr>
        <p:spPr>
          <a:xfrm>
            <a:off x="548640" y="1325880"/>
            <a:ext cx="457200" cy="457200"/>
          </a:xfrm>
          <a:prstGeom prst="ellipse">
            <a:avLst/>
          </a:prstGeom>
          <a:solidFill>
            <a:schemeClr val="accent3"/>
          </a:solidFill>
          <a:ln w="12700">
            <a:solidFill>
              <a:schemeClr val="accent3"/>
            </a:solidFill>
            <a:prstDash val="solid"/>
          </a:ln>
        </p:spPr>
      </p:sp>
      <p:sp>
        <p:nvSpPr>
          <p:cNvPr id="4" name="badge-text-77"/>
          <p:cNvSpPr txBox="1"/>
          <p:nvPr/>
        </p:nvSpPr>
        <p:spPr>
          <a:xfrm>
            <a:off x="548640" y="1325880"/>
            <a:ext cx="457200" cy="457200"/>
          </a:xfrm>
          <a:prstGeom prst="rect">
            <a:avLst/>
          </a:prstGeom>
          <a:noFill/>
          <a:ln/>
        </p:spPr>
        <p:txBody>
          <a:bodyPr wrap="square" lIns="0" tIns="0" rIns="0" bIns="0" rtlCol="0" anchor="ctr"/>
          <a:lstStyle/>
          <a:p>
            <a:pPr algn="ctr" indent="0" marL="0">
              <a:buNone/>
            </a:pPr>
            <a:r>
              <a:rPr lang="en-US" sz="2200" b="1" dirty="0">
                <a:solidFill>
                  <a:schemeClr val="bg1"/>
                </a:solidFill>
              </a:rPr>
              <a:t>+</a:t>
            </a:r>
            <a:endParaRPr lang="en-US" sz="2200" dirty="0"/>
          </a:p>
        </p:txBody>
      </p:sp>
      <p:sp>
        <p:nvSpPr>
          <p:cNvPr id="5" name="text-78"/>
          <p:cNvSpPr txBox="1"/>
          <p:nvPr/>
        </p:nvSpPr>
        <p:spPr>
          <a:xfrm>
            <a:off x="1143000" y="1325880"/>
            <a:ext cx="3108960" cy="457200"/>
          </a:xfrm>
          <a:prstGeom prst="rect">
            <a:avLst/>
          </a:prstGeom>
          <a:noFill/>
          <a:ln/>
        </p:spPr>
        <p:txBody>
          <a:bodyPr wrap="square" lIns="0" tIns="0" rIns="0" bIns="0" rtlCol="0" anchor="ctr"/>
          <a:lstStyle/>
          <a:p>
            <a:pPr indent="0" marL="0">
              <a:buNone/>
            </a:pPr>
            <a:r>
              <a:rPr lang="en-US" sz="2000" b="1" dirty="0">
                <a:solidFill>
                  <a:schemeClr val="tx2"/>
                </a:solidFill>
              </a:rPr>
              <a:t>Strengths</a:t>
            </a:r>
            <a:endParaRPr lang="en-US" sz="2000" dirty="0"/>
          </a:p>
        </p:txBody>
      </p:sp>
      <p:sp>
        <p:nvSpPr>
          <p:cNvPr id="6" name="text-79"/>
          <p:cNvSpPr txBox="1"/>
          <p:nvPr/>
        </p:nvSpPr>
        <p:spPr>
          <a:xfrm>
            <a:off x="548640" y="1965960"/>
            <a:ext cx="3657600" cy="310896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chemeClr val="tx1"/>
                </a:solidFill>
              </a:rPr>
              <a:t>Least code of all four options</a:t>
            </a:r>
            <a:endParaRPr lang="en-US" sz="1600" dirty="0"/>
          </a:p>
          <a:p>
            <a:pPr marL="228600" indent="-228600">
              <a:spcAft>
                <a:spcPts val="600"/>
              </a:spcAft>
              <a:buSzPct val="100000"/>
              <a:buChar char="•"/>
            </a:pPr>
            <a:r>
              <a:rPr lang="en-US" sz="1600" dirty="0">
                <a:solidFill>
                  <a:schemeClr val="tx1"/>
                </a:solidFill>
              </a:rPr>
              <a:t>Django Admin gives inventory and donation screens almost for free</a:t>
            </a:r>
            <a:endParaRPr lang="en-US" sz="1600" dirty="0"/>
          </a:p>
          <a:p>
            <a:pPr marL="228600" indent="-228600">
              <a:spcAft>
                <a:spcPts val="600"/>
              </a:spcAft>
              <a:buSzPct val="100000"/>
              <a:buChar char="•"/>
            </a:pPr>
            <a:r>
              <a:rPr lang="en-US" sz="1600" dirty="0">
                <a:solidFill>
                  <a:schemeClr val="tx1"/>
                </a:solidFill>
              </a:rPr>
              <a:t>One language, very well documented</a:t>
            </a:r>
            <a:endParaRPr lang="en-US" sz="1600" dirty="0"/>
          </a:p>
          <a:p>
            <a:pPr marL="228600" indent="-228600">
              <a:spcAft>
                <a:spcPts val="600"/>
              </a:spcAft>
              <a:buSzPct val="100000"/>
              <a:buChar char="•"/>
            </a:pPr>
            <a:r>
              <a:rPr lang="en-US" sz="1600" dirty="0">
                <a:solidFill>
                  <a:schemeClr val="tx1"/>
                </a:solidFill>
              </a:rPr>
              <a:t>Strong security defaults (CSRF, HTML escaping)</a:t>
            </a:r>
            <a:endParaRPr lang="en-US" sz="1600" dirty="0"/>
          </a:p>
        </p:txBody>
      </p:sp>
      <p:sp>
        <p:nvSpPr>
          <p:cNvPr id="7" name="badge-80"/>
          <p:cNvSpPr/>
          <p:nvPr/>
        </p:nvSpPr>
        <p:spPr>
          <a:xfrm>
            <a:off x="4434840" y="1325880"/>
            <a:ext cx="457200" cy="457200"/>
          </a:xfrm>
          <a:prstGeom prst="ellipse">
            <a:avLst/>
          </a:prstGeom>
          <a:solidFill>
            <a:schemeClr val="accent6"/>
          </a:solidFill>
          <a:ln w="12700">
            <a:solidFill>
              <a:schemeClr val="accent6"/>
            </a:solidFill>
            <a:prstDash val="solid"/>
          </a:ln>
        </p:spPr>
      </p:sp>
      <p:sp>
        <p:nvSpPr>
          <p:cNvPr id="8" name="badge-text-81"/>
          <p:cNvSpPr txBox="1"/>
          <p:nvPr/>
        </p:nvSpPr>
        <p:spPr>
          <a:xfrm>
            <a:off x="4434840" y="1325880"/>
            <a:ext cx="457200" cy="457200"/>
          </a:xfrm>
          <a:prstGeom prst="rect">
            <a:avLst/>
          </a:prstGeom>
          <a:noFill/>
          <a:ln/>
        </p:spPr>
        <p:txBody>
          <a:bodyPr wrap="square" lIns="0" tIns="0" rIns="0" bIns="0" rtlCol="0" anchor="ctr"/>
          <a:lstStyle/>
          <a:p>
            <a:pPr algn="ctr" indent="0" marL="0">
              <a:buNone/>
            </a:pPr>
            <a:r>
              <a:rPr lang="en-US" sz="2200" b="1" dirty="0">
                <a:solidFill>
                  <a:schemeClr val="bg1"/>
                </a:solidFill>
              </a:rPr>
              <a:t>−</a:t>
            </a:r>
            <a:endParaRPr lang="en-US" sz="2200" dirty="0"/>
          </a:p>
        </p:txBody>
      </p:sp>
      <p:sp>
        <p:nvSpPr>
          <p:cNvPr id="9" name="text-82"/>
          <p:cNvSpPr txBox="1"/>
          <p:nvPr/>
        </p:nvSpPr>
        <p:spPr>
          <a:xfrm>
            <a:off x="5029200" y="1325880"/>
            <a:ext cx="3108960" cy="457200"/>
          </a:xfrm>
          <a:prstGeom prst="rect">
            <a:avLst/>
          </a:prstGeom>
          <a:noFill/>
          <a:ln/>
        </p:spPr>
        <p:txBody>
          <a:bodyPr wrap="square" lIns="0" tIns="0" rIns="0" bIns="0" rtlCol="0" anchor="ctr"/>
          <a:lstStyle/>
          <a:p>
            <a:pPr indent="0" marL="0">
              <a:buNone/>
            </a:pPr>
            <a:r>
              <a:rPr lang="en-US" sz="2000" b="1" dirty="0">
                <a:solidFill>
                  <a:schemeClr val="tx2"/>
                </a:solidFill>
              </a:rPr>
              <a:t>Weaknesses</a:t>
            </a:r>
            <a:endParaRPr lang="en-US" sz="2000" dirty="0"/>
          </a:p>
        </p:txBody>
      </p:sp>
      <p:sp>
        <p:nvSpPr>
          <p:cNvPr id="10" name="text-83"/>
          <p:cNvSpPr txBox="1"/>
          <p:nvPr/>
        </p:nvSpPr>
        <p:spPr>
          <a:xfrm>
            <a:off x="4434840" y="1965960"/>
            <a:ext cx="3657600" cy="310896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chemeClr val="tx1"/>
                </a:solidFill>
              </a:rPr>
              <a:t>No separate API, so our API-testing plan weakens</a:t>
            </a:r>
            <a:endParaRPr lang="en-US" sz="1600" dirty="0"/>
          </a:p>
          <a:p>
            <a:pPr marL="228600" indent="-228600">
              <a:spcAft>
                <a:spcPts val="600"/>
              </a:spcAft>
              <a:buSzPct val="100000"/>
              <a:buChar char="•"/>
            </a:pPr>
            <a:r>
              <a:rPr lang="en-US" sz="1600" dirty="0">
                <a:solidFill>
                  <a:schemeClr val="tx1"/>
                </a:solidFill>
              </a:rPr>
              <a:t>Interface feels dated without extra work</a:t>
            </a:r>
            <a:endParaRPr lang="en-US" sz="1600" dirty="0"/>
          </a:p>
          <a:p>
            <a:pPr marL="228600" indent="-228600">
              <a:spcAft>
                <a:spcPts val="600"/>
              </a:spcAft>
              <a:buSzPct val="100000"/>
              <a:buChar char="•"/>
            </a:pPr>
            <a:r>
              <a:rPr lang="en-US" sz="1600" dirty="0">
                <a:solidFill>
                  <a:schemeClr val="tx1"/>
                </a:solidFill>
              </a:rPr>
              <a:t>Two UI developers have less to own</a:t>
            </a:r>
            <a:endParaRPr lang="en-US" sz="1600" dirty="0"/>
          </a:p>
          <a:p>
            <a:pPr marL="228600" indent="-228600">
              <a:spcAft>
                <a:spcPts val="600"/>
              </a:spcAft>
              <a:buSzPct val="100000"/>
              <a:buChar char="•"/>
            </a:pPr>
            <a:r>
              <a:rPr lang="en-US" sz="1600" dirty="0">
                <a:solidFill>
                  <a:schemeClr val="tx1"/>
                </a:solidFill>
              </a:rPr>
              <a:t>Email runs inside the request, so a slow mail server slows the click</a:t>
            </a:r>
            <a:endParaRPr lang="en-US" sz="1600" dirty="0"/>
          </a:p>
        </p:txBody>
      </p:sp>
      <p:sp>
        <p:nvSpPr>
          <p:cNvPr id="11" name="card-84"/>
          <p:cNvSpPr/>
          <p:nvPr/>
        </p:nvSpPr>
        <p:spPr>
          <a:xfrm>
            <a:off x="8366760" y="1280160"/>
            <a:ext cx="3273552" cy="3886200"/>
          </a:xfrm>
          <a:prstGeom prst="roundRect">
            <a:avLst>
              <a:gd name="adj" fmla="val 2235"/>
            </a:avLst>
          </a:prstGeom>
          <a:solidFill>
            <a:schemeClr val="bg2"/>
          </a:solidFill>
          <a:ln w="12700">
            <a:solidFill>
              <a:schemeClr val="bg2"/>
            </a:solidFill>
            <a:prstDash val="solid"/>
          </a:ln>
        </p:spPr>
      </p:sp>
      <p:sp>
        <p:nvSpPr>
          <p:cNvPr id="12" name="text-85"/>
          <p:cNvSpPr txBox="1"/>
          <p:nvPr/>
        </p:nvSpPr>
        <p:spPr>
          <a:xfrm>
            <a:off x="8595360" y="1463040"/>
            <a:ext cx="2834640" cy="320040"/>
          </a:xfrm>
          <a:prstGeom prst="rect">
            <a:avLst/>
          </a:prstGeom>
          <a:noFill/>
          <a:ln/>
        </p:spPr>
        <p:txBody>
          <a:bodyPr wrap="square" lIns="0" tIns="0" rIns="0" bIns="0" rtlCol="0" anchor="t"/>
          <a:lstStyle/>
          <a:p>
            <a:pPr indent="0" marL="0">
              <a:buNone/>
            </a:pPr>
            <a:r>
              <a:rPr lang="en-US" sz="1500" b="1" dirty="0">
                <a:solidFill>
                  <a:schemeClr val="accent1"/>
                </a:solidFill>
              </a:rPr>
              <a:t>Security</a:t>
            </a:r>
            <a:endParaRPr lang="en-US" sz="1500" dirty="0"/>
          </a:p>
        </p:txBody>
      </p:sp>
      <p:sp>
        <p:nvSpPr>
          <p:cNvPr id="13" name="text-86"/>
          <p:cNvSpPr txBox="1"/>
          <p:nvPr/>
        </p:nvSpPr>
        <p:spPr>
          <a:xfrm>
            <a:off x="8595360" y="1783080"/>
            <a:ext cx="2834640" cy="1005840"/>
          </a:xfrm>
          <a:prstGeom prst="rect">
            <a:avLst/>
          </a:prstGeom>
          <a:noFill/>
          <a:ln/>
        </p:spPr>
        <p:txBody>
          <a:bodyPr wrap="square" lIns="0" tIns="0" rIns="0" bIns="0" rtlCol="0" anchor="t"/>
          <a:lstStyle/>
          <a:p>
            <a:pPr indent="0" marL="0">
              <a:buNone/>
            </a:pPr>
            <a:r>
              <a:rPr lang="en-US" sz="1400" dirty="0">
                <a:solidFill>
                  <a:schemeClr val="tx1"/>
                </a:solidFill>
              </a:rPr>
              <a:t>Session cookie, CSRF protection and Django groups built in.</a:t>
            </a:r>
            <a:endParaRPr lang="en-US" sz="1400" dirty="0"/>
          </a:p>
        </p:txBody>
      </p:sp>
      <p:sp>
        <p:nvSpPr>
          <p:cNvPr id="14" name="text-87"/>
          <p:cNvSpPr txBox="1"/>
          <p:nvPr/>
        </p:nvSpPr>
        <p:spPr>
          <a:xfrm>
            <a:off x="8595360" y="2880360"/>
            <a:ext cx="2834640" cy="320040"/>
          </a:xfrm>
          <a:prstGeom prst="rect">
            <a:avLst/>
          </a:prstGeom>
          <a:noFill/>
          <a:ln/>
        </p:spPr>
        <p:txBody>
          <a:bodyPr wrap="square" lIns="0" tIns="0" rIns="0" bIns="0" rtlCol="0" anchor="t"/>
          <a:lstStyle/>
          <a:p>
            <a:pPr indent="0" marL="0">
              <a:buNone/>
            </a:pPr>
            <a:r>
              <a:rPr lang="en-US" sz="1500" b="1" dirty="0">
                <a:solidFill>
                  <a:schemeClr val="accent1"/>
                </a:solidFill>
              </a:rPr>
              <a:t>Cost and scale</a:t>
            </a:r>
            <a:endParaRPr lang="en-US" sz="1500" dirty="0"/>
          </a:p>
        </p:txBody>
      </p:sp>
      <p:sp>
        <p:nvSpPr>
          <p:cNvPr id="15" name="text-88"/>
          <p:cNvSpPr txBox="1"/>
          <p:nvPr/>
        </p:nvSpPr>
        <p:spPr>
          <a:xfrm>
            <a:off x="8595360" y="3200400"/>
            <a:ext cx="2834640" cy="1783080"/>
          </a:xfrm>
          <a:prstGeom prst="rect">
            <a:avLst/>
          </a:prstGeom>
          <a:noFill/>
          <a:ln/>
        </p:spPr>
        <p:txBody>
          <a:bodyPr wrap="square" lIns="0" tIns="0" rIns="0" bIns="0" rtlCol="0" anchor="t"/>
          <a:lstStyle/>
          <a:p>
            <a:pPr indent="0" marL="0">
              <a:buNone/>
            </a:pPr>
            <a:r>
              <a:rPr lang="en-US" sz="1400" dirty="0">
                <a:solidFill>
                  <a:schemeClr val="tx1"/>
                </a:solidFill>
              </a:rPr>
              <a:t>One web service and one database, free tier for class. Comfortable far beyond pantry scale; add copies to grow.</a:t>
            </a:r>
            <a:endParaRPr lang="en-US" sz="1400" dirty="0"/>
          </a:p>
        </p:txBody>
      </p:sp>
      <p:sp>
        <p:nvSpPr>
          <p:cNvPr id="16" name="card-89"/>
          <p:cNvSpPr/>
          <p:nvPr/>
        </p:nvSpPr>
        <p:spPr>
          <a:xfrm>
            <a:off x="548640" y="5349240"/>
            <a:ext cx="11091672" cy="868680"/>
          </a:xfrm>
          <a:prstGeom prst="roundRect">
            <a:avLst>
              <a:gd name="adj" fmla="val 8421"/>
            </a:avLst>
          </a:prstGeom>
          <a:solidFill>
            <a:schemeClr val="tx2"/>
          </a:solidFill>
          <a:ln w="12700">
            <a:solidFill>
              <a:schemeClr val="tx2"/>
            </a:solidFill>
            <a:prstDash val="solid"/>
          </a:ln>
        </p:spPr>
      </p:sp>
      <p:sp>
        <p:nvSpPr>
          <p:cNvPr id="17" name="badge-90"/>
          <p:cNvSpPr/>
          <p:nvPr/>
        </p:nvSpPr>
        <p:spPr>
          <a:xfrm>
            <a:off x="777240" y="5532120"/>
            <a:ext cx="502920" cy="502920"/>
          </a:xfrm>
          <a:prstGeom prst="ellipse">
            <a:avLst/>
          </a:prstGeom>
          <a:solidFill>
            <a:schemeClr val="accent2"/>
          </a:solidFill>
          <a:ln w="12700">
            <a:solidFill>
              <a:schemeClr val="accent2"/>
            </a:solidFill>
            <a:prstDash val="solid"/>
          </a:ln>
        </p:spPr>
      </p:sp>
      <p:sp>
        <p:nvSpPr>
          <p:cNvPr id="18" name="badge-text-91"/>
          <p:cNvSpPr txBox="1"/>
          <p:nvPr/>
        </p:nvSpPr>
        <p:spPr>
          <a:xfrm>
            <a:off x="777240" y="553212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19" name="text-92"/>
          <p:cNvSpPr txBox="1"/>
          <p:nvPr/>
        </p:nvSpPr>
        <p:spPr>
          <a:xfrm>
            <a:off x="1508760" y="5349240"/>
            <a:ext cx="9966960" cy="868680"/>
          </a:xfrm>
          <a:prstGeom prst="rect">
            <a:avLst/>
          </a:prstGeom>
          <a:noFill/>
          <a:ln/>
        </p:spPr>
        <p:txBody>
          <a:bodyPr wrap="square" lIns="0" tIns="0" rIns="0" bIns="0" rtlCol="0" anchor="ctr"/>
          <a:lstStyle/>
          <a:p>
            <a:pPr indent="0" marL="0">
              <a:buNone/>
            </a:pPr>
            <a:r>
              <a:rPr lang="en-US" sz="1600" b="1" dirty="0">
                <a:solidFill>
                  <a:schemeClr val="bg1"/>
                </a:solidFill>
              </a:rPr>
              <a:t>Choose it when:  </a:t>
            </a:r>
            <a:pPr indent="0" marL="0">
              <a:buNone/>
            </a:pPr>
            <a:r>
              <a:rPr lang="en-US" sz="1600" dirty="0">
                <a:solidFill>
                  <a:schemeClr val="bg1"/>
                </a:solidFill>
              </a:rPr>
              <a:t>the team is weak in JavaScript or time is cut in half. It is our fallback if Option B slips.</a:t>
            </a:r>
            <a:endParaRPr lang="en-US" sz="1600" dirty="0"/>
          </a:p>
        </p:txBody>
      </p:sp>
      <p:sp>
        <p:nvSpPr>
          <p:cNvPr id="25" name="Slide Number Placeholder 0"/>
          <p:cNvSpPr>
            <a:spLocks noGrp="1"/>
          </p:cNvSpPr>
          <p:nvPr>
            <p:ph type="sldNum" sz="quarter" idx="4294967295"/>
          </p:nvPr>
        </p:nvSpPr>
        <p:spPr>
          <a:xfrm>
            <a:off x="11247120" y="6400800"/>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64240" cy="64008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Option B — React SPA + FastAPI modular monolith (recommended)</a:t>
            </a:r>
            <a:endParaRPr lang="en-US" sz="2800" dirty="0"/>
          </a:p>
        </p:txBody>
      </p:sp>
      <p:pic>
        <p:nvPicPr>
          <p:cNvPr id="3" name="diagram-93" descr="Option B — React SPA + FastAPI modular monolith (recommended)">    </p:cNvPr>
          <p:cNvPicPr>
            <a:picLocks noChangeAspect="1"/>
          </p:cNvPicPr>
          <p:nvPr/>
        </p:nvPicPr>
        <p:blipFill>
          <a:blip r:embed="rId1"/>
          <a:stretch>
            <a:fillRect/>
          </a:stretch>
        </p:blipFill>
        <p:spPr>
          <a:xfrm>
            <a:off x="934817" y="960120"/>
            <a:ext cx="10322061" cy="5257800"/>
          </a:xfrm>
          <a:prstGeom prst="rect">
            <a:avLst/>
          </a:prstGeom>
        </p:spPr>
      </p:pic>
      <p:sp>
        <p:nvSpPr>
          <p:cNvPr id="4" name="text-94"/>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100" i="1" dirty="0">
                <a:solidFill>
                  <a:srgbClr val="6B6478"/>
                </a:solidFill>
              </a:rPr>
              <a:t>Steps 1–7: load SPA → POST /api/requests → role check → Requests module → one transaction → email after commit</a:t>
            </a:r>
            <a:endParaRPr lang="en-US" sz="1100" dirty="0"/>
          </a:p>
        </p:txBody>
      </p:sp>
      <p:sp>
        <p:nvSpPr>
          <p:cNvPr id="25" name="Slide Number Placeholder 0"/>
          <p:cNvSpPr>
            <a:spLocks noGrp="1"/>
          </p:cNvSpPr>
          <p:nvPr>
            <p:ph type="sldNum" sz="quarter" idx="4294967295"/>
          </p:nvPr>
        </p:nvSpPr>
        <p:spPr>
          <a:xfrm>
            <a:off x="11247120" y="6400800"/>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Option B: modern and still finishable</a:t>
            </a:r>
            <a:endParaRPr lang="en-US" sz="3200" dirty="0"/>
          </a:p>
        </p:txBody>
      </p:sp>
      <p:sp>
        <p:nvSpPr>
          <p:cNvPr id="3" name="badge-95"/>
          <p:cNvSpPr/>
          <p:nvPr/>
        </p:nvSpPr>
        <p:spPr>
          <a:xfrm>
            <a:off x="548640" y="1325880"/>
            <a:ext cx="457200" cy="457200"/>
          </a:xfrm>
          <a:prstGeom prst="ellipse">
            <a:avLst/>
          </a:prstGeom>
          <a:solidFill>
            <a:schemeClr val="accent3"/>
          </a:solidFill>
          <a:ln w="12700">
            <a:solidFill>
              <a:schemeClr val="accent3"/>
            </a:solidFill>
            <a:prstDash val="solid"/>
          </a:ln>
        </p:spPr>
      </p:sp>
      <p:sp>
        <p:nvSpPr>
          <p:cNvPr id="4" name="badge-text-96"/>
          <p:cNvSpPr txBox="1"/>
          <p:nvPr/>
        </p:nvSpPr>
        <p:spPr>
          <a:xfrm>
            <a:off x="548640" y="1325880"/>
            <a:ext cx="457200" cy="457200"/>
          </a:xfrm>
          <a:prstGeom prst="rect">
            <a:avLst/>
          </a:prstGeom>
          <a:noFill/>
          <a:ln/>
        </p:spPr>
        <p:txBody>
          <a:bodyPr wrap="square" lIns="0" tIns="0" rIns="0" bIns="0" rtlCol="0" anchor="ctr"/>
          <a:lstStyle/>
          <a:p>
            <a:pPr algn="ctr" indent="0" marL="0">
              <a:buNone/>
            </a:pPr>
            <a:r>
              <a:rPr lang="en-US" sz="2200" b="1" dirty="0">
                <a:solidFill>
                  <a:schemeClr val="bg1"/>
                </a:solidFill>
              </a:rPr>
              <a:t>+</a:t>
            </a:r>
            <a:endParaRPr lang="en-US" sz="2200" dirty="0"/>
          </a:p>
        </p:txBody>
      </p:sp>
      <p:sp>
        <p:nvSpPr>
          <p:cNvPr id="5" name="text-97"/>
          <p:cNvSpPr txBox="1"/>
          <p:nvPr/>
        </p:nvSpPr>
        <p:spPr>
          <a:xfrm>
            <a:off x="1143000" y="1325880"/>
            <a:ext cx="3108960" cy="457200"/>
          </a:xfrm>
          <a:prstGeom prst="rect">
            <a:avLst/>
          </a:prstGeom>
          <a:noFill/>
          <a:ln/>
        </p:spPr>
        <p:txBody>
          <a:bodyPr wrap="square" lIns="0" tIns="0" rIns="0" bIns="0" rtlCol="0" anchor="ctr"/>
          <a:lstStyle/>
          <a:p>
            <a:pPr indent="0" marL="0">
              <a:buNone/>
            </a:pPr>
            <a:r>
              <a:rPr lang="en-US" sz="2000" b="1" dirty="0">
                <a:solidFill>
                  <a:schemeClr val="tx2"/>
                </a:solidFill>
              </a:rPr>
              <a:t>Strengths</a:t>
            </a:r>
            <a:endParaRPr lang="en-US" sz="2000" dirty="0"/>
          </a:p>
        </p:txBody>
      </p:sp>
      <p:sp>
        <p:nvSpPr>
          <p:cNvPr id="6" name="text-98"/>
          <p:cNvSpPr txBox="1"/>
          <p:nvPr/>
        </p:nvSpPr>
        <p:spPr>
          <a:xfrm>
            <a:off x="548640" y="1965960"/>
            <a:ext cx="3657600" cy="310896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chemeClr val="tx1"/>
                </a:solidFill>
              </a:rPr>
              <a:t>Clean frontend / backend split for 8 people</a:t>
            </a:r>
            <a:endParaRPr lang="en-US" sz="1600" dirty="0"/>
          </a:p>
          <a:p>
            <a:pPr marL="228600" indent="-228600">
              <a:spcAft>
                <a:spcPts val="600"/>
              </a:spcAft>
              <a:buSzPct val="100000"/>
              <a:buChar char="•"/>
            </a:pPr>
            <a:r>
              <a:rPr lang="en-US" sz="1600" dirty="0">
                <a:solidFill>
                  <a:schemeClr val="tx1"/>
                </a:solidFill>
              </a:rPr>
              <a:t>Automatic API documentation at /docs</a:t>
            </a:r>
            <a:endParaRPr lang="en-US" sz="1600" dirty="0"/>
          </a:p>
          <a:p>
            <a:pPr marL="228600" indent="-228600">
              <a:spcAft>
                <a:spcPts val="600"/>
              </a:spcAft>
              <a:buSzPct val="100000"/>
              <a:buChar char="•"/>
            </a:pPr>
            <a:r>
              <a:rPr lang="en-US" sz="1600" dirty="0">
                <a:solidFill>
                  <a:schemeClr val="tx1"/>
                </a:solidFill>
              </a:rPr>
              <a:t>API tests run in CI on every pull request</a:t>
            </a:r>
            <a:endParaRPr lang="en-US" sz="1600" dirty="0"/>
          </a:p>
          <a:p>
            <a:pPr marL="228600" indent="-228600">
              <a:spcAft>
                <a:spcPts val="600"/>
              </a:spcAft>
              <a:buSzPct val="100000"/>
              <a:buChar char="•"/>
            </a:pPr>
            <a:r>
              <a:rPr lang="en-US" sz="1600" dirty="0">
                <a:solidFill>
                  <a:schemeClr val="tx1"/>
                </a:solidFill>
              </a:rPr>
              <a:t>Same API could later serve a mobile app</a:t>
            </a:r>
            <a:endParaRPr lang="en-US" sz="1600" dirty="0"/>
          </a:p>
        </p:txBody>
      </p:sp>
      <p:sp>
        <p:nvSpPr>
          <p:cNvPr id="7" name="badge-99"/>
          <p:cNvSpPr/>
          <p:nvPr/>
        </p:nvSpPr>
        <p:spPr>
          <a:xfrm>
            <a:off x="4434840" y="1325880"/>
            <a:ext cx="457200" cy="457200"/>
          </a:xfrm>
          <a:prstGeom prst="ellipse">
            <a:avLst/>
          </a:prstGeom>
          <a:solidFill>
            <a:schemeClr val="accent6"/>
          </a:solidFill>
          <a:ln w="12700">
            <a:solidFill>
              <a:schemeClr val="accent6"/>
            </a:solidFill>
            <a:prstDash val="solid"/>
          </a:ln>
        </p:spPr>
      </p:sp>
      <p:sp>
        <p:nvSpPr>
          <p:cNvPr id="8" name="badge-text-100"/>
          <p:cNvSpPr txBox="1"/>
          <p:nvPr/>
        </p:nvSpPr>
        <p:spPr>
          <a:xfrm>
            <a:off x="4434840" y="1325880"/>
            <a:ext cx="457200" cy="457200"/>
          </a:xfrm>
          <a:prstGeom prst="rect">
            <a:avLst/>
          </a:prstGeom>
          <a:noFill/>
          <a:ln/>
        </p:spPr>
        <p:txBody>
          <a:bodyPr wrap="square" lIns="0" tIns="0" rIns="0" bIns="0" rtlCol="0" anchor="ctr"/>
          <a:lstStyle/>
          <a:p>
            <a:pPr algn="ctr" indent="0" marL="0">
              <a:buNone/>
            </a:pPr>
            <a:r>
              <a:rPr lang="en-US" sz="2200" b="1" dirty="0">
                <a:solidFill>
                  <a:schemeClr val="bg1"/>
                </a:solidFill>
              </a:rPr>
              <a:t>−</a:t>
            </a:r>
            <a:endParaRPr lang="en-US" sz="2200" dirty="0"/>
          </a:p>
        </p:txBody>
      </p:sp>
      <p:sp>
        <p:nvSpPr>
          <p:cNvPr id="9" name="text-101"/>
          <p:cNvSpPr txBox="1"/>
          <p:nvPr/>
        </p:nvSpPr>
        <p:spPr>
          <a:xfrm>
            <a:off x="5029200" y="1325880"/>
            <a:ext cx="3108960" cy="457200"/>
          </a:xfrm>
          <a:prstGeom prst="rect">
            <a:avLst/>
          </a:prstGeom>
          <a:noFill/>
          <a:ln/>
        </p:spPr>
        <p:txBody>
          <a:bodyPr wrap="square" lIns="0" tIns="0" rIns="0" bIns="0" rtlCol="0" anchor="ctr"/>
          <a:lstStyle/>
          <a:p>
            <a:pPr indent="0" marL="0">
              <a:buNone/>
            </a:pPr>
            <a:r>
              <a:rPr lang="en-US" sz="2000" b="1" dirty="0">
                <a:solidFill>
                  <a:schemeClr val="tx2"/>
                </a:solidFill>
              </a:rPr>
              <a:t>Weaknesses</a:t>
            </a:r>
            <a:endParaRPr lang="en-US" sz="2000" dirty="0"/>
          </a:p>
        </p:txBody>
      </p:sp>
      <p:sp>
        <p:nvSpPr>
          <p:cNvPr id="10" name="text-102"/>
          <p:cNvSpPr txBox="1"/>
          <p:nvPr/>
        </p:nvSpPr>
        <p:spPr>
          <a:xfrm>
            <a:off x="4434840" y="1965960"/>
            <a:ext cx="3657600" cy="310896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chemeClr val="tx1"/>
                </a:solidFill>
              </a:rPr>
              <a:t>Two languages: Python and JavaScript</a:t>
            </a:r>
            <a:endParaRPr lang="en-US" sz="1600" dirty="0"/>
          </a:p>
          <a:p>
            <a:pPr marL="228600" indent="-228600">
              <a:spcAft>
                <a:spcPts val="600"/>
              </a:spcAft>
              <a:buSzPct val="100000"/>
              <a:buChar char="•"/>
            </a:pPr>
            <a:r>
              <a:rPr lang="en-US" sz="1600" dirty="0">
                <a:solidFill>
                  <a:schemeClr val="tx1"/>
                </a:solidFill>
              </a:rPr>
              <a:t>Staff screens must be built, not generated</a:t>
            </a:r>
            <a:endParaRPr lang="en-US" sz="1600" dirty="0"/>
          </a:p>
          <a:p>
            <a:pPr marL="228600" indent="-228600">
              <a:spcAft>
                <a:spcPts val="600"/>
              </a:spcAft>
              <a:buSzPct val="100000"/>
              <a:buChar char="•"/>
            </a:pPr>
            <a:r>
              <a:rPr lang="en-US" sz="1600" dirty="0">
                <a:solidFill>
                  <a:schemeClr val="tx1"/>
                </a:solidFill>
              </a:rPr>
              <a:t>More code than Option A</a:t>
            </a:r>
            <a:endParaRPr lang="en-US" sz="1600" dirty="0"/>
          </a:p>
        </p:txBody>
      </p:sp>
      <p:sp>
        <p:nvSpPr>
          <p:cNvPr id="11" name="card-103"/>
          <p:cNvSpPr/>
          <p:nvPr/>
        </p:nvSpPr>
        <p:spPr>
          <a:xfrm>
            <a:off x="8366760" y="1280160"/>
            <a:ext cx="3273552" cy="3886200"/>
          </a:xfrm>
          <a:prstGeom prst="roundRect">
            <a:avLst>
              <a:gd name="adj" fmla="val 2235"/>
            </a:avLst>
          </a:prstGeom>
          <a:solidFill>
            <a:schemeClr val="bg2"/>
          </a:solidFill>
          <a:ln w="12700">
            <a:solidFill>
              <a:schemeClr val="bg2"/>
            </a:solidFill>
            <a:prstDash val="solid"/>
          </a:ln>
        </p:spPr>
      </p:sp>
      <p:sp>
        <p:nvSpPr>
          <p:cNvPr id="12" name="text-104"/>
          <p:cNvSpPr txBox="1"/>
          <p:nvPr/>
        </p:nvSpPr>
        <p:spPr>
          <a:xfrm>
            <a:off x="8595360" y="1463040"/>
            <a:ext cx="2834640" cy="320040"/>
          </a:xfrm>
          <a:prstGeom prst="rect">
            <a:avLst/>
          </a:prstGeom>
          <a:noFill/>
          <a:ln/>
        </p:spPr>
        <p:txBody>
          <a:bodyPr wrap="square" lIns="0" tIns="0" rIns="0" bIns="0" rtlCol="0" anchor="t"/>
          <a:lstStyle/>
          <a:p>
            <a:pPr indent="0" marL="0">
              <a:buNone/>
            </a:pPr>
            <a:r>
              <a:rPr lang="en-US" sz="1500" b="1" dirty="0">
                <a:solidFill>
                  <a:schemeClr val="accent1"/>
                </a:solidFill>
              </a:rPr>
              <a:t>Security</a:t>
            </a:r>
            <a:endParaRPr lang="en-US" sz="1500" dirty="0"/>
          </a:p>
        </p:txBody>
      </p:sp>
      <p:sp>
        <p:nvSpPr>
          <p:cNvPr id="13" name="text-105"/>
          <p:cNvSpPr txBox="1"/>
          <p:nvPr/>
        </p:nvSpPr>
        <p:spPr>
          <a:xfrm>
            <a:off x="8595360" y="1783080"/>
            <a:ext cx="2834640" cy="1005840"/>
          </a:xfrm>
          <a:prstGeom prst="rect">
            <a:avLst/>
          </a:prstGeom>
          <a:noFill/>
          <a:ln/>
        </p:spPr>
        <p:txBody>
          <a:bodyPr wrap="square" lIns="0" tIns="0" rIns="0" bIns="0" rtlCol="0" anchor="t"/>
          <a:lstStyle/>
          <a:p>
            <a:pPr indent="0" marL="0">
              <a:buNone/>
            </a:pPr>
            <a:r>
              <a:rPr lang="en-US" sz="1400" dirty="0">
                <a:solidFill>
                  <a:schemeClr val="tx1"/>
                </a:solidFill>
              </a:rPr>
              <a:t>Same origin, so the session cookie is httpOnly and SameSite; every endpoint declares its roles; argon2 password hashing.</a:t>
            </a:r>
            <a:endParaRPr lang="en-US" sz="1400" dirty="0"/>
          </a:p>
        </p:txBody>
      </p:sp>
      <p:sp>
        <p:nvSpPr>
          <p:cNvPr id="14" name="text-106"/>
          <p:cNvSpPr txBox="1"/>
          <p:nvPr/>
        </p:nvSpPr>
        <p:spPr>
          <a:xfrm>
            <a:off x="8595360" y="2880360"/>
            <a:ext cx="2834640" cy="320040"/>
          </a:xfrm>
          <a:prstGeom prst="rect">
            <a:avLst/>
          </a:prstGeom>
          <a:noFill/>
          <a:ln/>
        </p:spPr>
        <p:txBody>
          <a:bodyPr wrap="square" lIns="0" tIns="0" rIns="0" bIns="0" rtlCol="0" anchor="t"/>
          <a:lstStyle/>
          <a:p>
            <a:pPr indent="0" marL="0">
              <a:buNone/>
            </a:pPr>
            <a:r>
              <a:rPr lang="en-US" sz="1500" b="1" dirty="0">
                <a:solidFill>
                  <a:schemeClr val="accent1"/>
                </a:solidFill>
              </a:rPr>
              <a:t>Cost and scale</a:t>
            </a:r>
            <a:endParaRPr lang="en-US" sz="1500" dirty="0"/>
          </a:p>
        </p:txBody>
      </p:sp>
      <p:sp>
        <p:nvSpPr>
          <p:cNvPr id="15" name="text-107"/>
          <p:cNvSpPr txBox="1"/>
          <p:nvPr/>
        </p:nvSpPr>
        <p:spPr>
          <a:xfrm>
            <a:off x="8595360" y="3200400"/>
            <a:ext cx="2834640" cy="1783080"/>
          </a:xfrm>
          <a:prstGeom prst="rect">
            <a:avLst/>
          </a:prstGeom>
          <a:noFill/>
          <a:ln/>
        </p:spPr>
        <p:txBody>
          <a:bodyPr wrap="square" lIns="0" tIns="0" rIns="0" bIns="0" rtlCol="0" anchor="t"/>
          <a:lstStyle/>
          <a:p>
            <a:pPr indent="0" marL="0">
              <a:buNone/>
            </a:pPr>
            <a:r>
              <a:rPr lang="en-US" sz="1400" dirty="0">
                <a:solidFill>
                  <a:schemeClr val="tx1"/>
                </a:solidFill>
              </a:rPr>
              <a:t>Same as A. One container handles far more than one pantry; run a second copy behind the load balancer to grow.</a:t>
            </a:r>
            <a:endParaRPr lang="en-US" sz="1400" dirty="0"/>
          </a:p>
        </p:txBody>
      </p:sp>
      <p:sp>
        <p:nvSpPr>
          <p:cNvPr id="16" name="card-108"/>
          <p:cNvSpPr/>
          <p:nvPr/>
        </p:nvSpPr>
        <p:spPr>
          <a:xfrm>
            <a:off x="548640" y="5349240"/>
            <a:ext cx="11091672" cy="868680"/>
          </a:xfrm>
          <a:prstGeom prst="roundRect">
            <a:avLst>
              <a:gd name="adj" fmla="val 8421"/>
            </a:avLst>
          </a:prstGeom>
          <a:solidFill>
            <a:schemeClr val="accent1"/>
          </a:solidFill>
          <a:ln w="12700">
            <a:solidFill>
              <a:schemeClr val="accent1"/>
            </a:solidFill>
            <a:prstDash val="solid"/>
          </a:ln>
        </p:spPr>
      </p:sp>
      <p:sp>
        <p:nvSpPr>
          <p:cNvPr id="17" name="badge-109"/>
          <p:cNvSpPr/>
          <p:nvPr/>
        </p:nvSpPr>
        <p:spPr>
          <a:xfrm>
            <a:off x="777240" y="5532120"/>
            <a:ext cx="502920" cy="502920"/>
          </a:xfrm>
          <a:prstGeom prst="ellipse">
            <a:avLst/>
          </a:prstGeom>
          <a:solidFill>
            <a:schemeClr val="accent2"/>
          </a:solidFill>
          <a:ln w="12700">
            <a:solidFill>
              <a:schemeClr val="accent2"/>
            </a:solidFill>
            <a:prstDash val="solid"/>
          </a:ln>
        </p:spPr>
      </p:sp>
      <p:sp>
        <p:nvSpPr>
          <p:cNvPr id="18" name="badge-text-110"/>
          <p:cNvSpPr txBox="1"/>
          <p:nvPr/>
        </p:nvSpPr>
        <p:spPr>
          <a:xfrm>
            <a:off x="777240" y="553212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9" name="text-111"/>
          <p:cNvSpPr txBox="1"/>
          <p:nvPr/>
        </p:nvSpPr>
        <p:spPr>
          <a:xfrm>
            <a:off x="1508760" y="5349240"/>
            <a:ext cx="9966960" cy="868680"/>
          </a:xfrm>
          <a:prstGeom prst="rect">
            <a:avLst/>
          </a:prstGeom>
          <a:noFill/>
          <a:ln/>
        </p:spPr>
        <p:txBody>
          <a:bodyPr wrap="square" lIns="0" tIns="0" rIns="0" bIns="0" rtlCol="0" anchor="ctr"/>
          <a:lstStyle/>
          <a:p>
            <a:pPr indent="0" marL="0">
              <a:buNone/>
            </a:pPr>
            <a:r>
              <a:rPr lang="en-US" sz="1600" b="1" dirty="0">
                <a:solidFill>
                  <a:schemeClr val="bg1"/>
                </a:solidFill>
              </a:rPr>
              <a:t>Choose it when:  </a:t>
            </a:r>
            <a:pPr indent="0" marL="0">
              <a:buNone/>
            </a:pPr>
            <a:r>
              <a:rPr lang="en-US" sz="1600" dirty="0">
                <a:solidFill>
                  <a:schemeClr val="bg1"/>
                </a:solidFill>
              </a:rPr>
              <a:t>the team wants a defensible, modern design that can ship in six weeks. This project.</a:t>
            </a:r>
            <a:endParaRPr lang="en-US" sz="1600" dirty="0"/>
          </a:p>
        </p:txBody>
      </p:sp>
      <p:sp>
        <p:nvSpPr>
          <p:cNvPr id="25" name="Slide Number Placeholder 0"/>
          <p:cNvSpPr>
            <a:spLocks noGrp="1"/>
          </p:cNvSpPr>
          <p:nvPr>
            <p:ph type="sldNum" sz="quarter" idx="4294967295"/>
          </p:nvPr>
        </p:nvSpPr>
        <p:spPr>
          <a:xfrm>
            <a:off x="11247120" y="6400800"/>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64240" cy="64008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Option C — Backend-as-a-Service with Supabase</a:t>
            </a:r>
            <a:endParaRPr lang="en-US" sz="2800" dirty="0"/>
          </a:p>
        </p:txBody>
      </p:sp>
      <p:pic>
        <p:nvPicPr>
          <p:cNvPr id="3" name="diagram-112" descr="Option C — Backend-as-a-Service with Supabase">    </p:cNvPr>
          <p:cNvPicPr>
            <a:picLocks noChangeAspect="1"/>
          </p:cNvPicPr>
          <p:nvPr/>
        </p:nvPicPr>
        <p:blipFill>
          <a:blip r:embed="rId1"/>
          <a:stretch>
            <a:fillRect/>
          </a:stretch>
        </p:blipFill>
        <p:spPr>
          <a:xfrm>
            <a:off x="934817" y="960120"/>
            <a:ext cx="10322061" cy="5257800"/>
          </a:xfrm>
          <a:prstGeom prst="rect">
            <a:avLst/>
          </a:prstGeom>
        </p:spPr>
      </p:pic>
      <p:sp>
        <p:nvSpPr>
          <p:cNvPr id="4" name="text-113"/>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100" i="1" dirty="0">
                <a:solidFill>
                  <a:srgbClr val="6B6478"/>
                </a:solidFill>
              </a:rPr>
              <a:t>Steps 1–8: SPA from CDN → sign in → POST with JWT → Postgres → Row-Level Security → webhook → Edge Function → email</a:t>
            </a:r>
            <a:endParaRPr lang="en-US" sz="1100" dirty="0"/>
          </a:p>
        </p:txBody>
      </p:sp>
      <p:sp>
        <p:nvSpPr>
          <p:cNvPr id="25" name="Slide Number Placeholder 0"/>
          <p:cNvSpPr>
            <a:spLocks noGrp="1"/>
          </p:cNvSpPr>
          <p:nvPr>
            <p:ph type="sldNum" sz="quarter" idx="4294967295"/>
          </p:nvPr>
        </p:nvSpPr>
        <p:spPr>
          <a:xfrm>
            <a:off x="11247120" y="6400800"/>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Option C: fast start, security lives in the database</a:t>
            </a:r>
            <a:endParaRPr lang="en-US" sz="3200" dirty="0"/>
          </a:p>
        </p:txBody>
      </p:sp>
      <p:sp>
        <p:nvSpPr>
          <p:cNvPr id="3" name="badge-114"/>
          <p:cNvSpPr/>
          <p:nvPr/>
        </p:nvSpPr>
        <p:spPr>
          <a:xfrm>
            <a:off x="548640" y="1325880"/>
            <a:ext cx="457200" cy="457200"/>
          </a:xfrm>
          <a:prstGeom prst="ellipse">
            <a:avLst/>
          </a:prstGeom>
          <a:solidFill>
            <a:schemeClr val="accent3"/>
          </a:solidFill>
          <a:ln w="12700">
            <a:solidFill>
              <a:schemeClr val="accent3"/>
            </a:solidFill>
            <a:prstDash val="solid"/>
          </a:ln>
        </p:spPr>
      </p:sp>
      <p:sp>
        <p:nvSpPr>
          <p:cNvPr id="4" name="badge-text-115"/>
          <p:cNvSpPr txBox="1"/>
          <p:nvPr/>
        </p:nvSpPr>
        <p:spPr>
          <a:xfrm>
            <a:off x="548640" y="1325880"/>
            <a:ext cx="457200" cy="457200"/>
          </a:xfrm>
          <a:prstGeom prst="rect">
            <a:avLst/>
          </a:prstGeom>
          <a:noFill/>
          <a:ln/>
        </p:spPr>
        <p:txBody>
          <a:bodyPr wrap="square" lIns="0" tIns="0" rIns="0" bIns="0" rtlCol="0" anchor="ctr"/>
          <a:lstStyle/>
          <a:p>
            <a:pPr algn="ctr" indent="0" marL="0">
              <a:buNone/>
            </a:pPr>
            <a:r>
              <a:rPr lang="en-US" sz="2200" b="1" dirty="0">
                <a:solidFill>
                  <a:schemeClr val="bg1"/>
                </a:solidFill>
              </a:rPr>
              <a:t>+</a:t>
            </a:r>
            <a:endParaRPr lang="en-US" sz="2200" dirty="0"/>
          </a:p>
        </p:txBody>
      </p:sp>
      <p:sp>
        <p:nvSpPr>
          <p:cNvPr id="5" name="text-116"/>
          <p:cNvSpPr txBox="1"/>
          <p:nvPr/>
        </p:nvSpPr>
        <p:spPr>
          <a:xfrm>
            <a:off x="1143000" y="1325880"/>
            <a:ext cx="3108960" cy="457200"/>
          </a:xfrm>
          <a:prstGeom prst="rect">
            <a:avLst/>
          </a:prstGeom>
          <a:noFill/>
          <a:ln/>
        </p:spPr>
        <p:txBody>
          <a:bodyPr wrap="square" lIns="0" tIns="0" rIns="0" bIns="0" rtlCol="0" anchor="ctr"/>
          <a:lstStyle/>
          <a:p>
            <a:pPr indent="0" marL="0">
              <a:buNone/>
            </a:pPr>
            <a:r>
              <a:rPr lang="en-US" sz="2000" b="1" dirty="0">
                <a:solidFill>
                  <a:schemeClr val="tx2"/>
                </a:solidFill>
              </a:rPr>
              <a:t>Strengths</a:t>
            </a:r>
            <a:endParaRPr lang="en-US" sz="2000" dirty="0"/>
          </a:p>
        </p:txBody>
      </p:sp>
      <p:sp>
        <p:nvSpPr>
          <p:cNvPr id="6" name="text-117"/>
          <p:cNvSpPr txBox="1"/>
          <p:nvPr/>
        </p:nvSpPr>
        <p:spPr>
          <a:xfrm>
            <a:off x="548640" y="1965960"/>
            <a:ext cx="3657600" cy="310896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chemeClr val="tx1"/>
                </a:solidFill>
              </a:rPr>
              <a:t>Fastest path to login and basic screens</a:t>
            </a:r>
            <a:endParaRPr lang="en-US" sz="1600" dirty="0"/>
          </a:p>
          <a:p>
            <a:pPr marL="228600" indent="-228600">
              <a:spcAft>
                <a:spcPts val="600"/>
              </a:spcAft>
              <a:buSzPct val="100000"/>
              <a:buChar char="•"/>
            </a:pPr>
            <a:r>
              <a:rPr lang="en-US" sz="1600" dirty="0">
                <a:solidFill>
                  <a:schemeClr val="tx1"/>
                </a:solidFill>
              </a:rPr>
              <a:t>Authentication built in</a:t>
            </a:r>
            <a:endParaRPr lang="en-US" sz="1600" dirty="0"/>
          </a:p>
          <a:p>
            <a:pPr marL="228600" indent="-228600">
              <a:spcAft>
                <a:spcPts val="600"/>
              </a:spcAft>
              <a:buSzPct val="100000"/>
              <a:buChar char="•"/>
            </a:pPr>
            <a:r>
              <a:rPr lang="en-US" sz="1600" dirty="0">
                <a:solidFill>
                  <a:schemeClr val="tx1"/>
                </a:solidFill>
              </a:rPr>
              <a:t>Strong data security when policies are right</a:t>
            </a:r>
            <a:endParaRPr lang="en-US" sz="1600" dirty="0"/>
          </a:p>
        </p:txBody>
      </p:sp>
      <p:sp>
        <p:nvSpPr>
          <p:cNvPr id="7" name="badge-118"/>
          <p:cNvSpPr/>
          <p:nvPr/>
        </p:nvSpPr>
        <p:spPr>
          <a:xfrm>
            <a:off x="4434840" y="1325880"/>
            <a:ext cx="457200" cy="457200"/>
          </a:xfrm>
          <a:prstGeom prst="ellipse">
            <a:avLst/>
          </a:prstGeom>
          <a:solidFill>
            <a:schemeClr val="accent6"/>
          </a:solidFill>
          <a:ln w="12700">
            <a:solidFill>
              <a:schemeClr val="accent6"/>
            </a:solidFill>
            <a:prstDash val="solid"/>
          </a:ln>
        </p:spPr>
      </p:sp>
      <p:sp>
        <p:nvSpPr>
          <p:cNvPr id="8" name="badge-text-119"/>
          <p:cNvSpPr txBox="1"/>
          <p:nvPr/>
        </p:nvSpPr>
        <p:spPr>
          <a:xfrm>
            <a:off x="4434840" y="1325880"/>
            <a:ext cx="457200" cy="457200"/>
          </a:xfrm>
          <a:prstGeom prst="rect">
            <a:avLst/>
          </a:prstGeom>
          <a:noFill/>
          <a:ln/>
        </p:spPr>
        <p:txBody>
          <a:bodyPr wrap="square" lIns="0" tIns="0" rIns="0" bIns="0" rtlCol="0" anchor="ctr"/>
          <a:lstStyle/>
          <a:p>
            <a:pPr algn="ctr" indent="0" marL="0">
              <a:buNone/>
            </a:pPr>
            <a:r>
              <a:rPr lang="en-US" sz="2200" b="1" dirty="0">
                <a:solidFill>
                  <a:schemeClr val="bg1"/>
                </a:solidFill>
              </a:rPr>
              <a:t>−</a:t>
            </a:r>
            <a:endParaRPr lang="en-US" sz="2200" dirty="0"/>
          </a:p>
        </p:txBody>
      </p:sp>
      <p:sp>
        <p:nvSpPr>
          <p:cNvPr id="9" name="text-120"/>
          <p:cNvSpPr txBox="1"/>
          <p:nvPr/>
        </p:nvSpPr>
        <p:spPr>
          <a:xfrm>
            <a:off x="5029200" y="1325880"/>
            <a:ext cx="3108960" cy="457200"/>
          </a:xfrm>
          <a:prstGeom prst="rect">
            <a:avLst/>
          </a:prstGeom>
          <a:noFill/>
          <a:ln/>
        </p:spPr>
        <p:txBody>
          <a:bodyPr wrap="square" lIns="0" tIns="0" rIns="0" bIns="0" rtlCol="0" anchor="ctr"/>
          <a:lstStyle/>
          <a:p>
            <a:pPr indent="0" marL="0">
              <a:buNone/>
            </a:pPr>
            <a:r>
              <a:rPr lang="en-US" sz="2000" b="1" dirty="0">
                <a:solidFill>
                  <a:schemeClr val="tx2"/>
                </a:solidFill>
              </a:rPr>
              <a:t>Weaknesses</a:t>
            </a:r>
            <a:endParaRPr lang="en-US" sz="2000" dirty="0"/>
          </a:p>
        </p:txBody>
      </p:sp>
      <p:sp>
        <p:nvSpPr>
          <p:cNvPr id="10" name="text-121"/>
          <p:cNvSpPr txBox="1"/>
          <p:nvPr/>
        </p:nvSpPr>
        <p:spPr>
          <a:xfrm>
            <a:off x="4434840" y="1965960"/>
            <a:ext cx="3657600" cy="310896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chemeClr val="tx1"/>
                </a:solidFill>
              </a:rPr>
              <a:t>One missing Row-Level Security policy exposes a table</a:t>
            </a:r>
            <a:endParaRPr lang="en-US" sz="1600" dirty="0"/>
          </a:p>
          <a:p>
            <a:pPr marL="228600" indent="-228600">
              <a:spcAft>
                <a:spcPts val="600"/>
              </a:spcAft>
              <a:buSzPct val="100000"/>
              <a:buChar char="•"/>
            </a:pPr>
            <a:r>
              <a:rPr lang="en-US" sz="1600" dirty="0">
                <a:solidFill>
                  <a:schemeClr val="tx1"/>
                </a:solidFill>
              </a:rPr>
              <a:t>Policies and SQL functions are hard to unit-test</a:t>
            </a:r>
            <a:endParaRPr lang="en-US" sz="1600" dirty="0"/>
          </a:p>
          <a:p>
            <a:pPr marL="228600" indent="-228600">
              <a:spcAft>
                <a:spcPts val="600"/>
              </a:spcAft>
              <a:buSzPct val="100000"/>
              <a:buChar char="•"/>
            </a:pPr>
            <a:r>
              <a:rPr lang="en-US" sz="1600" dirty="0">
                <a:solidFill>
                  <a:schemeClr val="tx1"/>
                </a:solidFill>
              </a:rPr>
              <a:t>Vendor lock-in; logic split across SQL, TypeScript and UI</a:t>
            </a:r>
            <a:endParaRPr lang="en-US" sz="1600" dirty="0"/>
          </a:p>
          <a:p>
            <a:pPr marL="228600" indent="-228600">
              <a:spcAft>
                <a:spcPts val="600"/>
              </a:spcAft>
              <a:buSzPct val="100000"/>
              <a:buChar char="•"/>
            </a:pPr>
            <a:r>
              <a:rPr lang="en-US" sz="1600" dirty="0">
                <a:solidFill>
                  <a:schemeClr val="tx1"/>
                </a:solidFill>
              </a:rPr>
              <a:t>Our Docker plan barely applies</a:t>
            </a:r>
            <a:endParaRPr lang="en-US" sz="1600" dirty="0"/>
          </a:p>
        </p:txBody>
      </p:sp>
      <p:sp>
        <p:nvSpPr>
          <p:cNvPr id="11" name="card-122"/>
          <p:cNvSpPr/>
          <p:nvPr/>
        </p:nvSpPr>
        <p:spPr>
          <a:xfrm>
            <a:off x="8366760" y="1280160"/>
            <a:ext cx="3273552" cy="3886200"/>
          </a:xfrm>
          <a:prstGeom prst="roundRect">
            <a:avLst>
              <a:gd name="adj" fmla="val 2235"/>
            </a:avLst>
          </a:prstGeom>
          <a:solidFill>
            <a:schemeClr val="bg2"/>
          </a:solidFill>
          <a:ln w="12700">
            <a:solidFill>
              <a:schemeClr val="bg2"/>
            </a:solidFill>
            <a:prstDash val="solid"/>
          </a:ln>
        </p:spPr>
      </p:sp>
      <p:sp>
        <p:nvSpPr>
          <p:cNvPr id="12" name="text-123"/>
          <p:cNvSpPr txBox="1"/>
          <p:nvPr/>
        </p:nvSpPr>
        <p:spPr>
          <a:xfrm>
            <a:off x="8595360" y="1463040"/>
            <a:ext cx="2834640" cy="320040"/>
          </a:xfrm>
          <a:prstGeom prst="rect">
            <a:avLst/>
          </a:prstGeom>
          <a:noFill/>
          <a:ln/>
        </p:spPr>
        <p:txBody>
          <a:bodyPr wrap="square" lIns="0" tIns="0" rIns="0" bIns="0" rtlCol="0" anchor="t"/>
          <a:lstStyle/>
          <a:p>
            <a:pPr indent="0" marL="0">
              <a:buNone/>
            </a:pPr>
            <a:r>
              <a:rPr lang="en-US" sz="1500" b="1" dirty="0">
                <a:solidFill>
                  <a:schemeClr val="accent1"/>
                </a:solidFill>
              </a:rPr>
              <a:t>Security</a:t>
            </a:r>
            <a:endParaRPr lang="en-US" sz="1500" dirty="0"/>
          </a:p>
        </p:txBody>
      </p:sp>
      <p:sp>
        <p:nvSpPr>
          <p:cNvPr id="13" name="text-124"/>
          <p:cNvSpPr txBox="1"/>
          <p:nvPr/>
        </p:nvSpPr>
        <p:spPr>
          <a:xfrm>
            <a:off x="8595360" y="1783080"/>
            <a:ext cx="2834640" cy="1005840"/>
          </a:xfrm>
          <a:prstGeom prst="rect">
            <a:avLst/>
          </a:prstGeom>
          <a:noFill/>
          <a:ln/>
        </p:spPr>
        <p:txBody>
          <a:bodyPr wrap="square" lIns="0" tIns="0" rIns="0" bIns="0" rtlCol="0" anchor="t"/>
          <a:lstStyle/>
          <a:p>
            <a:pPr indent="0" marL="0">
              <a:buNone/>
            </a:pPr>
            <a:r>
              <a:rPr lang="en-US" sz="1400" dirty="0">
                <a:solidFill>
                  <a:schemeClr val="tx1"/>
                </a:solidFill>
              </a:rPr>
              <a:t>The browser talks straight to the database API, so every table needs a correct policy.</a:t>
            </a:r>
            <a:endParaRPr lang="en-US" sz="1400" dirty="0"/>
          </a:p>
        </p:txBody>
      </p:sp>
      <p:sp>
        <p:nvSpPr>
          <p:cNvPr id="14" name="text-125"/>
          <p:cNvSpPr txBox="1"/>
          <p:nvPr/>
        </p:nvSpPr>
        <p:spPr>
          <a:xfrm>
            <a:off x="8595360" y="2880360"/>
            <a:ext cx="2834640" cy="320040"/>
          </a:xfrm>
          <a:prstGeom prst="rect">
            <a:avLst/>
          </a:prstGeom>
          <a:noFill/>
          <a:ln/>
        </p:spPr>
        <p:txBody>
          <a:bodyPr wrap="square" lIns="0" tIns="0" rIns="0" bIns="0" rtlCol="0" anchor="t"/>
          <a:lstStyle/>
          <a:p>
            <a:pPr indent="0" marL="0">
              <a:buNone/>
            </a:pPr>
            <a:r>
              <a:rPr lang="en-US" sz="1500" b="1" dirty="0">
                <a:solidFill>
                  <a:schemeClr val="accent1"/>
                </a:solidFill>
              </a:rPr>
              <a:t>Cost and scale</a:t>
            </a:r>
            <a:endParaRPr lang="en-US" sz="1500" dirty="0"/>
          </a:p>
        </p:txBody>
      </p:sp>
      <p:sp>
        <p:nvSpPr>
          <p:cNvPr id="15" name="text-126"/>
          <p:cNvSpPr txBox="1"/>
          <p:nvPr/>
        </p:nvSpPr>
        <p:spPr>
          <a:xfrm>
            <a:off x="8595360" y="3200400"/>
            <a:ext cx="2834640" cy="1783080"/>
          </a:xfrm>
          <a:prstGeom prst="rect">
            <a:avLst/>
          </a:prstGeom>
          <a:noFill/>
          <a:ln/>
        </p:spPr>
        <p:txBody>
          <a:bodyPr wrap="square" lIns="0" tIns="0" rIns="0" bIns="0" rtlCol="0" anchor="t"/>
          <a:lstStyle/>
          <a:p>
            <a:pPr indent="0" marL="0">
              <a:buNone/>
            </a:pPr>
            <a:r>
              <a:rPr lang="en-US" sz="1400" dirty="0">
                <a:solidFill>
                  <a:schemeClr val="tx1"/>
                </a:solidFill>
              </a:rPr>
              <a:t>Free tier is enough for a demo but free projects can pause. Cost driver is a paid plan for backups.</a:t>
            </a:r>
            <a:endParaRPr lang="en-US" sz="1400" dirty="0"/>
          </a:p>
        </p:txBody>
      </p:sp>
      <p:sp>
        <p:nvSpPr>
          <p:cNvPr id="16" name="card-127"/>
          <p:cNvSpPr/>
          <p:nvPr/>
        </p:nvSpPr>
        <p:spPr>
          <a:xfrm>
            <a:off x="548640" y="5349240"/>
            <a:ext cx="11091672" cy="868680"/>
          </a:xfrm>
          <a:prstGeom prst="roundRect">
            <a:avLst>
              <a:gd name="adj" fmla="val 8421"/>
            </a:avLst>
          </a:prstGeom>
          <a:solidFill>
            <a:schemeClr val="tx2"/>
          </a:solidFill>
          <a:ln w="12700">
            <a:solidFill>
              <a:schemeClr val="tx2"/>
            </a:solidFill>
            <a:prstDash val="solid"/>
          </a:ln>
        </p:spPr>
      </p:sp>
      <p:sp>
        <p:nvSpPr>
          <p:cNvPr id="17" name="badge-128"/>
          <p:cNvSpPr/>
          <p:nvPr/>
        </p:nvSpPr>
        <p:spPr>
          <a:xfrm>
            <a:off x="777240" y="5532120"/>
            <a:ext cx="502920" cy="502920"/>
          </a:xfrm>
          <a:prstGeom prst="ellipse">
            <a:avLst/>
          </a:prstGeom>
          <a:solidFill>
            <a:schemeClr val="accent2"/>
          </a:solidFill>
          <a:ln w="12700">
            <a:solidFill>
              <a:schemeClr val="accent2"/>
            </a:solidFill>
            <a:prstDash val="solid"/>
          </a:ln>
        </p:spPr>
      </p:sp>
      <p:sp>
        <p:nvSpPr>
          <p:cNvPr id="18" name="badge-text-129"/>
          <p:cNvSpPr txBox="1"/>
          <p:nvPr/>
        </p:nvSpPr>
        <p:spPr>
          <a:xfrm>
            <a:off x="777240" y="553212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9" name="text-130"/>
          <p:cNvSpPr txBox="1"/>
          <p:nvPr/>
        </p:nvSpPr>
        <p:spPr>
          <a:xfrm>
            <a:off x="1508760" y="5349240"/>
            <a:ext cx="9966960" cy="868680"/>
          </a:xfrm>
          <a:prstGeom prst="rect">
            <a:avLst/>
          </a:prstGeom>
          <a:noFill/>
          <a:ln/>
        </p:spPr>
        <p:txBody>
          <a:bodyPr wrap="square" lIns="0" tIns="0" rIns="0" bIns="0" rtlCol="0" anchor="ctr"/>
          <a:lstStyle/>
          <a:p>
            <a:pPr indent="0" marL="0">
              <a:buNone/>
            </a:pPr>
            <a:r>
              <a:rPr lang="en-US" sz="1600" b="1" dirty="0">
                <a:solidFill>
                  <a:schemeClr val="bg1"/>
                </a:solidFill>
              </a:rPr>
              <a:t>Choose it when:  </a:t>
            </a:r>
            <a:pPr indent="0" marL="0">
              <a:buNone/>
            </a:pPr>
            <a:r>
              <a:rPr lang="en-US" sz="1600" dirty="0">
                <a:solidFill>
                  <a:schemeClr val="bg1"/>
                </a:solidFill>
              </a:rPr>
              <a:t>a tiny team must build basic screens fast and someone is strong in SQL.</a:t>
            </a:r>
            <a:endParaRPr lang="en-US" sz="1600" dirty="0"/>
          </a:p>
        </p:txBody>
      </p:sp>
      <p:sp>
        <p:nvSpPr>
          <p:cNvPr id="25" name="Slide Number Placeholder 0"/>
          <p:cNvSpPr>
            <a:spLocks noGrp="1"/>
          </p:cNvSpPr>
          <p:nvPr>
            <p:ph type="sldNum" sz="quarter" idx="4294967295"/>
          </p:nvPr>
        </p:nvSpPr>
        <p:spPr>
          <a:xfrm>
            <a:off x="11247120" y="6400800"/>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64240" cy="64008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Option D — Serverless and event-driven on AWS</a:t>
            </a:r>
            <a:endParaRPr lang="en-US" sz="2800" dirty="0"/>
          </a:p>
        </p:txBody>
      </p:sp>
      <p:pic>
        <p:nvPicPr>
          <p:cNvPr id="3" name="diagram-131" descr="Option D — Serverless and event-driven on AWS">    </p:cNvPr>
          <p:cNvPicPr>
            <a:picLocks noChangeAspect="1"/>
          </p:cNvPicPr>
          <p:nvPr/>
        </p:nvPicPr>
        <p:blipFill>
          <a:blip r:embed="rId1"/>
          <a:stretch>
            <a:fillRect/>
          </a:stretch>
        </p:blipFill>
        <p:spPr>
          <a:xfrm>
            <a:off x="934817" y="960120"/>
            <a:ext cx="10322061" cy="5257800"/>
          </a:xfrm>
          <a:prstGeom prst="rect">
            <a:avLst/>
          </a:prstGeom>
        </p:spPr>
      </p:pic>
      <p:sp>
        <p:nvSpPr>
          <p:cNvPr id="4" name="text-132"/>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100" i="1" dirty="0">
                <a:solidFill>
                  <a:srgbClr val="6B6478"/>
                </a:solidFill>
              </a:rPr>
              <a:t>Steps 1–8: CloudFront → Cognito → API Gateway → Lambda → RDS Proxy → event → EventBridge → Notify Lambda → SES</a:t>
            </a:r>
            <a:endParaRPr lang="en-US" sz="1100" dirty="0"/>
          </a:p>
        </p:txBody>
      </p:sp>
      <p:sp>
        <p:nvSpPr>
          <p:cNvPr id="25" name="Slide Number Placeholder 0"/>
          <p:cNvSpPr>
            <a:spLocks noGrp="1"/>
          </p:cNvSpPr>
          <p:nvPr>
            <p:ph type="sldNum" sz="quarter" idx="4294967295"/>
          </p:nvPr>
        </p:nvSpPr>
        <p:spPr>
          <a:xfrm>
            <a:off x="11247120" y="6400800"/>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Option D: scales furthest, costs the most effort</a:t>
            </a:r>
            <a:endParaRPr lang="en-US" sz="3200" dirty="0"/>
          </a:p>
        </p:txBody>
      </p:sp>
      <p:sp>
        <p:nvSpPr>
          <p:cNvPr id="3" name="badge-133"/>
          <p:cNvSpPr/>
          <p:nvPr/>
        </p:nvSpPr>
        <p:spPr>
          <a:xfrm>
            <a:off x="548640" y="1325880"/>
            <a:ext cx="457200" cy="457200"/>
          </a:xfrm>
          <a:prstGeom prst="ellipse">
            <a:avLst/>
          </a:prstGeom>
          <a:solidFill>
            <a:schemeClr val="accent3"/>
          </a:solidFill>
          <a:ln w="12700">
            <a:solidFill>
              <a:schemeClr val="accent3"/>
            </a:solidFill>
            <a:prstDash val="solid"/>
          </a:ln>
        </p:spPr>
      </p:sp>
      <p:sp>
        <p:nvSpPr>
          <p:cNvPr id="4" name="badge-text-134"/>
          <p:cNvSpPr txBox="1"/>
          <p:nvPr/>
        </p:nvSpPr>
        <p:spPr>
          <a:xfrm>
            <a:off x="548640" y="1325880"/>
            <a:ext cx="457200" cy="457200"/>
          </a:xfrm>
          <a:prstGeom prst="rect">
            <a:avLst/>
          </a:prstGeom>
          <a:noFill/>
          <a:ln/>
        </p:spPr>
        <p:txBody>
          <a:bodyPr wrap="square" lIns="0" tIns="0" rIns="0" bIns="0" rtlCol="0" anchor="ctr"/>
          <a:lstStyle/>
          <a:p>
            <a:pPr algn="ctr" indent="0" marL="0">
              <a:buNone/>
            </a:pPr>
            <a:r>
              <a:rPr lang="en-US" sz="2200" b="1" dirty="0">
                <a:solidFill>
                  <a:schemeClr val="bg1"/>
                </a:solidFill>
              </a:rPr>
              <a:t>+</a:t>
            </a:r>
            <a:endParaRPr lang="en-US" sz="2200" dirty="0"/>
          </a:p>
        </p:txBody>
      </p:sp>
      <p:sp>
        <p:nvSpPr>
          <p:cNvPr id="5" name="text-135"/>
          <p:cNvSpPr txBox="1"/>
          <p:nvPr/>
        </p:nvSpPr>
        <p:spPr>
          <a:xfrm>
            <a:off x="1143000" y="1325880"/>
            <a:ext cx="3108960" cy="457200"/>
          </a:xfrm>
          <a:prstGeom prst="rect">
            <a:avLst/>
          </a:prstGeom>
          <a:noFill/>
          <a:ln/>
        </p:spPr>
        <p:txBody>
          <a:bodyPr wrap="square" lIns="0" tIns="0" rIns="0" bIns="0" rtlCol="0" anchor="ctr"/>
          <a:lstStyle/>
          <a:p>
            <a:pPr indent="0" marL="0">
              <a:buNone/>
            </a:pPr>
            <a:r>
              <a:rPr lang="en-US" sz="2000" b="1" dirty="0">
                <a:solidFill>
                  <a:schemeClr val="tx2"/>
                </a:solidFill>
              </a:rPr>
              <a:t>Strengths</a:t>
            </a:r>
            <a:endParaRPr lang="en-US" sz="2000" dirty="0"/>
          </a:p>
        </p:txBody>
      </p:sp>
      <p:sp>
        <p:nvSpPr>
          <p:cNvPr id="6" name="text-136"/>
          <p:cNvSpPr txBox="1"/>
          <p:nvPr/>
        </p:nvSpPr>
        <p:spPr>
          <a:xfrm>
            <a:off x="548640" y="1965960"/>
            <a:ext cx="3657600" cy="310896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chemeClr val="tx1"/>
                </a:solidFill>
              </a:rPr>
              <a:t>No servers to patch</a:t>
            </a:r>
            <a:endParaRPr lang="en-US" sz="1600" dirty="0"/>
          </a:p>
          <a:p>
            <a:pPr marL="228600" indent="-228600">
              <a:spcAft>
                <a:spcPts val="600"/>
              </a:spcAft>
              <a:buSzPct val="100000"/>
              <a:buChar char="•"/>
            </a:pPr>
            <a:r>
              <a:rPr lang="en-US" sz="1600" dirty="0">
                <a:solidFill>
                  <a:schemeClr val="tx1"/>
                </a:solidFill>
              </a:rPr>
              <a:t>Built-in retries and scheduling</a:t>
            </a:r>
            <a:endParaRPr lang="en-US" sz="1600" dirty="0"/>
          </a:p>
          <a:p>
            <a:pPr marL="228600" indent="-228600">
              <a:spcAft>
                <a:spcPts val="600"/>
              </a:spcAft>
              <a:buSzPct val="100000"/>
              <a:buChar char="•"/>
            </a:pPr>
            <a:r>
              <a:rPr lang="en-US" sz="1600" dirty="0">
                <a:solidFill>
                  <a:schemeClr val="tx1"/>
                </a:solidFill>
              </a:rPr>
              <a:t>Strongest isolation: private database, per-function permissions</a:t>
            </a:r>
            <a:endParaRPr lang="en-US" sz="1600" dirty="0"/>
          </a:p>
          <a:p>
            <a:pPr marL="228600" indent="-228600">
              <a:spcAft>
                <a:spcPts val="600"/>
              </a:spcAft>
              <a:buSzPct val="100000"/>
              <a:buChar char="•"/>
            </a:pPr>
            <a:r>
              <a:rPr lang="en-US" sz="1600" dirty="0">
                <a:solidFill>
                  <a:schemeClr val="tx1"/>
                </a:solidFill>
              </a:rPr>
              <a:t>Great resume material for cloud roles</a:t>
            </a:r>
            <a:endParaRPr lang="en-US" sz="1600" dirty="0"/>
          </a:p>
        </p:txBody>
      </p:sp>
      <p:sp>
        <p:nvSpPr>
          <p:cNvPr id="7" name="badge-137"/>
          <p:cNvSpPr/>
          <p:nvPr/>
        </p:nvSpPr>
        <p:spPr>
          <a:xfrm>
            <a:off x="4434840" y="1325880"/>
            <a:ext cx="457200" cy="457200"/>
          </a:xfrm>
          <a:prstGeom prst="ellipse">
            <a:avLst/>
          </a:prstGeom>
          <a:solidFill>
            <a:schemeClr val="accent6"/>
          </a:solidFill>
          <a:ln w="12700">
            <a:solidFill>
              <a:schemeClr val="accent6"/>
            </a:solidFill>
            <a:prstDash val="solid"/>
          </a:ln>
        </p:spPr>
      </p:sp>
      <p:sp>
        <p:nvSpPr>
          <p:cNvPr id="8" name="badge-text-138"/>
          <p:cNvSpPr txBox="1"/>
          <p:nvPr/>
        </p:nvSpPr>
        <p:spPr>
          <a:xfrm>
            <a:off x="4434840" y="1325880"/>
            <a:ext cx="457200" cy="457200"/>
          </a:xfrm>
          <a:prstGeom prst="rect">
            <a:avLst/>
          </a:prstGeom>
          <a:noFill/>
          <a:ln/>
        </p:spPr>
        <p:txBody>
          <a:bodyPr wrap="square" lIns="0" tIns="0" rIns="0" bIns="0" rtlCol="0" anchor="ctr"/>
          <a:lstStyle/>
          <a:p>
            <a:pPr algn="ctr" indent="0" marL="0">
              <a:buNone/>
            </a:pPr>
            <a:r>
              <a:rPr lang="en-US" sz="2200" b="1" dirty="0">
                <a:solidFill>
                  <a:schemeClr val="bg1"/>
                </a:solidFill>
              </a:rPr>
              <a:t>−</a:t>
            </a:r>
            <a:endParaRPr lang="en-US" sz="2200" dirty="0"/>
          </a:p>
        </p:txBody>
      </p:sp>
      <p:sp>
        <p:nvSpPr>
          <p:cNvPr id="9" name="text-139"/>
          <p:cNvSpPr txBox="1"/>
          <p:nvPr/>
        </p:nvSpPr>
        <p:spPr>
          <a:xfrm>
            <a:off x="5029200" y="1325880"/>
            <a:ext cx="3108960" cy="457200"/>
          </a:xfrm>
          <a:prstGeom prst="rect">
            <a:avLst/>
          </a:prstGeom>
          <a:noFill/>
          <a:ln/>
        </p:spPr>
        <p:txBody>
          <a:bodyPr wrap="square" lIns="0" tIns="0" rIns="0" bIns="0" rtlCol="0" anchor="ctr"/>
          <a:lstStyle/>
          <a:p>
            <a:pPr indent="0" marL="0">
              <a:buNone/>
            </a:pPr>
            <a:r>
              <a:rPr lang="en-US" sz="2000" b="1" dirty="0">
                <a:solidFill>
                  <a:schemeClr val="tx2"/>
                </a:solidFill>
              </a:rPr>
              <a:t>Weaknesses</a:t>
            </a:r>
            <a:endParaRPr lang="en-US" sz="2000" dirty="0"/>
          </a:p>
        </p:txBody>
      </p:sp>
      <p:sp>
        <p:nvSpPr>
          <p:cNvPr id="10" name="text-140"/>
          <p:cNvSpPr txBox="1"/>
          <p:nvPr/>
        </p:nvSpPr>
        <p:spPr>
          <a:xfrm>
            <a:off x="4434840" y="1965960"/>
            <a:ext cx="3657600" cy="310896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chemeClr val="tx1"/>
                </a:solidFill>
              </a:rPr>
              <a:t>About 12 managed services to learn in six weeks</a:t>
            </a:r>
            <a:endParaRPr lang="en-US" sz="1600" dirty="0"/>
          </a:p>
          <a:p>
            <a:pPr marL="228600" indent="-228600">
              <a:spcAft>
                <a:spcPts val="600"/>
              </a:spcAft>
              <a:buSzPct val="100000"/>
              <a:buChar char="•"/>
            </a:pPr>
            <a:r>
              <a:rPr lang="en-US" sz="1600" dirty="0">
                <a:solidFill>
                  <a:schemeClr val="tx1"/>
                </a:solidFill>
              </a:rPr>
              <a:t>Hard to run locally; debugging spans many logs</a:t>
            </a:r>
            <a:endParaRPr lang="en-US" sz="1600" dirty="0"/>
          </a:p>
          <a:p>
            <a:pPr marL="228600" indent="-228600">
              <a:spcAft>
                <a:spcPts val="600"/>
              </a:spcAft>
              <a:buSzPct val="100000"/>
              <a:buChar char="•"/>
            </a:pPr>
            <a:r>
              <a:rPr lang="en-US" sz="1600" dirty="0">
                <a:solidFill>
                  <a:schemeClr val="tx1"/>
                </a:solidFill>
              </a:rPr>
              <a:t>Easiest design to misconfigure</a:t>
            </a:r>
            <a:endParaRPr lang="en-US" sz="1600" dirty="0"/>
          </a:p>
          <a:p>
            <a:pPr marL="228600" indent="-228600">
              <a:spcAft>
                <a:spcPts val="600"/>
              </a:spcAft>
              <a:buSzPct val="100000"/>
              <a:buChar char="•"/>
            </a:pPr>
            <a:r>
              <a:rPr lang="en-US" sz="1600" dirty="0">
                <a:solidFill>
                  <a:schemeClr val="tx1"/>
                </a:solidFill>
              </a:rPr>
              <a:t>Cold starts slow the first call</a:t>
            </a:r>
            <a:endParaRPr lang="en-US" sz="1600" dirty="0"/>
          </a:p>
        </p:txBody>
      </p:sp>
      <p:sp>
        <p:nvSpPr>
          <p:cNvPr id="11" name="card-141"/>
          <p:cNvSpPr/>
          <p:nvPr/>
        </p:nvSpPr>
        <p:spPr>
          <a:xfrm>
            <a:off x="8366760" y="1280160"/>
            <a:ext cx="3273552" cy="3886200"/>
          </a:xfrm>
          <a:prstGeom prst="roundRect">
            <a:avLst>
              <a:gd name="adj" fmla="val 2235"/>
            </a:avLst>
          </a:prstGeom>
          <a:solidFill>
            <a:schemeClr val="bg2"/>
          </a:solidFill>
          <a:ln w="12700">
            <a:solidFill>
              <a:schemeClr val="bg2"/>
            </a:solidFill>
            <a:prstDash val="solid"/>
          </a:ln>
        </p:spPr>
      </p:sp>
      <p:sp>
        <p:nvSpPr>
          <p:cNvPr id="12" name="text-142"/>
          <p:cNvSpPr txBox="1"/>
          <p:nvPr/>
        </p:nvSpPr>
        <p:spPr>
          <a:xfrm>
            <a:off x="8595360" y="1463040"/>
            <a:ext cx="2834640" cy="320040"/>
          </a:xfrm>
          <a:prstGeom prst="rect">
            <a:avLst/>
          </a:prstGeom>
          <a:noFill/>
          <a:ln/>
        </p:spPr>
        <p:txBody>
          <a:bodyPr wrap="square" lIns="0" tIns="0" rIns="0" bIns="0" rtlCol="0" anchor="t"/>
          <a:lstStyle/>
          <a:p>
            <a:pPr indent="0" marL="0">
              <a:buNone/>
            </a:pPr>
            <a:r>
              <a:rPr lang="en-US" sz="1500" b="1" dirty="0">
                <a:solidFill>
                  <a:schemeClr val="accent1"/>
                </a:solidFill>
              </a:rPr>
              <a:t>Security</a:t>
            </a:r>
            <a:endParaRPr lang="en-US" sz="1500" dirty="0"/>
          </a:p>
        </p:txBody>
      </p:sp>
      <p:sp>
        <p:nvSpPr>
          <p:cNvPr id="13" name="text-143"/>
          <p:cNvSpPr txBox="1"/>
          <p:nvPr/>
        </p:nvSpPr>
        <p:spPr>
          <a:xfrm>
            <a:off x="8595360" y="1783080"/>
            <a:ext cx="2834640" cy="1005840"/>
          </a:xfrm>
          <a:prstGeom prst="rect">
            <a:avLst/>
          </a:prstGeom>
          <a:noFill/>
          <a:ln/>
        </p:spPr>
        <p:txBody>
          <a:bodyPr wrap="square" lIns="0" tIns="0" rIns="0" bIns="0" rtlCol="0" anchor="t"/>
          <a:lstStyle/>
          <a:p>
            <a:pPr indent="0" marL="0">
              <a:buNone/>
            </a:pPr>
            <a:r>
              <a:rPr lang="en-US" sz="1400" dirty="0">
                <a:solidFill>
                  <a:schemeClr val="tx1"/>
                </a:solidFill>
              </a:rPr>
              <a:t>Token checked before code runs; database in private subnets; secrets in Secrets Manager.</a:t>
            </a:r>
            <a:endParaRPr lang="en-US" sz="1400" dirty="0"/>
          </a:p>
        </p:txBody>
      </p:sp>
      <p:sp>
        <p:nvSpPr>
          <p:cNvPr id="14" name="text-144"/>
          <p:cNvSpPr txBox="1"/>
          <p:nvPr/>
        </p:nvSpPr>
        <p:spPr>
          <a:xfrm>
            <a:off x="8595360" y="2880360"/>
            <a:ext cx="2834640" cy="320040"/>
          </a:xfrm>
          <a:prstGeom prst="rect">
            <a:avLst/>
          </a:prstGeom>
          <a:noFill/>
          <a:ln/>
        </p:spPr>
        <p:txBody>
          <a:bodyPr wrap="square" lIns="0" tIns="0" rIns="0" bIns="0" rtlCol="0" anchor="t"/>
          <a:lstStyle/>
          <a:p>
            <a:pPr indent="0" marL="0">
              <a:buNone/>
            </a:pPr>
            <a:r>
              <a:rPr lang="en-US" sz="1500" b="1" dirty="0">
                <a:solidFill>
                  <a:schemeClr val="accent1"/>
                </a:solidFill>
              </a:rPr>
              <a:t>Cost and scale</a:t>
            </a:r>
            <a:endParaRPr lang="en-US" sz="1500" dirty="0"/>
          </a:p>
        </p:txBody>
      </p:sp>
      <p:sp>
        <p:nvSpPr>
          <p:cNvPr id="15" name="text-145"/>
          <p:cNvSpPr txBox="1"/>
          <p:nvPr/>
        </p:nvSpPr>
        <p:spPr>
          <a:xfrm>
            <a:off x="8595360" y="3200400"/>
            <a:ext cx="2834640" cy="1783080"/>
          </a:xfrm>
          <a:prstGeom prst="rect">
            <a:avLst/>
          </a:prstGeom>
          <a:noFill/>
          <a:ln/>
        </p:spPr>
        <p:txBody>
          <a:bodyPr wrap="square" lIns="0" tIns="0" rIns="0" bIns="0" rtlCol="0" anchor="t"/>
          <a:lstStyle/>
          <a:p>
            <a:pPr indent="0" marL="0">
              <a:buNone/>
            </a:pPr>
            <a:r>
              <a:rPr lang="en-US" sz="1400" dirty="0">
                <a:solidFill>
                  <a:schemeClr val="tx1"/>
                </a:solidFill>
              </a:rPr>
              <a:t>Conflicts with a $0 budget: RDS is free only in the first year, and Lambdas inside a private network need paid networking to reach the internet.</a:t>
            </a:r>
            <a:endParaRPr lang="en-US" sz="1400" dirty="0"/>
          </a:p>
        </p:txBody>
      </p:sp>
      <p:sp>
        <p:nvSpPr>
          <p:cNvPr id="16" name="card-146"/>
          <p:cNvSpPr/>
          <p:nvPr/>
        </p:nvSpPr>
        <p:spPr>
          <a:xfrm>
            <a:off x="548640" y="5349240"/>
            <a:ext cx="11091672" cy="868680"/>
          </a:xfrm>
          <a:prstGeom prst="roundRect">
            <a:avLst>
              <a:gd name="adj" fmla="val 8421"/>
            </a:avLst>
          </a:prstGeom>
          <a:solidFill>
            <a:schemeClr val="tx2"/>
          </a:solidFill>
          <a:ln w="12700">
            <a:solidFill>
              <a:schemeClr val="tx2"/>
            </a:solidFill>
            <a:prstDash val="solid"/>
          </a:ln>
        </p:spPr>
      </p:sp>
      <p:sp>
        <p:nvSpPr>
          <p:cNvPr id="17" name="badge-147"/>
          <p:cNvSpPr/>
          <p:nvPr/>
        </p:nvSpPr>
        <p:spPr>
          <a:xfrm>
            <a:off x="777240" y="5532120"/>
            <a:ext cx="502920" cy="502920"/>
          </a:xfrm>
          <a:prstGeom prst="ellipse">
            <a:avLst/>
          </a:prstGeom>
          <a:solidFill>
            <a:schemeClr val="accent2"/>
          </a:solidFill>
          <a:ln w="12700">
            <a:solidFill>
              <a:schemeClr val="accent2"/>
            </a:solidFill>
            <a:prstDash val="solid"/>
          </a:ln>
        </p:spPr>
      </p:sp>
      <p:sp>
        <p:nvSpPr>
          <p:cNvPr id="18" name="badge-text-148"/>
          <p:cNvSpPr txBox="1"/>
          <p:nvPr/>
        </p:nvSpPr>
        <p:spPr>
          <a:xfrm>
            <a:off x="777240" y="553212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9" name="text-149"/>
          <p:cNvSpPr txBox="1"/>
          <p:nvPr/>
        </p:nvSpPr>
        <p:spPr>
          <a:xfrm>
            <a:off x="1508760" y="5349240"/>
            <a:ext cx="9966960" cy="868680"/>
          </a:xfrm>
          <a:prstGeom prst="rect">
            <a:avLst/>
          </a:prstGeom>
          <a:noFill/>
          <a:ln/>
        </p:spPr>
        <p:txBody>
          <a:bodyPr wrap="square" lIns="0" tIns="0" rIns="0" bIns="0" rtlCol="0" anchor="ctr"/>
          <a:lstStyle/>
          <a:p>
            <a:pPr indent="0" marL="0">
              <a:buNone/>
            </a:pPr>
            <a:r>
              <a:rPr lang="en-US" sz="1600" b="1" dirty="0">
                <a:solidFill>
                  <a:schemeClr val="bg1"/>
                </a:solidFill>
              </a:rPr>
              <a:t>Choose it when:  </a:t>
            </a:r>
            <a:pPr indent="0" marL="0">
              <a:buNone/>
            </a:pPr>
            <a:r>
              <a:rPr lang="en-US" sz="1600" dirty="0">
                <a:solidFill>
                  <a:schemeClr val="bg1"/>
                </a:solidFill>
              </a:rPr>
              <a:t>many pantries share one system, traffic is spiky, the budget is real and someone already knows AWS.</a:t>
            </a:r>
            <a:endParaRPr lang="en-US" sz="1600" dirty="0"/>
          </a:p>
        </p:txBody>
      </p:sp>
      <p:sp>
        <p:nvSpPr>
          <p:cNvPr id="25" name="Slide Number Placeholder 0"/>
          <p:cNvSpPr>
            <a:spLocks noGrp="1"/>
          </p:cNvSpPr>
          <p:nvPr>
            <p:ph type="sldNum" sz="quarter" idx="4294967295"/>
          </p:nvPr>
        </p:nvSpPr>
        <p:spPr>
          <a:xfrm>
            <a:off x="11247120" y="6400800"/>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How the four options compare</a:t>
            </a:r>
            <a:endParaRPr lang="en-US" sz="3200" dirty="0"/>
          </a:p>
        </p:txBody>
      </p:sp>
      <p:graphicFrame>
        <p:nvGraphicFramePr>
          <p:cNvPr id="16" name="compare-150"/>
          <p:cNvGraphicFramePr>
            <a:graphicFrameLocks noGrp="1"/>
          </p:cNvGraphicFramePr>
          <p:nvPr>
            <p:extLst>
              <p:ext uri="{D42A27DB-BD31-4B8C-83A1-F6EECF244321}">
                <p14:modId xmlns:p14="http://schemas.microsoft.com/office/powerpoint/2010/main" val="1579011935"/>
              </p:ext>
            </p:extLst>
          </p:nvPr>
        </p:nvGraphicFramePr>
        <p:xfrm>
          <a:off x="548640" y="1234440"/>
          <a:ext cx="11091672" cy="914400"/>
        </p:xfrm>
        <a:graphic>
          <a:graphicData uri="http://schemas.openxmlformats.org/drawingml/2006/table">
            <a:tbl>
              <a:tblPr/>
              <a:tblGrid>
                <a:gridCol w="2514600"/>
                <a:gridCol w="2057400"/>
                <a:gridCol w="2194560"/>
                <a:gridCol w="2148840"/>
                <a:gridCol w="2176272"/>
              </a:tblGrid>
              <a:tr h="512064">
                <a:tc>
                  <a:txBody>
                    <a:bodyPr/>
                    <a:lstStyle/>
                    <a:p>
                      <a:pPr algn="ctr" indent="0" marL="0">
                        <a:buNone/>
                      </a:pPr>
                      <a:r>
                        <a:rPr lang="en-US" sz="1400" b="1" dirty="0">
                          <a:solidFill>
                            <a:schemeClr val="bg1"/>
                          </a:solidFill>
                        </a:rPr>
                        <a:t>Criterion</a:t>
                      </a:r>
                      <a:endParaRPr lang="en-US" sz="14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A  Django</a:t>
                      </a:r>
                      <a:endParaRPr lang="en-US" sz="14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tx1"/>
                          </a:solidFill>
                        </a:rPr>
                        <a:t>B  SPA + FastAPI</a:t>
                      </a:r>
                      <a:endParaRPr lang="en-US" sz="14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chemeClr val="accent2"/>
                    </a:solidFill>
                  </a:tcPr>
                </a:tc>
                <a:tc>
                  <a:txBody>
                    <a:bodyPr/>
                    <a:lstStyle/>
                    <a:p>
                      <a:pPr algn="ctr" indent="0" marL="0">
                        <a:buNone/>
                      </a:pPr>
                      <a:r>
                        <a:rPr lang="en-US" sz="1400" b="1" dirty="0">
                          <a:solidFill>
                            <a:schemeClr val="bg1"/>
                          </a:solidFill>
                        </a:rPr>
                        <a:t>C  Supabase</a:t>
                      </a:r>
                      <a:endParaRPr lang="en-US" sz="14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D  AWS serverless</a:t>
                      </a:r>
                      <a:endParaRPr lang="en-US" sz="14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chemeClr val="tx2"/>
                    </a:solidFill>
                  </a:tcPr>
                </a:tc>
              </a:tr>
              <a:tr h="512064">
                <a:tc>
                  <a:txBody>
                    <a:bodyPr/>
                    <a:lstStyle/>
                    <a:p>
                      <a:pPr algn="l" indent="0" marL="0">
                        <a:buNone/>
                      </a:pPr>
                      <a:r>
                        <a:rPr lang="en-US" sz="1300" b="1" dirty="0">
                          <a:solidFill>
                            <a:schemeClr val="tx1"/>
                          </a:solidFill>
                        </a:rPr>
                        <a:t>Fit with proposal + H2 tools</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4F1F8"/>
                    </a:solidFill>
                  </a:tcPr>
                </a:tc>
                <a:tc>
                  <a:txBody>
                    <a:bodyPr/>
                    <a:lstStyle/>
                    <a:p>
                      <a:pPr algn="ctr" indent="0" marL="0">
                        <a:buNone/>
                      </a:pPr>
                      <a:r>
                        <a:rPr lang="en-US" sz="1300" dirty="0">
                          <a:solidFill>
                            <a:schemeClr val="tx1"/>
                          </a:solidFill>
                        </a:rPr>
                        <a:t>Good; weak API testing</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4F1F8"/>
                    </a:solidFill>
                  </a:tcPr>
                </a:tc>
                <a:tc>
                  <a:txBody>
                    <a:bodyPr/>
                    <a:lstStyle/>
                    <a:p>
                      <a:pPr algn="ctr" indent="0" marL="0">
                        <a:buNone/>
                      </a:pPr>
                      <a:r>
                        <a:rPr lang="en-US" sz="1300" b="1" dirty="0">
                          <a:solidFill>
                            <a:schemeClr val="tx1"/>
                          </a:solidFill>
                        </a:rPr>
                        <a:t>Best; uses every tool</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BEFD3"/>
                    </a:solidFill>
                  </a:tcPr>
                </a:tc>
                <a:tc>
                  <a:txBody>
                    <a:bodyPr/>
                    <a:lstStyle/>
                    <a:p>
                      <a:pPr algn="ctr" indent="0" marL="0">
                        <a:buNone/>
                      </a:pPr>
                      <a:r>
                        <a:rPr lang="en-US" sz="1300" dirty="0">
                          <a:solidFill>
                            <a:schemeClr val="tx1"/>
                          </a:solidFill>
                        </a:rPr>
                        <a:t>Fair; Docker, API tests unused</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4F1F8"/>
                    </a:solidFill>
                  </a:tcPr>
                </a:tc>
                <a:tc>
                  <a:txBody>
                    <a:bodyPr/>
                    <a:lstStyle/>
                    <a:p>
                      <a:pPr algn="ctr" indent="0" marL="0">
                        <a:buNone/>
                      </a:pPr>
                      <a:r>
                        <a:rPr lang="en-US" sz="1300" dirty="0">
                          <a:solidFill>
                            <a:schemeClr val="tx1"/>
                          </a:solidFill>
                        </a:rPr>
                        <a:t>Fair; breaks $0 budget</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4F1F8"/>
                    </a:solidFill>
                  </a:tcPr>
                </a:tc>
              </a:tr>
              <a:tr h="512064">
                <a:tc>
                  <a:txBody>
                    <a:bodyPr/>
                    <a:lstStyle/>
                    <a:p>
                      <a:pPr algn="l" indent="0" marL="0">
                        <a:buNone/>
                      </a:pPr>
                      <a:r>
                        <a:rPr lang="en-US" sz="1300" b="1" dirty="0">
                          <a:solidFill>
                            <a:schemeClr val="tx1"/>
                          </a:solidFill>
                        </a:rPr>
                        <a:t>Implementation complexity</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Lowest</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FFFFF"/>
                    </a:solidFill>
                  </a:tcPr>
                </a:tc>
                <a:tc>
                  <a:txBody>
                    <a:bodyPr/>
                    <a:lstStyle/>
                    <a:p>
                      <a:pPr algn="ctr" indent="0" marL="0">
                        <a:buNone/>
                      </a:pPr>
                      <a:r>
                        <a:rPr lang="en-US" sz="1300" b="1" dirty="0">
                          <a:solidFill>
                            <a:schemeClr val="tx1"/>
                          </a:solidFill>
                        </a:rPr>
                        <a:t>Medium</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BEFD3"/>
                    </a:solidFill>
                  </a:tcPr>
                </a:tc>
                <a:tc>
                  <a:txBody>
                    <a:bodyPr/>
                    <a:lstStyle/>
                    <a:p>
                      <a:pPr algn="ctr" indent="0" marL="0">
                        <a:buNone/>
                      </a:pPr>
                      <a:r>
                        <a:rPr lang="en-US" sz="1300" dirty="0">
                          <a:solidFill>
                            <a:schemeClr val="tx1"/>
                          </a:solidFill>
                        </a:rPr>
                        <a:t>Low CRUD, hard policies</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Highest (~12 services)</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FFFFF"/>
                    </a:solidFill>
                  </a:tcPr>
                </a:tc>
              </a:tr>
              <a:tr h="512064">
                <a:tc>
                  <a:txBody>
                    <a:bodyPr/>
                    <a:lstStyle/>
                    <a:p>
                      <a:pPr algn="l" indent="0" marL="0">
                        <a:buNone/>
                      </a:pPr>
                      <a:r>
                        <a:rPr lang="en-US" sz="1300" b="1" dirty="0">
                          <a:solidFill>
                            <a:schemeClr val="tx1"/>
                          </a:solidFill>
                        </a:rPr>
                        <a:t>Cost drivers</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4F1F8"/>
                    </a:solidFill>
                  </a:tcPr>
                </a:tc>
                <a:tc>
                  <a:txBody>
                    <a:bodyPr/>
                    <a:lstStyle/>
                    <a:p>
                      <a:pPr algn="ctr" indent="0" marL="0">
                        <a:buNone/>
                      </a:pPr>
                      <a:r>
                        <a:rPr lang="en-US" sz="1300" dirty="0">
                          <a:solidFill>
                            <a:schemeClr val="tx1"/>
                          </a:solidFill>
                        </a:rPr>
                        <a:t>1 web service + 1 DB</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4F1F8"/>
                    </a:solidFill>
                  </a:tcPr>
                </a:tc>
                <a:tc>
                  <a:txBody>
                    <a:bodyPr/>
                    <a:lstStyle/>
                    <a:p>
                      <a:pPr algn="ctr" indent="0" marL="0">
                        <a:buNone/>
                      </a:pPr>
                      <a:r>
                        <a:rPr lang="en-US" sz="1300" b="1" dirty="0">
                          <a:solidFill>
                            <a:schemeClr val="tx1"/>
                          </a:solidFill>
                        </a:rPr>
                        <a:t>Same as A</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BEFD3"/>
                    </a:solidFill>
                  </a:tcPr>
                </a:tc>
                <a:tc>
                  <a:txBody>
                    <a:bodyPr/>
                    <a:lstStyle/>
                    <a:p>
                      <a:pPr algn="ctr" indent="0" marL="0">
                        <a:buNone/>
                      </a:pPr>
                      <a:r>
                        <a:rPr lang="en-US" sz="1300" dirty="0">
                          <a:solidFill>
                            <a:schemeClr val="tx1"/>
                          </a:solidFill>
                        </a:rPr>
                        <a:t>Paid plan past free tier</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4F1F8"/>
                    </a:solidFill>
                  </a:tcPr>
                </a:tc>
                <a:tc>
                  <a:txBody>
                    <a:bodyPr/>
                    <a:lstStyle/>
                    <a:p>
                      <a:pPr algn="ctr" indent="0" marL="0">
                        <a:buNone/>
                      </a:pPr>
                      <a:r>
                        <a:rPr lang="en-US" sz="1300" dirty="0">
                          <a:solidFill>
                            <a:schemeClr val="tx1"/>
                          </a:solidFill>
                        </a:rPr>
                        <a:t>Database, networking, requests</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4F1F8"/>
                    </a:solidFill>
                  </a:tcPr>
                </a:tc>
              </a:tr>
              <a:tr h="512064">
                <a:tc>
                  <a:txBody>
                    <a:bodyPr/>
                    <a:lstStyle/>
                    <a:p>
                      <a:pPr algn="l" indent="0" marL="0">
                        <a:buNone/>
                      </a:pPr>
                      <a:r>
                        <a:rPr lang="en-US" sz="1300" b="1" dirty="0">
                          <a:solidFill>
                            <a:schemeClr val="tx1"/>
                          </a:solidFill>
                        </a:rPr>
                        <a:t>Scalability</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Campus-level; add copies</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FFFFF"/>
                    </a:solidFill>
                  </a:tcPr>
                </a:tc>
                <a:tc>
                  <a:txBody>
                    <a:bodyPr/>
                    <a:lstStyle/>
                    <a:p>
                      <a:pPr algn="ctr" indent="0" marL="0">
                        <a:buNone/>
                      </a:pPr>
                      <a:r>
                        <a:rPr lang="en-US" sz="1300" b="1" dirty="0">
                          <a:solidFill>
                            <a:schemeClr val="tx1"/>
                          </a:solidFill>
                        </a:rPr>
                        <a:t>Same as A</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BEFD3"/>
                    </a:solidFill>
                  </a:tcPr>
                </a:tc>
                <a:tc>
                  <a:txBody>
                    <a:bodyPr/>
                    <a:lstStyle/>
                    <a:p>
                      <a:pPr algn="ctr" indent="0" marL="0">
                        <a:buNone/>
                      </a:pPr>
                      <a:r>
                        <a:rPr lang="en-US" sz="1300" dirty="0">
                          <a:solidFill>
                            <a:schemeClr val="tx1"/>
                          </a:solidFill>
                        </a:rPr>
                        <a:t>Vendor scales; plan limits</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Highest</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FFFFF"/>
                    </a:solidFill>
                  </a:tcPr>
                </a:tc>
              </a:tr>
              <a:tr h="512064">
                <a:tc>
                  <a:txBody>
                    <a:bodyPr/>
                    <a:lstStyle/>
                    <a:p>
                      <a:pPr algn="l" indent="0" marL="0">
                        <a:buNone/>
                      </a:pPr>
                      <a:r>
                        <a:rPr lang="en-US" sz="1300" b="1" dirty="0">
                          <a:solidFill>
                            <a:schemeClr val="tx1"/>
                          </a:solidFill>
                        </a:rPr>
                        <a:t>Reliability</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4F1F8"/>
                    </a:solidFill>
                  </a:tcPr>
                </a:tc>
                <a:tc>
                  <a:txBody>
                    <a:bodyPr/>
                    <a:lstStyle/>
                    <a:p>
                      <a:pPr algn="ctr" indent="0" marL="0">
                        <a:buNone/>
                      </a:pPr>
                      <a:r>
                        <a:rPr lang="en-US" sz="1300" dirty="0">
                          <a:solidFill>
                            <a:schemeClr val="tx1"/>
                          </a:solidFill>
                        </a:rPr>
                        <a:t>1 container; auto-restart</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4F1F8"/>
                    </a:solidFill>
                  </a:tcPr>
                </a:tc>
                <a:tc>
                  <a:txBody>
                    <a:bodyPr/>
                    <a:lstStyle/>
                    <a:p>
                      <a:pPr algn="ctr" indent="0" marL="0">
                        <a:buNone/>
                      </a:pPr>
                      <a:r>
                        <a:rPr lang="en-US" sz="1300" b="1" dirty="0">
                          <a:solidFill>
                            <a:schemeClr val="tx1"/>
                          </a:solidFill>
                        </a:rPr>
                        <a:t>Same as A</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BEFD3"/>
                    </a:solidFill>
                  </a:tcPr>
                </a:tc>
                <a:tc>
                  <a:txBody>
                    <a:bodyPr/>
                    <a:lstStyle/>
                    <a:p>
                      <a:pPr algn="ctr" indent="0" marL="0">
                        <a:buNone/>
                      </a:pPr>
                      <a:r>
                        <a:rPr lang="en-US" sz="1300" dirty="0">
                          <a:solidFill>
                            <a:schemeClr val="tx1"/>
                          </a:solidFill>
                        </a:rPr>
                        <a:t>Vendor-run; free tier pauses</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4F1F8"/>
                    </a:solidFill>
                  </a:tcPr>
                </a:tc>
                <a:tc>
                  <a:txBody>
                    <a:bodyPr/>
                    <a:lstStyle/>
                    <a:p>
                      <a:pPr algn="ctr" indent="0" marL="0">
                        <a:buNone/>
                      </a:pPr>
                      <a:r>
                        <a:rPr lang="en-US" sz="1300" dirty="0">
                          <a:solidFill>
                            <a:schemeClr val="tx1"/>
                          </a:solidFill>
                        </a:rPr>
                        <a:t>Managed + retries; many parts</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4F1F8"/>
                    </a:solidFill>
                  </a:tcPr>
                </a:tc>
              </a:tr>
              <a:tr h="512064">
                <a:tc>
                  <a:txBody>
                    <a:bodyPr/>
                    <a:lstStyle/>
                    <a:p>
                      <a:pPr algn="l" indent="0" marL="0">
                        <a:buNone/>
                      </a:pPr>
                      <a:r>
                        <a:rPr lang="en-US" sz="1300" b="1" dirty="0">
                          <a:solidFill>
                            <a:schemeClr val="tx1"/>
                          </a:solidFill>
                        </a:rPr>
                        <a:t>Security</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Strong defaults</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FFFFF"/>
                    </a:solidFill>
                  </a:tcPr>
                </a:tc>
                <a:tc>
                  <a:txBody>
                    <a:bodyPr/>
                    <a:lstStyle/>
                    <a:p>
                      <a:pPr algn="ctr" indent="0" marL="0">
                        <a:buNone/>
                      </a:pPr>
                      <a:r>
                        <a:rPr lang="en-US" sz="1300" b="1" dirty="0">
                          <a:solidFill>
                            <a:schemeClr val="tx1"/>
                          </a:solidFill>
                        </a:rPr>
                        <a:t>Strong with role tests</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BEFD3"/>
                    </a:solidFill>
                  </a:tcPr>
                </a:tc>
                <a:tc>
                  <a:txBody>
                    <a:bodyPr/>
                    <a:lstStyle/>
                    <a:p>
                      <a:pPr algn="ctr" indent="0" marL="0">
                        <a:buNone/>
                      </a:pPr>
                      <a:r>
                        <a:rPr lang="en-US" sz="1300" dirty="0">
                          <a:solidFill>
                            <a:schemeClr val="tx1"/>
                          </a:solidFill>
                        </a:rPr>
                        <a:t>Only as good as policies</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Strongest; easy to misconfigure</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FFFFF"/>
                    </a:solidFill>
                  </a:tcPr>
                </a:tc>
              </a:tr>
              <a:tr h="512064">
                <a:tc>
                  <a:txBody>
                    <a:bodyPr/>
                    <a:lstStyle/>
                    <a:p>
                      <a:pPr algn="l" indent="0" marL="0">
                        <a:buNone/>
                      </a:pPr>
                      <a:r>
                        <a:rPr lang="en-US" sz="1300" b="1" dirty="0">
                          <a:solidFill>
                            <a:schemeClr val="tx1"/>
                          </a:solidFill>
                        </a:rPr>
                        <a:t>Maintainability</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4F1F8"/>
                    </a:solidFill>
                  </a:tcPr>
                </a:tc>
                <a:tc>
                  <a:txBody>
                    <a:bodyPr/>
                    <a:lstStyle/>
                    <a:p>
                      <a:pPr algn="ctr" indent="0" marL="0">
                        <a:buNone/>
                      </a:pPr>
                      <a:r>
                        <a:rPr lang="en-US" sz="1300" dirty="0">
                          <a:solidFill>
                            <a:schemeClr val="tx1"/>
                          </a:solidFill>
                        </a:rPr>
                        <a:t>High</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4F1F8"/>
                    </a:solidFill>
                  </a:tcPr>
                </a:tc>
                <a:tc>
                  <a:txBody>
                    <a:bodyPr/>
                    <a:lstStyle/>
                    <a:p>
                      <a:pPr algn="ctr" indent="0" marL="0">
                        <a:buNone/>
                      </a:pPr>
                      <a:r>
                        <a:rPr lang="en-US" sz="1300" b="1" dirty="0">
                          <a:solidFill>
                            <a:schemeClr val="tx1"/>
                          </a:solidFill>
                        </a:rPr>
                        <a:t>High; clear modules</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BEFD3"/>
                    </a:solidFill>
                  </a:tcPr>
                </a:tc>
                <a:tc>
                  <a:txBody>
                    <a:bodyPr/>
                    <a:lstStyle/>
                    <a:p>
                      <a:pPr algn="ctr" indent="0" marL="0">
                        <a:buNone/>
                      </a:pPr>
                      <a:r>
                        <a:rPr lang="en-US" sz="1300" dirty="0">
                          <a:solidFill>
                            <a:schemeClr val="tx1"/>
                          </a:solidFill>
                        </a:rPr>
                        <a:t>Medium; logic split</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4F1F8"/>
                    </a:solidFill>
                  </a:tcPr>
                </a:tc>
                <a:tc>
                  <a:txBody>
                    <a:bodyPr/>
                    <a:lstStyle/>
                    <a:p>
                      <a:pPr algn="ctr" indent="0" marL="0">
                        <a:buNone/>
                      </a:pPr>
                      <a:r>
                        <a:rPr lang="en-US" sz="1300" dirty="0">
                          <a:solidFill>
                            <a:schemeClr val="tx1"/>
                          </a:solidFill>
                        </a:rPr>
                        <a:t>Low for this team</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4F1F8"/>
                    </a:solidFill>
                  </a:tcPr>
                </a:tc>
              </a:tr>
              <a:tr h="512064">
                <a:tc>
                  <a:txBody>
                    <a:bodyPr/>
                    <a:lstStyle/>
                    <a:p>
                      <a:pPr algn="l" indent="0" marL="0">
                        <a:buNone/>
                      </a:pPr>
                      <a:r>
                        <a:rPr lang="en-US" sz="1300" b="1" dirty="0">
                          <a:solidFill>
                            <a:schemeClr val="tx1"/>
                          </a:solidFill>
                        </a:rPr>
                        <a:t>Beginner feasibility</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High</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FFFFF"/>
                    </a:solidFill>
                  </a:tcPr>
                </a:tc>
                <a:tc>
                  <a:txBody>
                    <a:bodyPr/>
                    <a:lstStyle/>
                    <a:p>
                      <a:pPr algn="ctr" indent="0" marL="0">
                        <a:buNone/>
                      </a:pPr>
                      <a:r>
                        <a:rPr lang="en-US" sz="1300" b="1" dirty="0">
                          <a:solidFill>
                            <a:schemeClr val="tx1"/>
                          </a:solidFill>
                        </a:rPr>
                        <a:t>High</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BEFD3"/>
                    </a:solidFill>
                  </a:tcPr>
                </a:tc>
                <a:tc>
                  <a:txBody>
                    <a:bodyPr/>
                    <a:lstStyle/>
                    <a:p>
                      <a:pPr algn="ctr" indent="0" marL="0">
                        <a:buNone/>
                      </a:pPr>
                      <a:r>
                        <a:rPr lang="en-US" sz="1300" dirty="0">
                          <a:solidFill>
                            <a:schemeClr val="tx1"/>
                          </a:solidFill>
                        </a:rPr>
                        <a:t>Medium</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Low</a:t>
                      </a:r>
                      <a:endParaRPr lang="en-US" sz="1300" dirty="0"/>
                    </a:p>
                  </a:txBody>
                  <a:tcPr marL="76200" marR="76200" marT="38100" marB="381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FFFFF"/>
                    </a:solidFill>
                  </a:tcPr>
                </a:tc>
              </a:tr>
            </a:tbl>
          </a:graphicData>
        </a:graphic>
      </p:graphicFrame>
      <p:sp>
        <p:nvSpPr>
          <p:cNvPr id="4" name="text-151"/>
          <p:cNvSpPr txBox="1"/>
          <p:nvPr/>
        </p:nvSpPr>
        <p:spPr>
          <a:xfrm>
            <a:off x="548640" y="5989320"/>
            <a:ext cx="11064240" cy="320040"/>
          </a:xfrm>
          <a:prstGeom prst="rect">
            <a:avLst/>
          </a:prstGeom>
          <a:noFill/>
          <a:ln/>
        </p:spPr>
        <p:txBody>
          <a:bodyPr wrap="square" lIns="0" tIns="0" rIns="0" bIns="0" rtlCol="0" anchor="t"/>
          <a:lstStyle/>
          <a:p>
            <a:pPr indent="0" marL="0">
              <a:buNone/>
            </a:pPr>
            <a:r>
              <a:rPr lang="en-US" sz="1200" i="1" dirty="0">
                <a:solidFill>
                  <a:srgbClr val="6B6478"/>
                </a:solidFill>
              </a:rPr>
              <a:t>Ratings are team judgments with the reason stated, not measured scores.</a:t>
            </a:r>
            <a:endParaRPr lang="en-US" sz="1200" dirty="0"/>
          </a:p>
        </p:txBody>
      </p:sp>
      <p:sp>
        <p:nvSpPr>
          <p:cNvPr id="25" name="Slide Number Placeholder 0"/>
          <p:cNvSpPr>
            <a:spLocks noGrp="1"/>
          </p:cNvSpPr>
          <p:nvPr>
            <p:ph type="sldNum" sz="quarter" idx="4294967295"/>
          </p:nvPr>
        </p:nvSpPr>
        <p:spPr>
          <a:xfrm>
            <a:off x="11247120" y="6400800"/>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When we would switch to another option</a:t>
            </a:r>
            <a:endParaRPr lang="en-US" sz="3200" dirty="0"/>
          </a:p>
        </p:txBody>
      </p:sp>
      <p:sp>
        <p:nvSpPr>
          <p:cNvPr id="3" name="text-152"/>
          <p:cNvSpPr txBox="1"/>
          <p:nvPr/>
        </p:nvSpPr>
        <p:spPr>
          <a:xfrm>
            <a:off x="548640" y="1097280"/>
            <a:ext cx="11064240" cy="457200"/>
          </a:xfrm>
          <a:prstGeom prst="rect">
            <a:avLst/>
          </a:prstGeom>
          <a:noFill/>
          <a:ln/>
        </p:spPr>
        <p:txBody>
          <a:bodyPr wrap="square" lIns="0" tIns="0" rIns="0" bIns="0" rtlCol="0" anchor="t"/>
          <a:lstStyle/>
          <a:p>
            <a:pPr indent="0" marL="0">
              <a:buNone/>
            </a:pPr>
            <a:r>
              <a:rPr lang="en-US" sz="1800" dirty="0">
                <a:solidFill>
                  <a:srgbClr val="4A4458"/>
                </a:solidFill>
              </a:rPr>
              <a:t>Option B is the right design for one pantry and six weeks. These triggers would change that.</a:t>
            </a:r>
            <a:endParaRPr lang="en-US" sz="1800" dirty="0"/>
          </a:p>
        </p:txBody>
      </p:sp>
      <p:sp>
        <p:nvSpPr>
          <p:cNvPr id="4" name="card-153"/>
          <p:cNvSpPr/>
          <p:nvPr/>
        </p:nvSpPr>
        <p:spPr>
          <a:xfrm>
            <a:off x="548640" y="1783080"/>
            <a:ext cx="11091672" cy="914400"/>
          </a:xfrm>
          <a:prstGeom prst="roundRect">
            <a:avLst>
              <a:gd name="adj" fmla="val 8000"/>
            </a:avLst>
          </a:prstGeom>
          <a:solidFill>
            <a:schemeClr val="bg2"/>
          </a:solidFill>
          <a:ln w="12700">
            <a:solidFill>
              <a:schemeClr val="bg2"/>
            </a:solidFill>
            <a:prstDash val="solid"/>
          </a:ln>
        </p:spPr>
      </p:sp>
      <p:sp>
        <p:nvSpPr>
          <p:cNvPr id="5" name="badge-154"/>
          <p:cNvSpPr/>
          <p:nvPr/>
        </p:nvSpPr>
        <p:spPr>
          <a:xfrm>
            <a:off x="777240" y="1965960"/>
            <a:ext cx="548640" cy="548640"/>
          </a:xfrm>
          <a:prstGeom prst="ellipse">
            <a:avLst/>
          </a:prstGeom>
          <a:solidFill>
            <a:schemeClr val="accent2"/>
          </a:solidFill>
          <a:ln w="12700">
            <a:solidFill>
              <a:schemeClr val="accent2"/>
            </a:solidFill>
            <a:prstDash val="solid"/>
          </a:ln>
        </p:spPr>
      </p:sp>
      <p:sp>
        <p:nvSpPr>
          <p:cNvPr id="6" name="badge-text-155"/>
          <p:cNvSpPr txBox="1"/>
          <p:nvPr/>
        </p:nvSpPr>
        <p:spPr>
          <a:xfrm>
            <a:off x="777240" y="19659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text-156"/>
          <p:cNvSpPr txBox="1"/>
          <p:nvPr/>
        </p:nvSpPr>
        <p:spPr>
          <a:xfrm>
            <a:off x="1600200" y="1783080"/>
            <a:ext cx="3200400" cy="914400"/>
          </a:xfrm>
          <a:prstGeom prst="rect">
            <a:avLst/>
          </a:prstGeom>
          <a:noFill/>
          <a:ln/>
        </p:spPr>
        <p:txBody>
          <a:bodyPr wrap="square" lIns="0" tIns="0" rIns="0" bIns="0" rtlCol="0" anchor="ctr"/>
          <a:lstStyle/>
          <a:p>
            <a:pPr indent="0" marL="0">
              <a:buNone/>
            </a:pPr>
            <a:r>
              <a:rPr lang="en-US" sz="1800" b="1" dirty="0">
                <a:solidFill>
                  <a:schemeClr val="tx2"/>
                </a:solidFill>
              </a:rPr>
              <a:t>Fall back to Option A</a:t>
            </a:r>
            <a:endParaRPr lang="en-US" sz="1800" dirty="0"/>
          </a:p>
        </p:txBody>
      </p:sp>
      <p:sp>
        <p:nvSpPr>
          <p:cNvPr id="8" name="text-157"/>
          <p:cNvSpPr txBox="1"/>
          <p:nvPr/>
        </p:nvSpPr>
        <p:spPr>
          <a:xfrm>
            <a:off x="4846320" y="1783080"/>
            <a:ext cx="6583680" cy="914400"/>
          </a:xfrm>
          <a:prstGeom prst="rect">
            <a:avLst/>
          </a:prstGeom>
          <a:noFill/>
          <a:ln/>
        </p:spPr>
        <p:txBody>
          <a:bodyPr wrap="square" lIns="0" tIns="0" rIns="0" bIns="0" rtlCol="0" anchor="ctr"/>
          <a:lstStyle/>
          <a:p>
            <a:pPr indent="0" marL="0">
              <a:buNone/>
            </a:pPr>
            <a:r>
              <a:rPr lang="en-US" sz="1600" dirty="0">
                <a:solidFill>
                  <a:schemeClr val="tx1"/>
                </a:solidFill>
              </a:rPr>
              <a:t>If on Oct 29 one feature is not working end-to-end on the deployed site.</a:t>
            </a:r>
            <a:endParaRPr lang="en-US" sz="1600" dirty="0"/>
          </a:p>
        </p:txBody>
      </p:sp>
      <p:sp>
        <p:nvSpPr>
          <p:cNvPr id="9" name="card-158"/>
          <p:cNvSpPr/>
          <p:nvPr/>
        </p:nvSpPr>
        <p:spPr>
          <a:xfrm>
            <a:off x="548640" y="2862072"/>
            <a:ext cx="11091672" cy="914400"/>
          </a:xfrm>
          <a:prstGeom prst="roundRect">
            <a:avLst>
              <a:gd name="adj" fmla="val 8000"/>
            </a:avLst>
          </a:prstGeom>
          <a:solidFill>
            <a:schemeClr val="bg2"/>
          </a:solidFill>
          <a:ln w="12700">
            <a:solidFill>
              <a:schemeClr val="bg2"/>
            </a:solidFill>
            <a:prstDash val="solid"/>
          </a:ln>
        </p:spPr>
      </p:sp>
      <p:sp>
        <p:nvSpPr>
          <p:cNvPr id="10" name="badge-159"/>
          <p:cNvSpPr/>
          <p:nvPr/>
        </p:nvSpPr>
        <p:spPr>
          <a:xfrm>
            <a:off x="777240" y="3044952"/>
            <a:ext cx="548640" cy="548640"/>
          </a:xfrm>
          <a:prstGeom prst="ellipse">
            <a:avLst/>
          </a:prstGeom>
          <a:solidFill>
            <a:schemeClr val="accent1"/>
          </a:solidFill>
          <a:ln w="12700">
            <a:solidFill>
              <a:schemeClr val="accent1"/>
            </a:solidFill>
            <a:prstDash val="solid"/>
          </a:ln>
        </p:spPr>
      </p:sp>
      <p:sp>
        <p:nvSpPr>
          <p:cNvPr id="11" name="badge-text-160"/>
          <p:cNvSpPr txBox="1"/>
          <p:nvPr/>
        </p:nvSpPr>
        <p:spPr>
          <a:xfrm>
            <a:off x="777240" y="3044952"/>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2" name="text-161"/>
          <p:cNvSpPr txBox="1"/>
          <p:nvPr/>
        </p:nvSpPr>
        <p:spPr>
          <a:xfrm>
            <a:off x="1600200" y="2862072"/>
            <a:ext cx="3200400" cy="914400"/>
          </a:xfrm>
          <a:prstGeom prst="rect">
            <a:avLst/>
          </a:prstGeom>
          <a:noFill/>
          <a:ln/>
        </p:spPr>
        <p:txBody>
          <a:bodyPr wrap="square" lIns="0" tIns="0" rIns="0" bIns="0" rtlCol="0" anchor="ctr"/>
          <a:lstStyle/>
          <a:p>
            <a:pPr indent="0" marL="0">
              <a:buNone/>
            </a:pPr>
            <a:r>
              <a:rPr lang="en-US" sz="1800" b="1" dirty="0">
                <a:solidFill>
                  <a:schemeClr val="tx2"/>
                </a:solidFill>
              </a:rPr>
              <a:t>Move to Option C</a:t>
            </a:r>
            <a:endParaRPr lang="en-US" sz="1800" dirty="0"/>
          </a:p>
        </p:txBody>
      </p:sp>
      <p:sp>
        <p:nvSpPr>
          <p:cNvPr id="13" name="text-162"/>
          <p:cNvSpPr txBox="1"/>
          <p:nvPr/>
        </p:nvSpPr>
        <p:spPr>
          <a:xfrm>
            <a:off x="4846320" y="2862072"/>
            <a:ext cx="6583680" cy="914400"/>
          </a:xfrm>
          <a:prstGeom prst="rect">
            <a:avLst/>
          </a:prstGeom>
          <a:noFill/>
          <a:ln/>
        </p:spPr>
        <p:txBody>
          <a:bodyPr wrap="square" lIns="0" tIns="0" rIns="0" bIns="0" rtlCol="0" anchor="ctr"/>
          <a:lstStyle/>
          <a:p>
            <a:pPr indent="0" marL="0">
              <a:buNone/>
            </a:pPr>
            <a:r>
              <a:rPr lang="en-US" sz="1600" dirty="0">
                <a:solidFill>
                  <a:schemeClr val="tx1"/>
                </a:solidFill>
              </a:rPr>
              <a:t>If the pantry wants a phone-first app quickly and no one will maintain a server.</a:t>
            </a:r>
            <a:endParaRPr lang="en-US" sz="1600" dirty="0"/>
          </a:p>
        </p:txBody>
      </p:sp>
      <p:sp>
        <p:nvSpPr>
          <p:cNvPr id="14" name="card-163"/>
          <p:cNvSpPr/>
          <p:nvPr/>
        </p:nvSpPr>
        <p:spPr>
          <a:xfrm>
            <a:off x="548640" y="3941064"/>
            <a:ext cx="11091672" cy="914400"/>
          </a:xfrm>
          <a:prstGeom prst="roundRect">
            <a:avLst>
              <a:gd name="adj" fmla="val 8000"/>
            </a:avLst>
          </a:prstGeom>
          <a:solidFill>
            <a:schemeClr val="bg2"/>
          </a:solidFill>
          <a:ln w="12700">
            <a:solidFill>
              <a:schemeClr val="bg2"/>
            </a:solidFill>
            <a:prstDash val="solid"/>
          </a:ln>
        </p:spPr>
      </p:sp>
      <p:sp>
        <p:nvSpPr>
          <p:cNvPr id="15" name="badge-164"/>
          <p:cNvSpPr/>
          <p:nvPr/>
        </p:nvSpPr>
        <p:spPr>
          <a:xfrm>
            <a:off x="777240" y="4123944"/>
            <a:ext cx="548640" cy="548640"/>
          </a:xfrm>
          <a:prstGeom prst="ellipse">
            <a:avLst/>
          </a:prstGeom>
          <a:solidFill>
            <a:schemeClr val="accent1"/>
          </a:solidFill>
          <a:ln w="12700">
            <a:solidFill>
              <a:schemeClr val="accent1"/>
            </a:solidFill>
            <a:prstDash val="solid"/>
          </a:ln>
        </p:spPr>
      </p:sp>
      <p:sp>
        <p:nvSpPr>
          <p:cNvPr id="16" name="badge-text-165"/>
          <p:cNvSpPr txBox="1"/>
          <p:nvPr/>
        </p:nvSpPr>
        <p:spPr>
          <a:xfrm>
            <a:off x="777240" y="4123944"/>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7" name="text-166"/>
          <p:cNvSpPr txBox="1"/>
          <p:nvPr/>
        </p:nvSpPr>
        <p:spPr>
          <a:xfrm>
            <a:off x="1600200" y="3941064"/>
            <a:ext cx="3200400" cy="914400"/>
          </a:xfrm>
          <a:prstGeom prst="rect">
            <a:avLst/>
          </a:prstGeom>
          <a:noFill/>
          <a:ln/>
        </p:spPr>
        <p:txBody>
          <a:bodyPr wrap="square" lIns="0" tIns="0" rIns="0" bIns="0" rtlCol="0" anchor="ctr"/>
          <a:lstStyle/>
          <a:p>
            <a:pPr indent="0" marL="0">
              <a:buNone/>
            </a:pPr>
            <a:r>
              <a:rPr lang="en-US" sz="1800" b="1" dirty="0">
                <a:solidFill>
                  <a:schemeClr val="tx2"/>
                </a:solidFill>
              </a:rPr>
              <a:t>Move to Option D</a:t>
            </a:r>
            <a:endParaRPr lang="en-US" sz="1800" dirty="0"/>
          </a:p>
        </p:txBody>
      </p:sp>
      <p:sp>
        <p:nvSpPr>
          <p:cNvPr id="18" name="text-167"/>
          <p:cNvSpPr txBox="1"/>
          <p:nvPr/>
        </p:nvSpPr>
        <p:spPr>
          <a:xfrm>
            <a:off x="4846320" y="3941064"/>
            <a:ext cx="6583680" cy="914400"/>
          </a:xfrm>
          <a:prstGeom prst="rect">
            <a:avLst/>
          </a:prstGeom>
          <a:noFill/>
          <a:ln/>
        </p:spPr>
        <p:txBody>
          <a:bodyPr wrap="square" lIns="0" tIns="0" rIns="0" bIns="0" rtlCol="0" anchor="ctr"/>
          <a:lstStyle/>
          <a:p>
            <a:pPr indent="0" marL="0">
              <a:buNone/>
            </a:pPr>
            <a:r>
              <a:rPr lang="en-US" sz="1600" dirty="0">
                <a:solidFill>
                  <a:schemeClr val="tx1"/>
                </a:solidFill>
              </a:rPr>
              <a:t>If the system serves many campuses with spiky traffic, a paid AWS budget and AWS skills.</a:t>
            </a:r>
            <a:endParaRPr lang="en-US" sz="1600" dirty="0"/>
          </a:p>
        </p:txBody>
      </p:sp>
      <p:sp>
        <p:nvSpPr>
          <p:cNvPr id="19" name="card-168"/>
          <p:cNvSpPr/>
          <p:nvPr/>
        </p:nvSpPr>
        <p:spPr>
          <a:xfrm>
            <a:off x="548640" y="5020056"/>
            <a:ext cx="11091672" cy="914400"/>
          </a:xfrm>
          <a:prstGeom prst="roundRect">
            <a:avLst>
              <a:gd name="adj" fmla="val 8000"/>
            </a:avLst>
          </a:prstGeom>
          <a:solidFill>
            <a:schemeClr val="bg2"/>
          </a:solidFill>
          <a:ln w="12700">
            <a:solidFill>
              <a:schemeClr val="bg2"/>
            </a:solidFill>
            <a:prstDash val="solid"/>
          </a:ln>
        </p:spPr>
      </p:sp>
      <p:sp>
        <p:nvSpPr>
          <p:cNvPr id="20" name="badge-169"/>
          <p:cNvSpPr/>
          <p:nvPr/>
        </p:nvSpPr>
        <p:spPr>
          <a:xfrm>
            <a:off x="777240" y="5202936"/>
            <a:ext cx="548640" cy="548640"/>
          </a:xfrm>
          <a:prstGeom prst="ellipse">
            <a:avLst/>
          </a:prstGeom>
          <a:solidFill>
            <a:schemeClr val="accent1"/>
          </a:solidFill>
          <a:ln w="12700">
            <a:solidFill>
              <a:schemeClr val="accent1"/>
            </a:solidFill>
            <a:prstDash val="solid"/>
          </a:ln>
        </p:spPr>
      </p:sp>
      <p:sp>
        <p:nvSpPr>
          <p:cNvPr id="21" name="badge-text-170"/>
          <p:cNvSpPr txBox="1"/>
          <p:nvPr/>
        </p:nvSpPr>
        <p:spPr>
          <a:xfrm>
            <a:off x="777240" y="5202936"/>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μ</a:t>
            </a:r>
            <a:endParaRPr lang="en-US" sz="2000" dirty="0"/>
          </a:p>
        </p:txBody>
      </p:sp>
      <p:sp>
        <p:nvSpPr>
          <p:cNvPr id="22" name="text-171"/>
          <p:cNvSpPr txBox="1"/>
          <p:nvPr/>
        </p:nvSpPr>
        <p:spPr>
          <a:xfrm>
            <a:off x="1600200" y="5020056"/>
            <a:ext cx="3200400" cy="914400"/>
          </a:xfrm>
          <a:prstGeom prst="rect">
            <a:avLst/>
          </a:prstGeom>
          <a:noFill/>
          <a:ln/>
        </p:spPr>
        <p:txBody>
          <a:bodyPr wrap="square" lIns="0" tIns="0" rIns="0" bIns="0" rtlCol="0" anchor="ctr"/>
          <a:lstStyle/>
          <a:p>
            <a:pPr indent="0" marL="0">
              <a:buNone/>
            </a:pPr>
            <a:r>
              <a:rPr lang="en-US" sz="1800" b="1" dirty="0">
                <a:solidFill>
                  <a:schemeClr val="tx2"/>
                </a:solidFill>
              </a:rPr>
              <a:t>Split B into services</a:t>
            </a:r>
            <a:endParaRPr lang="en-US" sz="1800" dirty="0"/>
          </a:p>
        </p:txBody>
      </p:sp>
      <p:sp>
        <p:nvSpPr>
          <p:cNvPr id="23" name="text-172"/>
          <p:cNvSpPr txBox="1"/>
          <p:nvPr/>
        </p:nvSpPr>
        <p:spPr>
          <a:xfrm>
            <a:off x="4846320" y="5020056"/>
            <a:ext cx="6583680" cy="914400"/>
          </a:xfrm>
          <a:prstGeom prst="rect">
            <a:avLst/>
          </a:prstGeom>
          <a:noFill/>
          <a:ln/>
        </p:spPr>
        <p:txBody>
          <a:bodyPr wrap="square" lIns="0" tIns="0" rIns="0" bIns="0" rtlCol="0" anchor="ctr"/>
          <a:lstStyle/>
          <a:p>
            <a:pPr indent="0" marL="0">
              <a:buNone/>
            </a:pPr>
            <a:r>
              <a:rPr lang="en-US" sz="1600" dirty="0">
                <a:solidFill>
                  <a:schemeClr val="tx1"/>
                </a:solidFill>
              </a:rPr>
              <a:t>Only when separate teams must deploy modules independently. Not before.</a:t>
            </a:r>
            <a:endParaRPr lang="en-US" sz="1600" dirty="0"/>
          </a:p>
        </p:txBody>
      </p:sp>
      <p:sp>
        <p:nvSpPr>
          <p:cNvPr id="25" name="Slide Number Placeholder 0"/>
          <p:cNvSpPr>
            <a:spLocks noGrp="1"/>
          </p:cNvSpPr>
          <p:nvPr>
            <p:ph type="sldNum" sz="quarter" idx="4294967295"/>
          </p:nvPr>
        </p:nvSpPr>
        <p:spPr>
          <a:xfrm>
            <a:off x="11247120" y="6400800"/>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rtlCol="0" anchor="b"/>
          <a:lstStyle/>
          <a:p>
            <a:pPr indent="0" marL="0">
              <a:buNone/>
            </a:pPr>
            <a:r>
              <a:rPr lang="en-US" sz="4000" b="1" dirty="0">
                <a:solidFill>
                  <a:schemeClr val="bg1"/>
                </a:solidFill>
                <a:latin typeface="Cambria" pitchFamily="34" charset="0"/>
                <a:ea typeface="Cambria" pitchFamily="34" charset="-122"/>
                <a:cs typeface="Cambria" pitchFamily="34" charset="-120"/>
              </a:rPr>
              <a:t>Detailed design of Option B</a:t>
            </a:r>
            <a:endParaRPr lang="en-US" sz="4000" dirty="0"/>
          </a:p>
        </p:txBody>
      </p:sp>
      <p:sp>
        <p:nvSpPr>
          <p:cNvPr id="3" name="Text 0"/>
          <p:cNvSpPr/>
          <p:nvPr>
            <p:ph idx="101" type="body" hasCustomPrompt="1"/>
          </p:nvPr>
        </p:nvSpPr>
        <p:spPr>
          <a:xfrm>
            <a:off x="731520" y="3703320"/>
            <a:ext cx="10698480" cy="914400"/>
          </a:xfrm>
          <a:prstGeom prst="rect">
            <a:avLst/>
          </a:prstGeom>
          <a:noFill/>
          <a:ln/>
        </p:spPr>
        <p:txBody>
          <a:bodyPr wrap="square" rtlCol="0" anchor="t"/>
          <a:lstStyle/>
          <a:p>
            <a:pPr indent="0" marL="0">
              <a:buNone/>
            </a:pPr>
            <a:r>
              <a:rPr lang="en-US" sz="1800" dirty="0">
                <a:solidFill>
                  <a:schemeClr val="accent2"/>
                </a:solidFill>
              </a:rPr>
              <a:t>Request lifecycle  ·  the stock invariant  ·  data model  ·  security</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64240" cy="64008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Life of a food request: six statuses, fixed transitions</a:t>
            </a:r>
            <a:endParaRPr lang="en-US" sz="2800" dirty="0"/>
          </a:p>
        </p:txBody>
      </p:sp>
      <p:pic>
        <p:nvPicPr>
          <p:cNvPr id="3" name="diagram-173" descr="Life of a food request: six statuses, fixed transitions">    </p:cNvPr>
          <p:cNvPicPr>
            <a:picLocks noChangeAspect="1"/>
          </p:cNvPicPr>
          <p:nvPr/>
        </p:nvPicPr>
        <p:blipFill>
          <a:blip r:embed="rId1"/>
          <a:stretch>
            <a:fillRect/>
          </a:stretch>
        </p:blipFill>
        <p:spPr>
          <a:xfrm>
            <a:off x="934817" y="960120"/>
            <a:ext cx="10322061" cy="5257800"/>
          </a:xfrm>
          <a:prstGeom prst="rect">
            <a:avLst/>
          </a:prstGeom>
        </p:spPr>
      </p:pic>
      <p:sp>
        <p:nvSpPr>
          <p:cNvPr id="4" name="text-174"/>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100" i="1" dirty="0">
                <a:solidFill>
                  <a:srgbClr val="6B6478"/>
                </a:solidFill>
              </a:rPr>
              <a:t>Thick border = final state. Any change not shown returns 409 Conflict. Every change writes an audit_log row.</a:t>
            </a:r>
            <a:endParaRPr lang="en-US" sz="1100" dirty="0"/>
          </a:p>
        </p:txBody>
      </p:sp>
      <p:sp>
        <p:nvSpPr>
          <p:cNvPr id="25" name="Slide Number Placeholder 0"/>
          <p:cNvSpPr>
            <a:spLocks noGrp="1"/>
          </p:cNvSpPr>
          <p:nvPr>
            <p:ph type="sldNum" sz="quarter" idx="4294967295"/>
          </p:nvPr>
        </p:nvSpPr>
        <p:spPr>
          <a:xfrm>
            <a:off x="11247120" y="6400800"/>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8"/>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The invariant: the stock count is never wrong</a:t>
            </a:r>
            <a:endParaRPr lang="en-US" sz="3200" dirty="0"/>
          </a:p>
        </p:txBody>
      </p:sp>
      <p:sp>
        <p:nvSpPr>
          <p:cNvPr id="3" name="card-175"/>
          <p:cNvSpPr/>
          <p:nvPr/>
        </p:nvSpPr>
        <p:spPr>
          <a:xfrm>
            <a:off x="548640" y="1234440"/>
            <a:ext cx="11091672" cy="1143000"/>
          </a:xfrm>
          <a:prstGeom prst="roundRect">
            <a:avLst>
              <a:gd name="adj" fmla="val 6400"/>
            </a:avLst>
          </a:prstGeom>
          <a:solidFill>
            <a:schemeClr val="tx2"/>
          </a:solidFill>
          <a:ln w="12700">
            <a:solidFill>
              <a:schemeClr val="tx2"/>
            </a:solidFill>
            <a:prstDash val="solid"/>
          </a:ln>
        </p:spPr>
      </p:sp>
      <p:sp>
        <p:nvSpPr>
          <p:cNvPr id="4" name="text-176"/>
          <p:cNvSpPr txBox="1"/>
          <p:nvPr/>
        </p:nvSpPr>
        <p:spPr>
          <a:xfrm>
            <a:off x="822960" y="1234440"/>
            <a:ext cx="10607040" cy="1143000"/>
          </a:xfrm>
          <a:prstGeom prst="rect">
            <a:avLst/>
          </a:prstGeom>
          <a:noFill/>
          <a:ln/>
        </p:spPr>
        <p:txBody>
          <a:bodyPr wrap="square" lIns="0" tIns="0" rIns="0" bIns="0" rtlCol="0" anchor="ctr"/>
          <a:lstStyle/>
          <a:p>
            <a:pPr indent="0" marL="0">
              <a:buNone/>
            </a:pPr>
            <a:r>
              <a:rPr lang="en-US" sz="1800" b="1" dirty="0">
                <a:solidFill>
                  <a:schemeClr val="accent2"/>
                </a:solidFill>
              </a:rPr>
              <a:t>For every lot, at every moment:   </a:t>
            </a:r>
            <a:pPr indent="0" marL="0">
              <a:buNone/>
            </a:pPr>
            <a:r>
              <a:rPr lang="en-US" sz="1800" dirty="0">
                <a:solidFill>
                  <a:schemeClr val="bg1"/>
                </a:solidFill>
                <a:latin typeface="Courier New" pitchFamily="34" charset="0"/>
                <a:ea typeface="Courier New" pitchFamily="34" charset="-122"/>
                <a:cs typeface="Courier New" pitchFamily="34" charset="-120"/>
              </a:rPr>
              <a:t>0 ≤ qty_on_hand  and  qty_on_hand = Σ ledger deltas</a:t>
            </a:r>
            <a:endParaRPr lang="en-US" sz="1800" dirty="0"/>
          </a:p>
        </p:txBody>
      </p:sp>
      <p:sp>
        <p:nvSpPr>
          <p:cNvPr id="5" name="card-177"/>
          <p:cNvSpPr/>
          <p:nvPr/>
        </p:nvSpPr>
        <p:spPr>
          <a:xfrm>
            <a:off x="548640" y="2651760"/>
            <a:ext cx="3538728" cy="2514600"/>
          </a:xfrm>
          <a:prstGeom prst="roundRect">
            <a:avLst>
              <a:gd name="adj" fmla="val 2909"/>
            </a:avLst>
          </a:prstGeom>
          <a:solidFill>
            <a:schemeClr val="bg2"/>
          </a:solidFill>
          <a:ln w="12700">
            <a:solidFill>
              <a:schemeClr val="bg2"/>
            </a:solidFill>
            <a:prstDash val="solid"/>
          </a:ln>
        </p:spPr>
      </p:sp>
      <p:sp>
        <p:nvSpPr>
          <p:cNvPr id="6" name="badge-178"/>
          <p:cNvSpPr/>
          <p:nvPr/>
        </p:nvSpPr>
        <p:spPr>
          <a:xfrm>
            <a:off x="822960" y="2880360"/>
            <a:ext cx="548640" cy="548640"/>
          </a:xfrm>
          <a:prstGeom prst="ellipse">
            <a:avLst/>
          </a:prstGeom>
          <a:solidFill>
            <a:schemeClr val="accent1"/>
          </a:solidFill>
          <a:ln w="12700">
            <a:solidFill>
              <a:schemeClr val="accent1"/>
            </a:solidFill>
            <a:prstDash val="solid"/>
          </a:ln>
        </p:spPr>
      </p:sp>
      <p:sp>
        <p:nvSpPr>
          <p:cNvPr id="7" name="badge-text-179"/>
          <p:cNvSpPr txBox="1"/>
          <p:nvPr/>
        </p:nvSpPr>
        <p:spPr>
          <a:xfrm>
            <a:off x="822960" y="28803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8" name="text-180"/>
          <p:cNvSpPr txBox="1"/>
          <p:nvPr/>
        </p:nvSpPr>
        <p:spPr>
          <a:xfrm>
            <a:off x="1508760" y="2880360"/>
            <a:ext cx="2377440" cy="548640"/>
          </a:xfrm>
          <a:prstGeom prst="rect">
            <a:avLst/>
          </a:prstGeom>
          <a:noFill/>
          <a:ln/>
        </p:spPr>
        <p:txBody>
          <a:bodyPr wrap="square" lIns="0" tIns="0" rIns="0" bIns="0" rtlCol="0" anchor="ctr"/>
          <a:lstStyle/>
          <a:p>
            <a:pPr indent="0" marL="0">
              <a:buNone/>
            </a:pPr>
            <a:r>
              <a:rPr lang="en-US" sz="1900" b="1" dirty="0">
                <a:solidFill>
                  <a:schemeClr val="tx2"/>
                </a:solidFill>
              </a:rPr>
              <a:t>Row lock</a:t>
            </a:r>
            <a:endParaRPr lang="en-US" sz="1900" dirty="0"/>
          </a:p>
        </p:txBody>
      </p:sp>
      <p:sp>
        <p:nvSpPr>
          <p:cNvPr id="9" name="text-181"/>
          <p:cNvSpPr txBox="1"/>
          <p:nvPr/>
        </p:nvSpPr>
        <p:spPr>
          <a:xfrm>
            <a:off x="822960" y="3611880"/>
            <a:ext cx="3017520" cy="1463040"/>
          </a:xfrm>
          <a:prstGeom prst="rect">
            <a:avLst/>
          </a:prstGeom>
          <a:noFill/>
          <a:ln/>
        </p:spPr>
        <p:txBody>
          <a:bodyPr wrap="square" lIns="0" tIns="0" rIns="0" bIns="0" rtlCol="0" anchor="t"/>
          <a:lstStyle/>
          <a:p>
            <a:pPr indent="0" marL="0">
              <a:buNone/>
            </a:pPr>
            <a:r>
              <a:rPr lang="en-US" sz="1500" dirty="0">
                <a:solidFill>
                  <a:schemeClr val="tx1"/>
                </a:solidFill>
              </a:rPr>
              <a:t>SELECT … FOR UPDATE: if two staff hand out the last box at once, the second waits, then sees 0 and gets 409.</a:t>
            </a:r>
            <a:endParaRPr lang="en-US" sz="1500" dirty="0"/>
          </a:p>
        </p:txBody>
      </p:sp>
      <p:sp>
        <p:nvSpPr>
          <p:cNvPr id="10" name="card-182"/>
          <p:cNvSpPr/>
          <p:nvPr/>
        </p:nvSpPr>
        <p:spPr>
          <a:xfrm>
            <a:off x="4325112" y="2651760"/>
            <a:ext cx="3538728" cy="2514600"/>
          </a:xfrm>
          <a:prstGeom prst="roundRect">
            <a:avLst>
              <a:gd name="adj" fmla="val 2909"/>
            </a:avLst>
          </a:prstGeom>
          <a:solidFill>
            <a:schemeClr val="bg2"/>
          </a:solidFill>
          <a:ln w="12700">
            <a:solidFill>
              <a:schemeClr val="bg2"/>
            </a:solidFill>
            <a:prstDash val="solid"/>
          </a:ln>
        </p:spPr>
      </p:sp>
      <p:sp>
        <p:nvSpPr>
          <p:cNvPr id="11" name="badge-183"/>
          <p:cNvSpPr/>
          <p:nvPr/>
        </p:nvSpPr>
        <p:spPr>
          <a:xfrm>
            <a:off x="4599432" y="2880360"/>
            <a:ext cx="548640" cy="548640"/>
          </a:xfrm>
          <a:prstGeom prst="ellipse">
            <a:avLst/>
          </a:prstGeom>
          <a:solidFill>
            <a:schemeClr val="accent1"/>
          </a:solidFill>
          <a:ln w="12700">
            <a:solidFill>
              <a:schemeClr val="accent1"/>
            </a:solidFill>
            <a:prstDash val="solid"/>
          </a:ln>
        </p:spPr>
      </p:sp>
      <p:sp>
        <p:nvSpPr>
          <p:cNvPr id="12" name="badge-text-184"/>
          <p:cNvSpPr txBox="1"/>
          <p:nvPr/>
        </p:nvSpPr>
        <p:spPr>
          <a:xfrm>
            <a:off x="4599432" y="28803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3" name="text-185"/>
          <p:cNvSpPr txBox="1"/>
          <p:nvPr/>
        </p:nvSpPr>
        <p:spPr>
          <a:xfrm>
            <a:off x="5285232" y="2880360"/>
            <a:ext cx="2377440" cy="548640"/>
          </a:xfrm>
          <a:prstGeom prst="rect">
            <a:avLst/>
          </a:prstGeom>
          <a:noFill/>
          <a:ln/>
        </p:spPr>
        <p:txBody>
          <a:bodyPr wrap="square" lIns="0" tIns="0" rIns="0" bIns="0" rtlCol="0" anchor="ctr"/>
          <a:lstStyle/>
          <a:p>
            <a:pPr indent="0" marL="0">
              <a:buNone/>
            </a:pPr>
            <a:r>
              <a:rPr lang="en-US" sz="1900" b="1" dirty="0">
                <a:solidFill>
                  <a:schemeClr val="tx2"/>
                </a:solidFill>
              </a:rPr>
              <a:t>CHECK constraint</a:t>
            </a:r>
            <a:endParaRPr lang="en-US" sz="1900" dirty="0"/>
          </a:p>
        </p:txBody>
      </p:sp>
      <p:sp>
        <p:nvSpPr>
          <p:cNvPr id="14" name="text-186"/>
          <p:cNvSpPr txBox="1"/>
          <p:nvPr/>
        </p:nvSpPr>
        <p:spPr>
          <a:xfrm>
            <a:off x="4599432" y="3611880"/>
            <a:ext cx="3017520" cy="1463040"/>
          </a:xfrm>
          <a:prstGeom prst="rect">
            <a:avLst/>
          </a:prstGeom>
          <a:noFill/>
          <a:ln/>
        </p:spPr>
        <p:txBody>
          <a:bodyPr wrap="square" lIns="0" tIns="0" rIns="0" bIns="0" rtlCol="0" anchor="t"/>
          <a:lstStyle/>
          <a:p>
            <a:pPr indent="0" marL="0">
              <a:buNone/>
            </a:pPr>
            <a:r>
              <a:rPr lang="en-US" sz="1500" dirty="0">
                <a:solidFill>
                  <a:schemeClr val="tx1"/>
                </a:solidFill>
              </a:rPr>
              <a:t>The database itself refuses a negative quantity, even if our code has a bug.</a:t>
            </a:r>
            <a:endParaRPr lang="en-US" sz="1500" dirty="0"/>
          </a:p>
        </p:txBody>
      </p:sp>
      <p:sp>
        <p:nvSpPr>
          <p:cNvPr id="15" name="card-187"/>
          <p:cNvSpPr/>
          <p:nvPr/>
        </p:nvSpPr>
        <p:spPr>
          <a:xfrm>
            <a:off x="8101584" y="2651760"/>
            <a:ext cx="3538728" cy="2514600"/>
          </a:xfrm>
          <a:prstGeom prst="roundRect">
            <a:avLst>
              <a:gd name="adj" fmla="val 2909"/>
            </a:avLst>
          </a:prstGeom>
          <a:solidFill>
            <a:schemeClr val="bg2"/>
          </a:solidFill>
          <a:ln w="12700">
            <a:solidFill>
              <a:schemeClr val="bg2"/>
            </a:solidFill>
            <a:prstDash val="solid"/>
          </a:ln>
        </p:spPr>
      </p:sp>
      <p:sp>
        <p:nvSpPr>
          <p:cNvPr id="16" name="badge-188"/>
          <p:cNvSpPr/>
          <p:nvPr/>
        </p:nvSpPr>
        <p:spPr>
          <a:xfrm>
            <a:off x="8375904" y="2880360"/>
            <a:ext cx="548640" cy="548640"/>
          </a:xfrm>
          <a:prstGeom prst="ellipse">
            <a:avLst/>
          </a:prstGeom>
          <a:solidFill>
            <a:schemeClr val="accent1"/>
          </a:solidFill>
          <a:ln w="12700">
            <a:solidFill>
              <a:schemeClr val="accent1"/>
            </a:solidFill>
            <a:prstDash val="solid"/>
          </a:ln>
        </p:spPr>
      </p:sp>
      <p:sp>
        <p:nvSpPr>
          <p:cNvPr id="17" name="badge-text-189"/>
          <p:cNvSpPr txBox="1"/>
          <p:nvPr/>
        </p:nvSpPr>
        <p:spPr>
          <a:xfrm>
            <a:off x="8375904" y="28803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8" name="text-190"/>
          <p:cNvSpPr txBox="1"/>
          <p:nvPr/>
        </p:nvSpPr>
        <p:spPr>
          <a:xfrm>
            <a:off x="9061704" y="2880360"/>
            <a:ext cx="2377440" cy="548640"/>
          </a:xfrm>
          <a:prstGeom prst="rect">
            <a:avLst/>
          </a:prstGeom>
          <a:noFill/>
          <a:ln/>
        </p:spPr>
        <p:txBody>
          <a:bodyPr wrap="square" lIns="0" tIns="0" rIns="0" bIns="0" rtlCol="0" anchor="ctr"/>
          <a:lstStyle/>
          <a:p>
            <a:pPr indent="0" marL="0">
              <a:buNone/>
            </a:pPr>
            <a:r>
              <a:rPr lang="en-US" sz="1900" b="1" dirty="0">
                <a:solidFill>
                  <a:schemeClr val="tx2"/>
                </a:solidFill>
              </a:rPr>
              <a:t>One transaction</a:t>
            </a:r>
            <a:endParaRPr lang="en-US" sz="1900" dirty="0"/>
          </a:p>
        </p:txBody>
      </p:sp>
      <p:sp>
        <p:nvSpPr>
          <p:cNvPr id="19" name="text-191"/>
          <p:cNvSpPr txBox="1"/>
          <p:nvPr/>
        </p:nvSpPr>
        <p:spPr>
          <a:xfrm>
            <a:off x="8375904" y="3611880"/>
            <a:ext cx="3017520" cy="1463040"/>
          </a:xfrm>
          <a:prstGeom prst="rect">
            <a:avLst/>
          </a:prstGeom>
          <a:noFill/>
          <a:ln/>
        </p:spPr>
        <p:txBody>
          <a:bodyPr wrap="square" lIns="0" tIns="0" rIns="0" bIns="0" rtlCol="0" anchor="t"/>
          <a:lstStyle/>
          <a:p>
            <a:pPr indent="0" marL="0">
              <a:buNone/>
            </a:pPr>
            <a:r>
              <a:rPr lang="en-US" sz="1500" dirty="0">
                <a:solidFill>
                  <a:schemeClr val="tx1"/>
                </a:solidFill>
              </a:rPr>
              <a:t>The stock change, the distribution record and the audit row are saved together or not at all.</a:t>
            </a:r>
            <a:endParaRPr lang="en-US" sz="1500" dirty="0"/>
          </a:p>
        </p:txBody>
      </p:sp>
      <p:sp>
        <p:nvSpPr>
          <p:cNvPr id="20" name="text-192"/>
          <p:cNvSpPr txBox="1"/>
          <p:nvPr/>
        </p:nvSpPr>
        <p:spPr>
          <a:xfrm>
            <a:off x="548640" y="5440680"/>
            <a:ext cx="11064240" cy="640080"/>
          </a:xfrm>
          <a:prstGeom prst="rect">
            <a:avLst/>
          </a:prstGeom>
          <a:noFill/>
          <a:ln/>
        </p:spPr>
        <p:txBody>
          <a:bodyPr wrap="square" lIns="0" tIns="0" rIns="0" bIns="0" rtlCol="0" anchor="t"/>
          <a:lstStyle/>
          <a:p>
            <a:pPr indent="0" marL="0">
              <a:buNone/>
            </a:pPr>
            <a:r>
              <a:rPr lang="en-US" sz="1600" b="1" dirty="0">
                <a:solidFill>
                  <a:schemeClr val="accent1"/>
                </a:solidFill>
              </a:rPr>
              <a:t>Proof: an automated test fires two simultaneous hand-outs of the last item and expects exactly one success and one 409.</a:t>
            </a:r>
            <a:endParaRPr lang="en-US" sz="1600" dirty="0"/>
          </a:p>
        </p:txBody>
      </p:sp>
      <p:sp>
        <p:nvSpPr>
          <p:cNvPr id="25" name="Slide Number Placeholder 0"/>
          <p:cNvSpPr>
            <a:spLocks noGrp="1"/>
          </p:cNvSpPr>
          <p:nvPr>
            <p:ph type="sldNum" sz="quarter" idx="4294967295"/>
          </p:nvPr>
        </p:nvSpPr>
        <p:spPr>
          <a:xfrm>
            <a:off x="11247120" y="6400800"/>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8"/>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64240" cy="64008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Recording a distribution: one transaction, oldest food first</a:t>
            </a:r>
            <a:endParaRPr lang="en-US" sz="2800" dirty="0"/>
          </a:p>
        </p:txBody>
      </p:sp>
      <p:pic>
        <p:nvPicPr>
          <p:cNvPr id="3" name="diagram-193" descr="Recording a distribution: one transaction, oldest food first">    </p:cNvPr>
          <p:cNvPicPr>
            <a:picLocks noChangeAspect="1"/>
          </p:cNvPicPr>
          <p:nvPr/>
        </p:nvPicPr>
        <p:blipFill>
          <a:blip r:embed="rId1"/>
          <a:stretch>
            <a:fillRect/>
          </a:stretch>
        </p:blipFill>
        <p:spPr>
          <a:xfrm>
            <a:off x="934817" y="960120"/>
            <a:ext cx="10322061" cy="5257800"/>
          </a:xfrm>
          <a:prstGeom prst="rect">
            <a:avLst/>
          </a:prstGeom>
        </p:spPr>
      </p:pic>
      <p:sp>
        <p:nvSpPr>
          <p:cNvPr id="4" name="text-194"/>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100" i="1" dirty="0">
                <a:solidFill>
                  <a:srgbClr val="6B6478"/>
                </a:solidFill>
              </a:rPr>
              <a:t>FEFO = first expired, first out. Short stock → ROLLBACK and 409 Conflict, nothing saved.</a:t>
            </a:r>
            <a:endParaRPr lang="en-US" sz="1100" dirty="0"/>
          </a:p>
        </p:txBody>
      </p:sp>
      <p:sp>
        <p:nvSpPr>
          <p:cNvPr id="25" name="Slide Number Placeholder 0"/>
          <p:cNvSpPr>
            <a:spLocks noGrp="1"/>
          </p:cNvSpPr>
          <p:nvPr>
            <p:ph type="sldNum" sz="quarter" idx="4294967295"/>
          </p:nvPr>
        </p:nvSpPr>
        <p:spPr>
          <a:xfrm>
            <a:off x="11247120" y="6400800"/>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8"/>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64240" cy="64008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Data model: 12 PostgreSQL tables</a:t>
            </a:r>
            <a:endParaRPr lang="en-US" sz="2800" dirty="0"/>
          </a:p>
        </p:txBody>
      </p:sp>
      <p:pic>
        <p:nvPicPr>
          <p:cNvPr id="3" name="diagram-195" descr="Data model: 12 PostgreSQL tables">    </p:cNvPr>
          <p:cNvPicPr>
            <a:picLocks noChangeAspect="1"/>
          </p:cNvPicPr>
          <p:nvPr/>
        </p:nvPicPr>
        <p:blipFill>
          <a:blip r:embed="rId1"/>
          <a:stretch>
            <a:fillRect/>
          </a:stretch>
        </p:blipFill>
        <p:spPr>
          <a:xfrm>
            <a:off x="934817" y="960120"/>
            <a:ext cx="10322061" cy="5257800"/>
          </a:xfrm>
          <a:prstGeom prst="rect">
            <a:avLst/>
          </a:prstGeom>
        </p:spPr>
      </p:pic>
      <p:sp>
        <p:nvSpPr>
          <p:cNvPr id="4" name="text-196"/>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100" i="1" dirty="0">
                <a:solidFill>
                  <a:srgbClr val="6B6478"/>
                </a:solidFill>
              </a:rPr>
              <a:t>Items vs. lots: an item is “canned beans”; a lot is one delivery of it with its own expiry date and shelf.</a:t>
            </a:r>
            <a:endParaRPr lang="en-US" sz="1100" dirty="0"/>
          </a:p>
        </p:txBody>
      </p:sp>
      <p:sp>
        <p:nvSpPr>
          <p:cNvPr id="25" name="Slide Number Placeholder 0"/>
          <p:cNvSpPr>
            <a:spLocks noGrp="1"/>
          </p:cNvSpPr>
          <p:nvPr>
            <p:ph type="sldNum" sz="quarter" idx="4294967295"/>
          </p:nvPr>
        </p:nvSpPr>
        <p:spPr>
          <a:xfrm>
            <a:off x="11247120" y="6400800"/>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8"/>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Security and privacy</a:t>
            </a:r>
            <a:endParaRPr lang="en-US" sz="3200" dirty="0"/>
          </a:p>
        </p:txBody>
      </p:sp>
      <p:sp>
        <p:nvSpPr>
          <p:cNvPr id="3" name="card-197"/>
          <p:cNvSpPr/>
          <p:nvPr/>
        </p:nvSpPr>
        <p:spPr>
          <a:xfrm>
            <a:off x="548640" y="1280160"/>
            <a:ext cx="3538728" cy="2286000"/>
          </a:xfrm>
          <a:prstGeom prst="roundRect">
            <a:avLst>
              <a:gd name="adj" fmla="val 3200"/>
            </a:avLst>
          </a:prstGeom>
          <a:solidFill>
            <a:schemeClr val="bg2"/>
          </a:solidFill>
          <a:ln w="12700">
            <a:solidFill>
              <a:schemeClr val="bg2"/>
            </a:solidFill>
            <a:prstDash val="solid"/>
          </a:ln>
        </p:spPr>
      </p:sp>
      <p:sp>
        <p:nvSpPr>
          <p:cNvPr id="4" name="badge-198"/>
          <p:cNvSpPr/>
          <p:nvPr/>
        </p:nvSpPr>
        <p:spPr>
          <a:xfrm>
            <a:off x="822960" y="1536192"/>
            <a:ext cx="502920" cy="502920"/>
          </a:xfrm>
          <a:prstGeom prst="ellipse">
            <a:avLst/>
          </a:prstGeom>
          <a:solidFill>
            <a:schemeClr val="accent1"/>
          </a:solidFill>
          <a:ln w="12700">
            <a:solidFill>
              <a:schemeClr val="accent1"/>
            </a:solidFill>
            <a:prstDash val="solid"/>
          </a:ln>
        </p:spPr>
      </p:sp>
      <p:sp>
        <p:nvSpPr>
          <p:cNvPr id="5" name="badge-text-199"/>
          <p:cNvSpPr txBox="1"/>
          <p:nvPr/>
        </p:nvSpPr>
        <p:spPr>
          <a:xfrm>
            <a:off x="822960" y="1536192"/>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200"/>
          <p:cNvSpPr txBox="1"/>
          <p:nvPr/>
        </p:nvSpPr>
        <p:spPr>
          <a:xfrm>
            <a:off x="1463040" y="1536192"/>
            <a:ext cx="2468880" cy="502920"/>
          </a:xfrm>
          <a:prstGeom prst="rect">
            <a:avLst/>
          </a:prstGeom>
          <a:noFill/>
          <a:ln/>
        </p:spPr>
        <p:txBody>
          <a:bodyPr wrap="square" lIns="0" tIns="0" rIns="0" bIns="0" rtlCol="0" anchor="ctr"/>
          <a:lstStyle/>
          <a:p>
            <a:pPr indent="0" marL="0">
              <a:buNone/>
            </a:pPr>
            <a:r>
              <a:rPr lang="en-US" sz="1800" b="1" dirty="0">
                <a:solidFill>
                  <a:schemeClr val="tx2"/>
                </a:solidFill>
              </a:rPr>
              <a:t>Who you are</a:t>
            </a:r>
            <a:endParaRPr lang="en-US" sz="1800" dirty="0"/>
          </a:p>
        </p:txBody>
      </p:sp>
      <p:sp>
        <p:nvSpPr>
          <p:cNvPr id="7" name="text-201"/>
          <p:cNvSpPr txBox="1"/>
          <p:nvPr/>
        </p:nvSpPr>
        <p:spPr>
          <a:xfrm>
            <a:off x="822960" y="2194560"/>
            <a:ext cx="3017520" cy="1280160"/>
          </a:xfrm>
          <a:prstGeom prst="rect">
            <a:avLst/>
          </a:prstGeom>
          <a:noFill/>
          <a:ln/>
        </p:spPr>
        <p:txBody>
          <a:bodyPr wrap="square" lIns="0" tIns="0" rIns="0" bIns="0" rtlCol="0" anchor="t"/>
          <a:lstStyle/>
          <a:p>
            <a:pPr indent="0" marL="0">
              <a:buNone/>
            </a:pPr>
            <a:r>
              <a:rPr lang="en-US" sz="1500" dirty="0">
                <a:solidFill>
                  <a:schemeClr val="tx1"/>
                </a:solidFill>
              </a:rPr>
              <a:t>Email + password, hashed with argon2. Login attempts rate-limited. Staff verify the student ID card once.</a:t>
            </a:r>
            <a:endParaRPr lang="en-US" sz="1500" dirty="0"/>
          </a:p>
        </p:txBody>
      </p:sp>
      <p:sp>
        <p:nvSpPr>
          <p:cNvPr id="8" name="card-202"/>
          <p:cNvSpPr/>
          <p:nvPr/>
        </p:nvSpPr>
        <p:spPr>
          <a:xfrm>
            <a:off x="4325112" y="1280160"/>
            <a:ext cx="3538728" cy="2286000"/>
          </a:xfrm>
          <a:prstGeom prst="roundRect">
            <a:avLst>
              <a:gd name="adj" fmla="val 3200"/>
            </a:avLst>
          </a:prstGeom>
          <a:solidFill>
            <a:schemeClr val="bg2"/>
          </a:solidFill>
          <a:ln w="12700">
            <a:solidFill>
              <a:schemeClr val="bg2"/>
            </a:solidFill>
            <a:prstDash val="solid"/>
          </a:ln>
        </p:spPr>
      </p:sp>
      <p:sp>
        <p:nvSpPr>
          <p:cNvPr id="9" name="badge-203"/>
          <p:cNvSpPr/>
          <p:nvPr/>
        </p:nvSpPr>
        <p:spPr>
          <a:xfrm>
            <a:off x="4599432" y="1536192"/>
            <a:ext cx="502920" cy="502920"/>
          </a:xfrm>
          <a:prstGeom prst="ellipse">
            <a:avLst/>
          </a:prstGeom>
          <a:solidFill>
            <a:schemeClr val="accent1"/>
          </a:solidFill>
          <a:ln w="12700">
            <a:solidFill>
              <a:schemeClr val="accent1"/>
            </a:solidFill>
            <a:prstDash val="solid"/>
          </a:ln>
        </p:spPr>
      </p:sp>
      <p:sp>
        <p:nvSpPr>
          <p:cNvPr id="10" name="badge-text-204"/>
          <p:cNvSpPr txBox="1"/>
          <p:nvPr/>
        </p:nvSpPr>
        <p:spPr>
          <a:xfrm>
            <a:off x="4599432" y="1536192"/>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205"/>
          <p:cNvSpPr txBox="1"/>
          <p:nvPr/>
        </p:nvSpPr>
        <p:spPr>
          <a:xfrm>
            <a:off x="5239512" y="1536192"/>
            <a:ext cx="2468880" cy="502920"/>
          </a:xfrm>
          <a:prstGeom prst="rect">
            <a:avLst/>
          </a:prstGeom>
          <a:noFill/>
          <a:ln/>
        </p:spPr>
        <p:txBody>
          <a:bodyPr wrap="square" lIns="0" tIns="0" rIns="0" bIns="0" rtlCol="0" anchor="ctr"/>
          <a:lstStyle/>
          <a:p>
            <a:pPr indent="0" marL="0">
              <a:buNone/>
            </a:pPr>
            <a:r>
              <a:rPr lang="en-US" sz="1800" b="1" dirty="0">
                <a:solidFill>
                  <a:schemeClr val="tx2"/>
                </a:solidFill>
              </a:rPr>
              <a:t>What you can do</a:t>
            </a:r>
            <a:endParaRPr lang="en-US" sz="1800" dirty="0"/>
          </a:p>
        </p:txBody>
      </p:sp>
      <p:sp>
        <p:nvSpPr>
          <p:cNvPr id="12" name="text-206"/>
          <p:cNvSpPr txBox="1"/>
          <p:nvPr/>
        </p:nvSpPr>
        <p:spPr>
          <a:xfrm>
            <a:off x="4599432" y="2194560"/>
            <a:ext cx="3017520" cy="1280160"/>
          </a:xfrm>
          <a:prstGeom prst="rect">
            <a:avLst/>
          </a:prstGeom>
          <a:noFill/>
          <a:ln/>
        </p:spPr>
        <p:txBody>
          <a:bodyPr wrap="square" lIns="0" tIns="0" rIns="0" bIns="0" rtlCol="0" anchor="t"/>
          <a:lstStyle/>
          <a:p>
            <a:pPr indent="0" marL="0">
              <a:buNone/>
            </a:pPr>
            <a:r>
              <a:rPr lang="en-US" sz="1500" dirty="0">
                <a:solidFill>
                  <a:schemeClr val="tx1"/>
                </a:solidFill>
              </a:rPr>
              <a:t>Every API endpoint declares its allowed roles: student, staff or admin. Tests check forbidden calls fail.</a:t>
            </a:r>
            <a:endParaRPr lang="en-US" sz="1500" dirty="0"/>
          </a:p>
        </p:txBody>
      </p:sp>
      <p:sp>
        <p:nvSpPr>
          <p:cNvPr id="13" name="card-207"/>
          <p:cNvSpPr/>
          <p:nvPr/>
        </p:nvSpPr>
        <p:spPr>
          <a:xfrm>
            <a:off x="8101584" y="1280160"/>
            <a:ext cx="3538728" cy="2286000"/>
          </a:xfrm>
          <a:prstGeom prst="roundRect">
            <a:avLst>
              <a:gd name="adj" fmla="val 3200"/>
            </a:avLst>
          </a:prstGeom>
          <a:solidFill>
            <a:schemeClr val="bg2"/>
          </a:solidFill>
          <a:ln w="12700">
            <a:solidFill>
              <a:schemeClr val="bg2"/>
            </a:solidFill>
            <a:prstDash val="solid"/>
          </a:ln>
        </p:spPr>
      </p:sp>
      <p:sp>
        <p:nvSpPr>
          <p:cNvPr id="14" name="badge-208"/>
          <p:cNvSpPr/>
          <p:nvPr/>
        </p:nvSpPr>
        <p:spPr>
          <a:xfrm>
            <a:off x="8375904" y="1536192"/>
            <a:ext cx="502920" cy="502920"/>
          </a:xfrm>
          <a:prstGeom prst="ellipse">
            <a:avLst/>
          </a:prstGeom>
          <a:solidFill>
            <a:schemeClr val="accent1"/>
          </a:solidFill>
          <a:ln w="12700">
            <a:solidFill>
              <a:schemeClr val="accent1"/>
            </a:solidFill>
            <a:prstDash val="solid"/>
          </a:ln>
        </p:spPr>
      </p:sp>
      <p:sp>
        <p:nvSpPr>
          <p:cNvPr id="15" name="badge-text-209"/>
          <p:cNvSpPr txBox="1"/>
          <p:nvPr/>
        </p:nvSpPr>
        <p:spPr>
          <a:xfrm>
            <a:off x="8375904" y="1536192"/>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210"/>
          <p:cNvSpPr txBox="1"/>
          <p:nvPr/>
        </p:nvSpPr>
        <p:spPr>
          <a:xfrm>
            <a:off x="9015984" y="1536192"/>
            <a:ext cx="2468880" cy="502920"/>
          </a:xfrm>
          <a:prstGeom prst="rect">
            <a:avLst/>
          </a:prstGeom>
          <a:noFill/>
          <a:ln/>
        </p:spPr>
        <p:txBody>
          <a:bodyPr wrap="square" lIns="0" tIns="0" rIns="0" bIns="0" rtlCol="0" anchor="ctr"/>
          <a:lstStyle/>
          <a:p>
            <a:pPr indent="0" marL="0">
              <a:buNone/>
            </a:pPr>
            <a:r>
              <a:rPr lang="en-US" sz="1800" b="1" dirty="0">
                <a:solidFill>
                  <a:schemeClr val="tx2"/>
                </a:solidFill>
              </a:rPr>
              <a:t>Your own data only</a:t>
            </a:r>
            <a:endParaRPr lang="en-US" sz="1800" dirty="0"/>
          </a:p>
        </p:txBody>
      </p:sp>
      <p:sp>
        <p:nvSpPr>
          <p:cNvPr id="17" name="text-211"/>
          <p:cNvSpPr txBox="1"/>
          <p:nvPr/>
        </p:nvSpPr>
        <p:spPr>
          <a:xfrm>
            <a:off x="8375904" y="2194560"/>
            <a:ext cx="3017520" cy="1280160"/>
          </a:xfrm>
          <a:prstGeom prst="rect">
            <a:avLst/>
          </a:prstGeom>
          <a:noFill/>
          <a:ln/>
        </p:spPr>
        <p:txBody>
          <a:bodyPr wrap="square" lIns="0" tIns="0" rIns="0" bIns="0" rtlCol="0" anchor="t"/>
          <a:lstStyle/>
          <a:p>
            <a:pPr indent="0" marL="0">
              <a:buNone/>
            </a:pPr>
            <a:r>
              <a:rPr lang="en-US" sz="1500" dirty="0">
                <a:solidFill>
                  <a:schemeClr val="tx1"/>
                </a:solidFill>
              </a:rPr>
              <a:t>Students can read only their own requests and history, checked in code and covered by tests.</a:t>
            </a:r>
            <a:endParaRPr lang="en-US" sz="1500" dirty="0"/>
          </a:p>
        </p:txBody>
      </p:sp>
      <p:sp>
        <p:nvSpPr>
          <p:cNvPr id="18" name="card-212"/>
          <p:cNvSpPr/>
          <p:nvPr/>
        </p:nvSpPr>
        <p:spPr>
          <a:xfrm>
            <a:off x="548640" y="3794760"/>
            <a:ext cx="3538728" cy="2286000"/>
          </a:xfrm>
          <a:prstGeom prst="roundRect">
            <a:avLst>
              <a:gd name="adj" fmla="val 3200"/>
            </a:avLst>
          </a:prstGeom>
          <a:solidFill>
            <a:schemeClr val="bg2"/>
          </a:solidFill>
          <a:ln w="12700">
            <a:solidFill>
              <a:schemeClr val="bg2"/>
            </a:solidFill>
            <a:prstDash val="solid"/>
          </a:ln>
        </p:spPr>
      </p:sp>
      <p:sp>
        <p:nvSpPr>
          <p:cNvPr id="19" name="badge-213"/>
          <p:cNvSpPr/>
          <p:nvPr/>
        </p:nvSpPr>
        <p:spPr>
          <a:xfrm>
            <a:off x="822960" y="4050792"/>
            <a:ext cx="502920" cy="502920"/>
          </a:xfrm>
          <a:prstGeom prst="ellipse">
            <a:avLst/>
          </a:prstGeom>
          <a:solidFill>
            <a:schemeClr val="accent1"/>
          </a:solidFill>
          <a:ln w="12700">
            <a:solidFill>
              <a:schemeClr val="accent1"/>
            </a:solidFill>
            <a:prstDash val="solid"/>
          </a:ln>
        </p:spPr>
      </p:sp>
      <p:sp>
        <p:nvSpPr>
          <p:cNvPr id="20" name="badge-text-214"/>
          <p:cNvSpPr txBox="1"/>
          <p:nvPr/>
        </p:nvSpPr>
        <p:spPr>
          <a:xfrm>
            <a:off x="822960" y="4050792"/>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text-215"/>
          <p:cNvSpPr txBox="1"/>
          <p:nvPr/>
        </p:nvSpPr>
        <p:spPr>
          <a:xfrm>
            <a:off x="1463040" y="4050792"/>
            <a:ext cx="2468880" cy="502920"/>
          </a:xfrm>
          <a:prstGeom prst="rect">
            <a:avLst/>
          </a:prstGeom>
          <a:noFill/>
          <a:ln/>
        </p:spPr>
        <p:txBody>
          <a:bodyPr wrap="square" lIns="0" tIns="0" rIns="0" bIns="0" rtlCol="0" anchor="ctr"/>
          <a:lstStyle/>
          <a:p>
            <a:pPr indent="0" marL="0">
              <a:buNone/>
            </a:pPr>
            <a:r>
              <a:rPr lang="en-US" sz="1800" b="1" dirty="0">
                <a:solidFill>
                  <a:schemeClr val="tx2"/>
                </a:solidFill>
              </a:rPr>
              <a:t>Safe sessions</a:t>
            </a:r>
            <a:endParaRPr lang="en-US" sz="1800" dirty="0"/>
          </a:p>
        </p:txBody>
      </p:sp>
      <p:sp>
        <p:nvSpPr>
          <p:cNvPr id="22" name="text-216"/>
          <p:cNvSpPr txBox="1"/>
          <p:nvPr/>
        </p:nvSpPr>
        <p:spPr>
          <a:xfrm>
            <a:off x="822960" y="4709160"/>
            <a:ext cx="3017520" cy="1280160"/>
          </a:xfrm>
          <a:prstGeom prst="rect">
            <a:avLst/>
          </a:prstGeom>
          <a:noFill/>
          <a:ln/>
        </p:spPr>
        <p:txBody>
          <a:bodyPr wrap="square" lIns="0" tIns="0" rIns="0" bIns="0" rtlCol="0" anchor="t"/>
          <a:lstStyle/>
          <a:p>
            <a:pPr indent="0" marL="0">
              <a:buNone/>
            </a:pPr>
            <a:r>
              <a:rPr lang="en-US" sz="1500" dirty="0">
                <a:solidFill>
                  <a:schemeClr val="tx1"/>
                </a:solidFill>
              </a:rPr>
              <a:t>Same-origin httpOnly, Secure, SameSite cookie: page scripts cannot read it; the server can revoke it.</a:t>
            </a:r>
            <a:endParaRPr lang="en-US" sz="1500" dirty="0"/>
          </a:p>
        </p:txBody>
      </p:sp>
      <p:sp>
        <p:nvSpPr>
          <p:cNvPr id="23" name="card-217"/>
          <p:cNvSpPr/>
          <p:nvPr/>
        </p:nvSpPr>
        <p:spPr>
          <a:xfrm>
            <a:off x="4325112" y="3794760"/>
            <a:ext cx="3538728" cy="2286000"/>
          </a:xfrm>
          <a:prstGeom prst="roundRect">
            <a:avLst>
              <a:gd name="adj" fmla="val 3200"/>
            </a:avLst>
          </a:prstGeom>
          <a:solidFill>
            <a:schemeClr val="bg2"/>
          </a:solidFill>
          <a:ln w="12700">
            <a:solidFill>
              <a:schemeClr val="bg2"/>
            </a:solidFill>
            <a:prstDash val="solid"/>
          </a:ln>
        </p:spPr>
      </p:sp>
      <p:sp>
        <p:nvSpPr>
          <p:cNvPr id="24" name="badge-218"/>
          <p:cNvSpPr/>
          <p:nvPr/>
        </p:nvSpPr>
        <p:spPr>
          <a:xfrm>
            <a:off x="4599432" y="4050792"/>
            <a:ext cx="502920" cy="502920"/>
          </a:xfrm>
          <a:prstGeom prst="ellipse">
            <a:avLst/>
          </a:prstGeom>
          <a:solidFill>
            <a:schemeClr val="accent1"/>
          </a:solidFill>
          <a:ln w="12700">
            <a:solidFill>
              <a:schemeClr val="accent1"/>
            </a:solidFill>
            <a:prstDash val="solid"/>
          </a:ln>
        </p:spPr>
      </p:sp>
      <p:sp>
        <p:nvSpPr>
          <p:cNvPr id="25" name="badge-text-219"/>
          <p:cNvSpPr txBox="1"/>
          <p:nvPr/>
        </p:nvSpPr>
        <p:spPr>
          <a:xfrm>
            <a:off x="4599432" y="4050792"/>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6" name="text-220"/>
          <p:cNvSpPr txBox="1"/>
          <p:nvPr/>
        </p:nvSpPr>
        <p:spPr>
          <a:xfrm>
            <a:off x="5239512" y="4050792"/>
            <a:ext cx="2468880" cy="502920"/>
          </a:xfrm>
          <a:prstGeom prst="rect">
            <a:avLst/>
          </a:prstGeom>
          <a:noFill/>
          <a:ln/>
        </p:spPr>
        <p:txBody>
          <a:bodyPr wrap="square" lIns="0" tIns="0" rIns="0" bIns="0" rtlCol="0" anchor="ctr"/>
          <a:lstStyle/>
          <a:p>
            <a:pPr indent="0" marL="0">
              <a:buNone/>
            </a:pPr>
            <a:r>
              <a:rPr lang="en-US" sz="1800" b="1" dirty="0">
                <a:solidFill>
                  <a:schemeClr val="tx2"/>
                </a:solidFill>
              </a:rPr>
              <a:t>Accountability</a:t>
            </a:r>
            <a:endParaRPr lang="en-US" sz="1800" dirty="0"/>
          </a:p>
        </p:txBody>
      </p:sp>
      <p:sp>
        <p:nvSpPr>
          <p:cNvPr id="27" name="text-221"/>
          <p:cNvSpPr txBox="1"/>
          <p:nvPr/>
        </p:nvSpPr>
        <p:spPr>
          <a:xfrm>
            <a:off x="4599432" y="4709160"/>
            <a:ext cx="3017520" cy="1280160"/>
          </a:xfrm>
          <a:prstGeom prst="rect">
            <a:avLst/>
          </a:prstGeom>
          <a:noFill/>
          <a:ln/>
        </p:spPr>
        <p:txBody>
          <a:bodyPr wrap="square" lIns="0" tIns="0" rIns="0" bIns="0" rtlCol="0" anchor="t"/>
          <a:lstStyle/>
          <a:p>
            <a:pPr indent="0" marL="0">
              <a:buNone/>
            </a:pPr>
            <a:r>
              <a:rPr lang="en-US" sz="1500" dirty="0">
                <a:solidFill>
                  <a:schemeClr val="tx1"/>
                </a:solidFill>
              </a:rPr>
              <a:t>Every staff action writes an audit_log row: who, what, when, from-status and to-status.</a:t>
            </a:r>
            <a:endParaRPr lang="en-US" sz="1500" dirty="0"/>
          </a:p>
        </p:txBody>
      </p:sp>
      <p:sp>
        <p:nvSpPr>
          <p:cNvPr id="28" name="card-222"/>
          <p:cNvSpPr/>
          <p:nvPr/>
        </p:nvSpPr>
        <p:spPr>
          <a:xfrm>
            <a:off x="8101584" y="3794760"/>
            <a:ext cx="3538728" cy="2286000"/>
          </a:xfrm>
          <a:prstGeom prst="roundRect">
            <a:avLst>
              <a:gd name="adj" fmla="val 3200"/>
            </a:avLst>
          </a:prstGeom>
          <a:solidFill>
            <a:schemeClr val="bg2"/>
          </a:solidFill>
          <a:ln w="12700">
            <a:solidFill>
              <a:schemeClr val="bg2"/>
            </a:solidFill>
            <a:prstDash val="solid"/>
          </a:ln>
        </p:spPr>
      </p:sp>
      <p:sp>
        <p:nvSpPr>
          <p:cNvPr id="29" name="badge-223"/>
          <p:cNvSpPr/>
          <p:nvPr/>
        </p:nvSpPr>
        <p:spPr>
          <a:xfrm>
            <a:off x="8375904" y="4050792"/>
            <a:ext cx="502920" cy="502920"/>
          </a:xfrm>
          <a:prstGeom prst="ellipse">
            <a:avLst/>
          </a:prstGeom>
          <a:solidFill>
            <a:schemeClr val="accent1"/>
          </a:solidFill>
          <a:ln w="12700">
            <a:solidFill>
              <a:schemeClr val="accent1"/>
            </a:solidFill>
            <a:prstDash val="solid"/>
          </a:ln>
        </p:spPr>
      </p:sp>
      <p:sp>
        <p:nvSpPr>
          <p:cNvPr id="30" name="badge-text-224"/>
          <p:cNvSpPr txBox="1"/>
          <p:nvPr/>
        </p:nvSpPr>
        <p:spPr>
          <a:xfrm>
            <a:off x="8375904" y="4050792"/>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31" name="text-225"/>
          <p:cNvSpPr txBox="1"/>
          <p:nvPr/>
        </p:nvSpPr>
        <p:spPr>
          <a:xfrm>
            <a:off x="9015984" y="4050792"/>
            <a:ext cx="2468880" cy="502920"/>
          </a:xfrm>
          <a:prstGeom prst="rect">
            <a:avLst/>
          </a:prstGeom>
          <a:noFill/>
          <a:ln/>
        </p:spPr>
        <p:txBody>
          <a:bodyPr wrap="square" lIns="0" tIns="0" rIns="0" bIns="0" rtlCol="0" anchor="ctr"/>
          <a:lstStyle/>
          <a:p>
            <a:pPr indent="0" marL="0">
              <a:buNone/>
            </a:pPr>
            <a:r>
              <a:rPr lang="en-US" sz="1800" b="1" dirty="0">
                <a:solidFill>
                  <a:schemeClr val="tx2"/>
                </a:solidFill>
              </a:rPr>
              <a:t>Privacy by design</a:t>
            </a:r>
            <a:endParaRPr lang="en-US" sz="1800" dirty="0"/>
          </a:p>
        </p:txBody>
      </p:sp>
      <p:sp>
        <p:nvSpPr>
          <p:cNvPr id="32" name="text-226"/>
          <p:cNvSpPr txBox="1"/>
          <p:nvPr/>
        </p:nvSpPr>
        <p:spPr>
          <a:xfrm>
            <a:off x="8375904" y="4709160"/>
            <a:ext cx="3017520" cy="1280160"/>
          </a:xfrm>
          <a:prstGeom prst="rect">
            <a:avLst/>
          </a:prstGeom>
          <a:noFill/>
          <a:ln/>
        </p:spPr>
        <p:txBody>
          <a:bodyPr wrap="square" lIns="0" tIns="0" rIns="0" bIns="0" rtlCol="0" anchor="t"/>
          <a:lstStyle/>
          <a:p>
            <a:pPr indent="0" marL="0">
              <a:buNone/>
            </a:pPr>
            <a:r>
              <a:rPr lang="en-US" sz="1500" dirty="0">
                <a:solidFill>
                  <a:schemeClr val="tx1"/>
                </a:solidFill>
              </a:rPr>
              <a:t>We never ask why a student needs food. Reports show counts, not names. Retention policy: open question.</a:t>
            </a:r>
            <a:endParaRPr lang="en-US" sz="1500" dirty="0"/>
          </a:p>
        </p:txBody>
      </p:sp>
      <p:sp>
        <p:nvSpPr>
          <p:cNvPr id="25" name="Slide Number Placeholder 0"/>
          <p:cNvSpPr>
            <a:spLocks noGrp="1"/>
          </p:cNvSpPr>
          <p:nvPr>
            <p:ph type="sldNum" sz="quarter" idx="4294967295"/>
          </p:nvPr>
        </p:nvSpPr>
        <p:spPr>
          <a:xfrm>
            <a:off x="11247120" y="6400800"/>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8"/>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rtlCol="0" anchor="b"/>
          <a:lstStyle/>
          <a:p>
            <a:pPr indent="0" marL="0">
              <a:buNone/>
            </a:pPr>
            <a:r>
              <a:rPr lang="en-US" sz="4000" b="1" dirty="0">
                <a:solidFill>
                  <a:schemeClr val="bg1"/>
                </a:solidFill>
                <a:latin typeface="Cambria" pitchFamily="34" charset="0"/>
                <a:ea typeface="Cambria" pitchFamily="34" charset="-122"/>
                <a:cs typeface="Cambria" pitchFamily="34" charset="-120"/>
              </a:rPr>
              <a:t>Delivery plan</a:t>
            </a:r>
            <a:endParaRPr lang="en-US" sz="4000" dirty="0"/>
          </a:p>
        </p:txBody>
      </p:sp>
      <p:sp>
        <p:nvSpPr>
          <p:cNvPr id="3" name="Text 0"/>
          <p:cNvSpPr/>
          <p:nvPr>
            <p:ph idx="101" type="body" hasCustomPrompt="1"/>
          </p:nvPr>
        </p:nvSpPr>
        <p:spPr>
          <a:xfrm>
            <a:off x="731520" y="3703320"/>
            <a:ext cx="10698480" cy="914400"/>
          </a:xfrm>
          <a:prstGeom prst="rect">
            <a:avLst/>
          </a:prstGeom>
          <a:noFill/>
          <a:ln/>
        </p:spPr>
        <p:txBody>
          <a:bodyPr wrap="square" rtlCol="0" anchor="t"/>
          <a:lstStyle/>
          <a:p>
            <a:pPr indent="0" marL="0">
              <a:buNone/>
            </a:pPr>
            <a:r>
              <a:rPr lang="en-US" sz="1800" dirty="0">
                <a:solidFill>
                  <a:schemeClr val="accent2"/>
                </a:solidFill>
              </a:rPr>
              <a:t>MVP scope  ·  six sprints  ·  who owns what</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MVP scope: the full loop, demonstrated live</a:t>
            </a:r>
            <a:endParaRPr lang="en-US" sz="3200" dirty="0"/>
          </a:p>
        </p:txBody>
      </p:sp>
      <p:sp>
        <p:nvSpPr>
          <p:cNvPr id="3" name="text-227"/>
          <p:cNvSpPr txBox="1"/>
          <p:nvPr/>
        </p:nvSpPr>
        <p:spPr>
          <a:xfrm>
            <a:off x="548640" y="1097280"/>
            <a:ext cx="11064240" cy="457200"/>
          </a:xfrm>
          <a:prstGeom prst="rect">
            <a:avLst/>
          </a:prstGeom>
          <a:noFill/>
          <a:ln/>
        </p:spPr>
        <p:txBody>
          <a:bodyPr wrap="square" lIns="0" tIns="0" rIns="0" bIns="0" rtlCol="0" anchor="t"/>
          <a:lstStyle/>
          <a:p>
            <a:pPr indent="0" marL="0">
              <a:buNone/>
            </a:pPr>
            <a:r>
              <a:rPr lang="en-US" sz="1800" dirty="0">
                <a:solidFill>
                  <a:srgbClr val="4A4458"/>
                </a:solidFill>
              </a:rPr>
              <a:t>Donation in → request → approval → distribution out → stock correct. Cuts are agreed now, not argued in week 6.</a:t>
            </a:r>
            <a:endParaRPr lang="en-US" sz="1800" dirty="0"/>
          </a:p>
        </p:txBody>
      </p:sp>
      <p:sp>
        <p:nvSpPr>
          <p:cNvPr id="4" name="card-228"/>
          <p:cNvSpPr/>
          <p:nvPr/>
        </p:nvSpPr>
        <p:spPr>
          <a:xfrm>
            <a:off x="548640" y="1783080"/>
            <a:ext cx="2633472" cy="4389120"/>
          </a:xfrm>
          <a:prstGeom prst="roundRect">
            <a:avLst>
              <a:gd name="adj" fmla="val 2778"/>
            </a:avLst>
          </a:prstGeom>
          <a:solidFill>
            <a:schemeClr val="bg2"/>
          </a:solidFill>
          <a:ln w="12700">
            <a:solidFill>
              <a:schemeClr val="bg2"/>
            </a:solidFill>
            <a:prstDash val="solid"/>
          </a:ln>
        </p:spPr>
      </p:sp>
      <p:sp>
        <p:nvSpPr>
          <p:cNvPr id="5" name="mvhead-229"/>
          <p:cNvSpPr/>
          <p:nvPr/>
        </p:nvSpPr>
        <p:spPr>
          <a:xfrm>
            <a:off x="548640" y="1783080"/>
            <a:ext cx="2633472" cy="548640"/>
          </a:xfrm>
          <a:prstGeom prst="roundRect">
            <a:avLst>
              <a:gd name="adj" fmla="val 13333"/>
            </a:avLst>
          </a:prstGeom>
          <a:solidFill>
            <a:schemeClr val="accent1"/>
          </a:solidFill>
          <a:ln w="12700">
            <a:solidFill>
              <a:schemeClr val="accent1"/>
            </a:solidFill>
            <a:prstDash val="solid"/>
          </a:ln>
        </p:spPr>
      </p:sp>
      <p:sp>
        <p:nvSpPr>
          <p:cNvPr id="6" name="text-230"/>
          <p:cNvSpPr txBox="1"/>
          <p:nvPr/>
        </p:nvSpPr>
        <p:spPr>
          <a:xfrm>
            <a:off x="731520" y="1783080"/>
            <a:ext cx="2286000" cy="548640"/>
          </a:xfrm>
          <a:prstGeom prst="rect">
            <a:avLst/>
          </a:prstGeom>
          <a:noFill/>
          <a:ln/>
        </p:spPr>
        <p:txBody>
          <a:bodyPr wrap="square" lIns="0" tIns="0" rIns="0" bIns="0" rtlCol="0" anchor="ctr"/>
          <a:lstStyle/>
          <a:p>
            <a:pPr indent="0" marL="0">
              <a:buNone/>
            </a:pPr>
            <a:r>
              <a:rPr lang="en-US" sz="1800" b="1" dirty="0">
                <a:solidFill>
                  <a:schemeClr val="bg1"/>
                </a:solidFill>
              </a:rPr>
              <a:t>Must</a:t>
            </a:r>
            <a:endParaRPr lang="en-US" sz="1800" dirty="0"/>
          </a:p>
        </p:txBody>
      </p:sp>
      <p:sp>
        <p:nvSpPr>
          <p:cNvPr id="7" name="text-231"/>
          <p:cNvSpPr txBox="1"/>
          <p:nvPr/>
        </p:nvSpPr>
        <p:spPr>
          <a:xfrm>
            <a:off x="731520" y="2514600"/>
            <a:ext cx="2331720" cy="3566160"/>
          </a:xfrm>
          <a:prstGeom prst="rect">
            <a:avLst/>
          </a:prstGeom>
          <a:noFill/>
          <a:ln/>
        </p:spPr>
        <p:txBody>
          <a:bodyPr wrap="square" lIns="0" tIns="0" rIns="0" bIns="0" rtlCol="0" anchor="t"/>
          <a:lstStyle/>
          <a:p>
            <a:pPr marL="228600" indent="-228600">
              <a:spcAft>
                <a:spcPts val="600"/>
              </a:spcAft>
              <a:buSzPct val="100000"/>
              <a:buChar char="•"/>
            </a:pPr>
            <a:r>
              <a:rPr lang="en-US" sz="1400" dirty="0">
                <a:solidFill>
                  <a:schemeClr val="tx1"/>
                </a:solidFill>
              </a:rPr>
              <a:t>Accounts and roles; staff-assisted signup</a:t>
            </a:r>
            <a:endParaRPr lang="en-US" sz="1600" dirty="0"/>
          </a:p>
          <a:p>
            <a:pPr marL="228600" indent="-228600">
              <a:spcAft>
                <a:spcPts val="600"/>
              </a:spcAft>
              <a:buSzPct val="100000"/>
              <a:buChar char="•"/>
            </a:pPr>
            <a:r>
              <a:rPr lang="en-US" sz="1400" dirty="0">
                <a:solidFill>
                  <a:schemeClr val="tx1"/>
                </a:solidFill>
              </a:rPr>
              <a:t>Provisional profile for walk-ins</a:t>
            </a:r>
            <a:endParaRPr lang="en-US" sz="1600" dirty="0"/>
          </a:p>
          <a:p>
            <a:pPr marL="228600" indent="-228600">
              <a:spcAft>
                <a:spcPts val="600"/>
              </a:spcAft>
              <a:buSzPct val="100000"/>
              <a:buChar char="•"/>
            </a:pPr>
            <a:r>
              <a:rPr lang="en-US" sz="1400" dirty="0">
                <a:solidFill>
                  <a:schemeClr val="tx1"/>
                </a:solidFill>
              </a:rPr>
              <a:t>Items and lots; donation intake</a:t>
            </a:r>
            <a:endParaRPr lang="en-US" sz="1600" dirty="0"/>
          </a:p>
          <a:p>
            <a:pPr marL="228600" indent="-228600">
              <a:spcAft>
                <a:spcPts val="600"/>
              </a:spcAft>
              <a:buSzPct val="100000"/>
              <a:buChar char="•"/>
            </a:pPr>
            <a:r>
              <a:rPr lang="en-US" sz="1400" dirty="0">
                <a:solidFill>
                  <a:schemeClr val="tx1"/>
                </a:solidFill>
              </a:rPr>
              <a:t>Requests with pickup slots</a:t>
            </a:r>
            <a:endParaRPr lang="en-US" sz="1600" dirty="0"/>
          </a:p>
          <a:p>
            <a:pPr marL="228600" indent="-228600">
              <a:spcAft>
                <a:spcPts val="600"/>
              </a:spcAft>
              <a:buSzPct val="100000"/>
              <a:buChar char="•"/>
            </a:pPr>
            <a:r>
              <a:rPr lang="en-US" sz="1400" dirty="0">
                <a:solidFill>
                  <a:schemeClr val="tx1"/>
                </a:solidFill>
              </a:rPr>
              <a:t>Approval queue; no-show</a:t>
            </a:r>
            <a:endParaRPr lang="en-US" sz="1600" dirty="0"/>
          </a:p>
          <a:p>
            <a:pPr marL="228600" indent="-228600">
              <a:spcAft>
                <a:spcPts val="600"/>
              </a:spcAft>
              <a:buSzPct val="100000"/>
              <a:buChar char="•"/>
            </a:pPr>
            <a:r>
              <a:rPr lang="en-US" sz="1400" dirty="0">
                <a:solidFill>
                  <a:schemeClr val="tx1"/>
                </a:solidFill>
              </a:rPr>
              <a:t>Safe distribution (oldest first)</a:t>
            </a:r>
            <a:endParaRPr lang="en-US" sz="1600" dirty="0"/>
          </a:p>
          <a:p>
            <a:pPr marL="228600" indent="-228600">
              <a:spcAft>
                <a:spcPts val="600"/>
              </a:spcAft>
              <a:buSzPct val="100000"/>
              <a:buChar char="•"/>
            </a:pPr>
            <a:r>
              <a:rPr lang="en-US" sz="1400" dirty="0">
                <a:solidFill>
                  <a:schemeClr val="tx1"/>
                </a:solidFill>
              </a:rPr>
              <a:t>Dashboard: low stock, expiring</a:t>
            </a:r>
            <a:endParaRPr lang="en-US" sz="1600" dirty="0"/>
          </a:p>
          <a:p>
            <a:pPr marL="228600" indent="-228600">
              <a:spcAft>
                <a:spcPts val="600"/>
              </a:spcAft>
              <a:buSzPct val="100000"/>
              <a:buChar char="•"/>
            </a:pPr>
            <a:r>
              <a:rPr lang="en-US" sz="1400" dirty="0">
                <a:solidFill>
                  <a:schemeClr val="tx1"/>
                </a:solidFill>
              </a:rPr>
              <a:t>Audit log</a:t>
            </a:r>
            <a:endParaRPr lang="en-US" sz="1600" dirty="0"/>
          </a:p>
        </p:txBody>
      </p:sp>
      <p:sp>
        <p:nvSpPr>
          <p:cNvPr id="8" name="card-232"/>
          <p:cNvSpPr/>
          <p:nvPr/>
        </p:nvSpPr>
        <p:spPr>
          <a:xfrm>
            <a:off x="3364992" y="1783080"/>
            <a:ext cx="2633472" cy="4389120"/>
          </a:xfrm>
          <a:prstGeom prst="roundRect">
            <a:avLst>
              <a:gd name="adj" fmla="val 2778"/>
            </a:avLst>
          </a:prstGeom>
          <a:solidFill>
            <a:schemeClr val="bg2"/>
          </a:solidFill>
          <a:ln w="12700">
            <a:solidFill>
              <a:schemeClr val="bg2"/>
            </a:solidFill>
            <a:prstDash val="solid"/>
          </a:ln>
        </p:spPr>
      </p:sp>
      <p:sp>
        <p:nvSpPr>
          <p:cNvPr id="9" name="mvhead-233"/>
          <p:cNvSpPr/>
          <p:nvPr/>
        </p:nvSpPr>
        <p:spPr>
          <a:xfrm>
            <a:off x="3364992" y="1783080"/>
            <a:ext cx="2633472" cy="548640"/>
          </a:xfrm>
          <a:prstGeom prst="roundRect">
            <a:avLst>
              <a:gd name="adj" fmla="val 13333"/>
            </a:avLst>
          </a:prstGeom>
          <a:solidFill>
            <a:schemeClr val="accent4"/>
          </a:solidFill>
          <a:ln w="12700">
            <a:solidFill>
              <a:schemeClr val="accent4"/>
            </a:solidFill>
            <a:prstDash val="solid"/>
          </a:ln>
        </p:spPr>
      </p:sp>
      <p:sp>
        <p:nvSpPr>
          <p:cNvPr id="10" name="text-234"/>
          <p:cNvSpPr txBox="1"/>
          <p:nvPr/>
        </p:nvSpPr>
        <p:spPr>
          <a:xfrm>
            <a:off x="3547872" y="1783080"/>
            <a:ext cx="2286000" cy="548640"/>
          </a:xfrm>
          <a:prstGeom prst="rect">
            <a:avLst/>
          </a:prstGeom>
          <a:noFill/>
          <a:ln/>
        </p:spPr>
        <p:txBody>
          <a:bodyPr wrap="square" lIns="0" tIns="0" rIns="0" bIns="0" rtlCol="0" anchor="ctr"/>
          <a:lstStyle/>
          <a:p>
            <a:pPr indent="0" marL="0">
              <a:buNone/>
            </a:pPr>
            <a:r>
              <a:rPr lang="en-US" sz="1800" b="1" dirty="0">
                <a:solidFill>
                  <a:schemeClr val="bg1"/>
                </a:solidFill>
              </a:rPr>
              <a:t>Should</a:t>
            </a:r>
            <a:endParaRPr lang="en-US" sz="1800" dirty="0"/>
          </a:p>
        </p:txBody>
      </p:sp>
      <p:sp>
        <p:nvSpPr>
          <p:cNvPr id="11" name="text-235"/>
          <p:cNvSpPr txBox="1"/>
          <p:nvPr/>
        </p:nvSpPr>
        <p:spPr>
          <a:xfrm>
            <a:off x="3547872" y="2514600"/>
            <a:ext cx="2331720" cy="3566160"/>
          </a:xfrm>
          <a:prstGeom prst="rect">
            <a:avLst/>
          </a:prstGeom>
          <a:noFill/>
          <a:ln/>
        </p:spPr>
        <p:txBody>
          <a:bodyPr wrap="square" lIns="0" tIns="0" rIns="0" bIns="0" rtlCol="0" anchor="t"/>
          <a:lstStyle/>
          <a:p>
            <a:pPr marL="228600" indent="-228600">
              <a:spcAft>
                <a:spcPts val="600"/>
              </a:spcAft>
              <a:buSzPct val="100000"/>
              <a:buChar char="•"/>
            </a:pPr>
            <a:r>
              <a:rPr lang="en-US" sz="1400" dirty="0">
                <a:solidFill>
                  <a:schemeClr val="tx1"/>
                </a:solidFill>
              </a:rPr>
              <a:t>Email on approve, decline, reminder</a:t>
            </a:r>
            <a:endParaRPr lang="en-US" sz="1600" dirty="0"/>
          </a:p>
          <a:p>
            <a:pPr marL="228600" indent="-228600">
              <a:spcAft>
                <a:spcPts val="600"/>
              </a:spcAft>
              <a:buSzPct val="100000"/>
              <a:buChar char="•"/>
            </a:pPr>
            <a:r>
              <a:rPr lang="en-US" sz="1400" dirty="0">
                <a:solidFill>
                  <a:schemeClr val="tx1"/>
                </a:solidFill>
              </a:rPr>
              <a:t>Monthly reports + CSV export</a:t>
            </a:r>
            <a:endParaRPr lang="en-US" sz="1600" dirty="0"/>
          </a:p>
          <a:p>
            <a:pPr marL="228600" indent="-228600">
              <a:spcAft>
                <a:spcPts val="600"/>
              </a:spcAft>
              <a:buSzPct val="100000"/>
              <a:buChar char="•"/>
            </a:pPr>
            <a:r>
              <a:rPr lang="en-US" sz="1400" dirty="0">
                <a:solidFill>
                  <a:schemeClr val="tx1"/>
                </a:solidFill>
              </a:rPr>
              <a:t>Admin user management</a:t>
            </a:r>
            <a:endParaRPr lang="en-US" sz="1600" dirty="0"/>
          </a:p>
        </p:txBody>
      </p:sp>
      <p:sp>
        <p:nvSpPr>
          <p:cNvPr id="12" name="card-236"/>
          <p:cNvSpPr/>
          <p:nvPr/>
        </p:nvSpPr>
        <p:spPr>
          <a:xfrm>
            <a:off x="6181344" y="1783080"/>
            <a:ext cx="2633472" cy="4389120"/>
          </a:xfrm>
          <a:prstGeom prst="roundRect">
            <a:avLst>
              <a:gd name="adj" fmla="val 2778"/>
            </a:avLst>
          </a:prstGeom>
          <a:solidFill>
            <a:schemeClr val="bg2"/>
          </a:solidFill>
          <a:ln w="12700">
            <a:solidFill>
              <a:schemeClr val="bg2"/>
            </a:solidFill>
            <a:prstDash val="solid"/>
          </a:ln>
        </p:spPr>
      </p:sp>
      <p:sp>
        <p:nvSpPr>
          <p:cNvPr id="13" name="mvhead-237"/>
          <p:cNvSpPr/>
          <p:nvPr/>
        </p:nvSpPr>
        <p:spPr>
          <a:xfrm>
            <a:off x="6181344" y="1783080"/>
            <a:ext cx="2633472" cy="548640"/>
          </a:xfrm>
          <a:prstGeom prst="roundRect">
            <a:avLst>
              <a:gd name="adj" fmla="val 13333"/>
            </a:avLst>
          </a:prstGeom>
          <a:solidFill>
            <a:schemeClr val="accent3"/>
          </a:solidFill>
          <a:ln w="12700">
            <a:solidFill>
              <a:schemeClr val="accent3"/>
            </a:solidFill>
            <a:prstDash val="solid"/>
          </a:ln>
        </p:spPr>
      </p:sp>
      <p:sp>
        <p:nvSpPr>
          <p:cNvPr id="14" name="text-238"/>
          <p:cNvSpPr txBox="1"/>
          <p:nvPr/>
        </p:nvSpPr>
        <p:spPr>
          <a:xfrm>
            <a:off x="6364224" y="1783080"/>
            <a:ext cx="2286000" cy="548640"/>
          </a:xfrm>
          <a:prstGeom prst="rect">
            <a:avLst/>
          </a:prstGeom>
          <a:noFill/>
          <a:ln/>
        </p:spPr>
        <p:txBody>
          <a:bodyPr wrap="square" lIns="0" tIns="0" rIns="0" bIns="0" rtlCol="0" anchor="ctr"/>
          <a:lstStyle/>
          <a:p>
            <a:pPr indent="0" marL="0">
              <a:buNone/>
            </a:pPr>
            <a:r>
              <a:rPr lang="en-US" sz="1800" b="1" dirty="0">
                <a:solidFill>
                  <a:schemeClr val="bg1"/>
                </a:solidFill>
              </a:rPr>
              <a:t>Could</a:t>
            </a:r>
            <a:endParaRPr lang="en-US" sz="1800" dirty="0"/>
          </a:p>
        </p:txBody>
      </p:sp>
      <p:sp>
        <p:nvSpPr>
          <p:cNvPr id="15" name="text-239"/>
          <p:cNvSpPr txBox="1"/>
          <p:nvPr/>
        </p:nvSpPr>
        <p:spPr>
          <a:xfrm>
            <a:off x="6364224" y="2514600"/>
            <a:ext cx="2331720" cy="3566160"/>
          </a:xfrm>
          <a:prstGeom prst="rect">
            <a:avLst/>
          </a:prstGeom>
          <a:noFill/>
          <a:ln/>
        </p:spPr>
        <p:txBody>
          <a:bodyPr wrap="square" lIns="0" tIns="0" rIns="0" bIns="0" rtlCol="0" anchor="t"/>
          <a:lstStyle/>
          <a:p>
            <a:pPr marL="228600" indent="-228600">
              <a:spcAft>
                <a:spcPts val="600"/>
              </a:spcAft>
              <a:buSzPct val="100000"/>
              <a:buChar char="•"/>
            </a:pPr>
            <a:r>
              <a:rPr lang="en-US" sz="1400" dirty="0">
                <a:solidFill>
                  <a:schemeClr val="tx1"/>
                </a:solidFill>
              </a:rPr>
              <a:t>Dashboard charts</a:t>
            </a:r>
            <a:endParaRPr lang="en-US" sz="1600" dirty="0"/>
          </a:p>
          <a:p>
            <a:pPr marL="228600" indent="-228600">
              <a:spcAft>
                <a:spcPts val="600"/>
              </a:spcAft>
              <a:buSzPct val="100000"/>
              <a:buChar char="•"/>
            </a:pPr>
            <a:r>
              <a:rPr lang="en-US" sz="1400" dirty="0">
                <a:solidFill>
                  <a:schemeClr val="tx1"/>
                </a:solidFill>
              </a:rPr>
              <a:t>Search across all records</a:t>
            </a:r>
            <a:endParaRPr lang="en-US" sz="1600" dirty="0"/>
          </a:p>
        </p:txBody>
      </p:sp>
      <p:sp>
        <p:nvSpPr>
          <p:cNvPr id="16" name="card-240"/>
          <p:cNvSpPr/>
          <p:nvPr/>
        </p:nvSpPr>
        <p:spPr>
          <a:xfrm>
            <a:off x="8997696" y="1783080"/>
            <a:ext cx="2633472" cy="4389120"/>
          </a:xfrm>
          <a:prstGeom prst="roundRect">
            <a:avLst>
              <a:gd name="adj" fmla="val 2778"/>
            </a:avLst>
          </a:prstGeom>
          <a:solidFill>
            <a:schemeClr val="bg2"/>
          </a:solidFill>
          <a:ln w="12700">
            <a:solidFill>
              <a:schemeClr val="bg2"/>
            </a:solidFill>
            <a:prstDash val="solid"/>
          </a:ln>
        </p:spPr>
      </p:sp>
      <p:sp>
        <p:nvSpPr>
          <p:cNvPr id="17" name="mvhead-241"/>
          <p:cNvSpPr/>
          <p:nvPr/>
        </p:nvSpPr>
        <p:spPr>
          <a:xfrm>
            <a:off x="8997696" y="1783080"/>
            <a:ext cx="2633472" cy="548640"/>
          </a:xfrm>
          <a:prstGeom prst="roundRect">
            <a:avLst>
              <a:gd name="adj" fmla="val 13333"/>
            </a:avLst>
          </a:prstGeom>
          <a:solidFill>
            <a:srgbClr val="6B6478"/>
          </a:solidFill>
          <a:ln w="12700">
            <a:solidFill>
              <a:srgbClr val="6B6478"/>
            </a:solidFill>
            <a:prstDash val="solid"/>
          </a:ln>
        </p:spPr>
      </p:sp>
      <p:sp>
        <p:nvSpPr>
          <p:cNvPr id="18" name="text-242"/>
          <p:cNvSpPr txBox="1"/>
          <p:nvPr/>
        </p:nvSpPr>
        <p:spPr>
          <a:xfrm>
            <a:off x="9180576" y="1783080"/>
            <a:ext cx="2286000" cy="548640"/>
          </a:xfrm>
          <a:prstGeom prst="rect">
            <a:avLst/>
          </a:prstGeom>
          <a:noFill/>
          <a:ln/>
        </p:spPr>
        <p:txBody>
          <a:bodyPr wrap="square" lIns="0" tIns="0" rIns="0" bIns="0" rtlCol="0" anchor="ctr"/>
          <a:lstStyle/>
          <a:p>
            <a:pPr indent="0" marL="0">
              <a:buNone/>
            </a:pPr>
            <a:r>
              <a:rPr lang="en-US" sz="1800" b="1" dirty="0">
                <a:solidFill>
                  <a:schemeClr val="bg1"/>
                </a:solidFill>
              </a:rPr>
              <a:t>Won't (this term)</a:t>
            </a:r>
            <a:endParaRPr lang="en-US" sz="1800" dirty="0"/>
          </a:p>
        </p:txBody>
      </p:sp>
      <p:sp>
        <p:nvSpPr>
          <p:cNvPr id="19" name="text-243"/>
          <p:cNvSpPr txBox="1"/>
          <p:nvPr/>
        </p:nvSpPr>
        <p:spPr>
          <a:xfrm>
            <a:off x="9180576" y="2514600"/>
            <a:ext cx="2331720" cy="3566160"/>
          </a:xfrm>
          <a:prstGeom prst="rect">
            <a:avLst/>
          </a:prstGeom>
          <a:noFill/>
          <a:ln/>
        </p:spPr>
        <p:txBody>
          <a:bodyPr wrap="square" lIns="0" tIns="0" rIns="0" bIns="0" rtlCol="0" anchor="t"/>
          <a:lstStyle/>
          <a:p>
            <a:pPr marL="228600" indent="-228600">
              <a:spcAft>
                <a:spcPts val="600"/>
              </a:spcAft>
              <a:buSzPct val="100000"/>
              <a:buChar char="•"/>
            </a:pPr>
            <a:r>
              <a:rPr lang="en-US" sz="1400" dirty="0">
                <a:solidFill>
                  <a:schemeClr val="tx1"/>
                </a:solidFill>
              </a:rPr>
              <a:t>SMS</a:t>
            </a:r>
            <a:endParaRPr lang="en-US" sz="1600" dirty="0"/>
          </a:p>
          <a:p>
            <a:pPr marL="228600" indent="-228600">
              <a:spcAft>
                <a:spcPts val="600"/>
              </a:spcAft>
              <a:buSzPct val="100000"/>
              <a:buChar char="•"/>
            </a:pPr>
            <a:r>
              <a:rPr lang="en-US" sz="1400" dirty="0">
                <a:solidFill>
                  <a:schemeClr val="tx1"/>
                </a:solidFill>
              </a:rPr>
              <a:t>Barcode scanning</a:t>
            </a:r>
            <a:endParaRPr lang="en-US" sz="1600" dirty="0"/>
          </a:p>
          <a:p>
            <a:pPr marL="228600" indent="-228600">
              <a:spcAft>
                <a:spcPts val="600"/>
              </a:spcAft>
              <a:buSzPct val="100000"/>
              <a:buChar char="•"/>
            </a:pPr>
            <a:r>
              <a:rPr lang="en-US" sz="1400" dirty="0">
                <a:solidFill>
                  <a:schemeClr val="tx1"/>
                </a:solidFill>
              </a:rPr>
              <a:t>Campus single sign-on</a:t>
            </a:r>
            <a:endParaRPr lang="en-US" sz="1600" dirty="0"/>
          </a:p>
          <a:p>
            <a:pPr marL="228600" indent="-228600">
              <a:spcAft>
                <a:spcPts val="600"/>
              </a:spcAft>
              <a:buSzPct val="100000"/>
              <a:buChar char="•"/>
            </a:pPr>
            <a:r>
              <a:rPr lang="en-US" sz="1400" dirty="0">
                <a:solidFill>
                  <a:schemeClr val="tx1"/>
                </a:solidFill>
              </a:rPr>
              <a:t>Multiple pantry sites</a:t>
            </a:r>
            <a:endParaRPr lang="en-US" sz="1600" dirty="0"/>
          </a:p>
          <a:p>
            <a:pPr marL="228600" indent="-228600">
              <a:spcAft>
                <a:spcPts val="600"/>
              </a:spcAft>
              <a:buSzPct val="100000"/>
              <a:buChar char="•"/>
            </a:pPr>
            <a:r>
              <a:rPr lang="en-US" sz="1400" dirty="0">
                <a:solidFill>
                  <a:schemeClr val="tx1"/>
                </a:solidFill>
              </a:rPr>
              <a:t>Mobile app</a:t>
            </a:r>
            <a:endParaRPr lang="en-US" sz="1600" dirty="0"/>
          </a:p>
        </p:txBody>
      </p:sp>
      <p:sp>
        <p:nvSpPr>
          <p:cNvPr id="25" name="Slide Number Placeholder 0"/>
          <p:cNvSpPr>
            <a:spLocks noGrp="1"/>
          </p:cNvSpPr>
          <p:nvPr>
            <p:ph type="sldNum" sz="quarter" idx="4294967295"/>
          </p:nvPr>
        </p:nvSpPr>
        <p:spPr>
          <a:xfrm>
            <a:off x="11247120" y="6400800"/>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8"/>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Six one-week sprints to November 19</a:t>
            </a:r>
            <a:endParaRPr lang="en-US" sz="3200" dirty="0"/>
          </a:p>
        </p:txBody>
      </p:sp>
      <p:sp>
        <p:nvSpPr>
          <p:cNvPr id="3" name="tl-244"/>
          <p:cNvSpPr/>
          <p:nvPr/>
        </p:nvSpPr>
        <p:spPr>
          <a:xfrm>
            <a:off x="822960" y="2057400"/>
            <a:ext cx="10515600" cy="0"/>
          </a:xfrm>
          <a:prstGeom prst="line">
            <a:avLst/>
          </a:prstGeom>
          <a:noFill/>
          <a:ln w="25400">
            <a:solidFill>
              <a:srgbClr val="B9AECB"/>
            </a:solidFill>
            <a:prstDash val="solid"/>
          </a:ln>
        </p:spPr>
      </p:sp>
      <p:sp>
        <p:nvSpPr>
          <p:cNvPr id="4" name="badge-245"/>
          <p:cNvSpPr/>
          <p:nvPr/>
        </p:nvSpPr>
        <p:spPr>
          <a:xfrm>
            <a:off x="1152144" y="1783080"/>
            <a:ext cx="548640" cy="548640"/>
          </a:xfrm>
          <a:prstGeom prst="ellipse">
            <a:avLst/>
          </a:prstGeom>
          <a:solidFill>
            <a:schemeClr val="accent1"/>
          </a:solidFill>
          <a:ln w="12700">
            <a:solidFill>
              <a:schemeClr val="accent1"/>
            </a:solidFill>
            <a:prstDash val="solid"/>
          </a:ln>
        </p:spPr>
      </p:sp>
      <p:sp>
        <p:nvSpPr>
          <p:cNvPr id="5" name="badge-text-246"/>
          <p:cNvSpPr txBox="1"/>
          <p:nvPr/>
        </p:nvSpPr>
        <p:spPr>
          <a:xfrm>
            <a:off x="1152144" y="17830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0</a:t>
            </a:r>
            <a:endParaRPr lang="en-US" sz="2000" dirty="0"/>
          </a:p>
        </p:txBody>
      </p:sp>
      <p:sp>
        <p:nvSpPr>
          <p:cNvPr id="6" name="text-247"/>
          <p:cNvSpPr txBox="1"/>
          <p:nvPr/>
        </p:nvSpPr>
        <p:spPr>
          <a:xfrm>
            <a:off x="548640" y="2468880"/>
            <a:ext cx="1764792" cy="365760"/>
          </a:xfrm>
          <a:prstGeom prst="rect">
            <a:avLst/>
          </a:prstGeom>
          <a:noFill/>
          <a:ln/>
        </p:spPr>
        <p:txBody>
          <a:bodyPr wrap="square" lIns="0" tIns="0" rIns="0" bIns="0" rtlCol="0" anchor="t"/>
          <a:lstStyle/>
          <a:p>
            <a:pPr algn="ctr" indent="0" marL="0">
              <a:buNone/>
            </a:pPr>
            <a:r>
              <a:rPr lang="en-US" sz="1600" b="1" dirty="0">
                <a:solidFill>
                  <a:schemeClr val="tx2"/>
                </a:solidFill>
              </a:rPr>
              <a:t>Oct 8–14</a:t>
            </a:r>
            <a:endParaRPr lang="en-US" sz="1600" dirty="0"/>
          </a:p>
        </p:txBody>
      </p:sp>
      <p:sp>
        <p:nvSpPr>
          <p:cNvPr id="7" name="card-248"/>
          <p:cNvSpPr/>
          <p:nvPr/>
        </p:nvSpPr>
        <p:spPr>
          <a:xfrm>
            <a:off x="548640" y="2880360"/>
            <a:ext cx="1764792" cy="1600200"/>
          </a:xfrm>
          <a:prstGeom prst="roundRect">
            <a:avLst>
              <a:gd name="adj" fmla="val 4571"/>
            </a:avLst>
          </a:prstGeom>
          <a:solidFill>
            <a:schemeClr val="bg2"/>
          </a:solidFill>
          <a:ln w="12700">
            <a:solidFill>
              <a:schemeClr val="bg2"/>
            </a:solidFill>
            <a:prstDash val="solid"/>
          </a:ln>
        </p:spPr>
      </p:sp>
      <p:sp>
        <p:nvSpPr>
          <p:cNvPr id="8" name="text-249"/>
          <p:cNvSpPr txBox="1"/>
          <p:nvPr/>
        </p:nvSpPr>
        <p:spPr>
          <a:xfrm>
            <a:off x="685800" y="3017520"/>
            <a:ext cx="1508760" cy="1371600"/>
          </a:xfrm>
          <a:prstGeom prst="rect">
            <a:avLst/>
          </a:prstGeom>
          <a:noFill/>
          <a:ln/>
        </p:spPr>
        <p:txBody>
          <a:bodyPr wrap="square" lIns="0" tIns="0" rIns="0" bIns="0" rtlCol="0" anchor="t"/>
          <a:lstStyle/>
          <a:p>
            <a:pPr indent="0" marL="0">
              <a:buNone/>
            </a:pPr>
            <a:r>
              <a:rPr lang="en-US" sz="1400" dirty="0">
                <a:solidFill>
                  <a:schemeClr val="tx1"/>
                </a:solidFill>
              </a:rPr>
              <a:t>Repo, Docker Compose, CI, schema, wireframes</a:t>
            </a:r>
            <a:endParaRPr lang="en-US" sz="1400" dirty="0"/>
          </a:p>
        </p:txBody>
      </p:sp>
      <p:sp>
        <p:nvSpPr>
          <p:cNvPr id="9" name="badge-250"/>
          <p:cNvSpPr/>
          <p:nvPr/>
        </p:nvSpPr>
        <p:spPr>
          <a:xfrm>
            <a:off x="3008376" y="1783080"/>
            <a:ext cx="548640" cy="548640"/>
          </a:xfrm>
          <a:prstGeom prst="ellipse">
            <a:avLst/>
          </a:prstGeom>
          <a:solidFill>
            <a:schemeClr val="accent1"/>
          </a:solidFill>
          <a:ln w="12700">
            <a:solidFill>
              <a:schemeClr val="accent1"/>
            </a:solidFill>
            <a:prstDash val="solid"/>
          </a:ln>
        </p:spPr>
      </p:sp>
      <p:sp>
        <p:nvSpPr>
          <p:cNvPr id="10" name="badge-text-251"/>
          <p:cNvSpPr txBox="1"/>
          <p:nvPr/>
        </p:nvSpPr>
        <p:spPr>
          <a:xfrm>
            <a:off x="3008376" y="17830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11" name="text-252"/>
          <p:cNvSpPr txBox="1"/>
          <p:nvPr/>
        </p:nvSpPr>
        <p:spPr>
          <a:xfrm>
            <a:off x="2404872" y="2468880"/>
            <a:ext cx="1764792" cy="365760"/>
          </a:xfrm>
          <a:prstGeom prst="rect">
            <a:avLst/>
          </a:prstGeom>
          <a:noFill/>
          <a:ln/>
        </p:spPr>
        <p:txBody>
          <a:bodyPr wrap="square" lIns="0" tIns="0" rIns="0" bIns="0" rtlCol="0" anchor="t"/>
          <a:lstStyle/>
          <a:p>
            <a:pPr algn="ctr" indent="0" marL="0">
              <a:buNone/>
            </a:pPr>
            <a:r>
              <a:rPr lang="en-US" sz="1600" b="1" dirty="0">
                <a:solidFill>
                  <a:schemeClr val="tx2"/>
                </a:solidFill>
              </a:rPr>
              <a:t>Oct 15–21</a:t>
            </a:r>
            <a:endParaRPr lang="en-US" sz="1600" dirty="0"/>
          </a:p>
        </p:txBody>
      </p:sp>
      <p:sp>
        <p:nvSpPr>
          <p:cNvPr id="12" name="card-253"/>
          <p:cNvSpPr/>
          <p:nvPr/>
        </p:nvSpPr>
        <p:spPr>
          <a:xfrm>
            <a:off x="2404872" y="2880360"/>
            <a:ext cx="1764792" cy="1600200"/>
          </a:xfrm>
          <a:prstGeom prst="roundRect">
            <a:avLst>
              <a:gd name="adj" fmla="val 4571"/>
            </a:avLst>
          </a:prstGeom>
          <a:solidFill>
            <a:schemeClr val="bg2"/>
          </a:solidFill>
          <a:ln w="12700">
            <a:solidFill>
              <a:schemeClr val="bg2"/>
            </a:solidFill>
            <a:prstDash val="solid"/>
          </a:ln>
        </p:spPr>
      </p:sp>
      <p:sp>
        <p:nvSpPr>
          <p:cNvPr id="13" name="text-254"/>
          <p:cNvSpPr txBox="1"/>
          <p:nvPr/>
        </p:nvSpPr>
        <p:spPr>
          <a:xfrm>
            <a:off x="2542032" y="3017520"/>
            <a:ext cx="1508760" cy="1371600"/>
          </a:xfrm>
          <a:prstGeom prst="rect">
            <a:avLst/>
          </a:prstGeom>
          <a:noFill/>
          <a:ln/>
        </p:spPr>
        <p:txBody>
          <a:bodyPr wrap="square" lIns="0" tIns="0" rIns="0" bIns="0" rtlCol="0" anchor="t"/>
          <a:lstStyle/>
          <a:p>
            <a:pPr indent="0" marL="0">
              <a:buNone/>
            </a:pPr>
            <a:r>
              <a:rPr lang="en-US" sz="1400" dirty="0">
                <a:solidFill>
                  <a:schemeClr val="tx1"/>
                </a:solidFill>
              </a:rPr>
              <a:t>Login and roles; items, lots, donations</a:t>
            </a:r>
            <a:endParaRPr lang="en-US" sz="1400" dirty="0"/>
          </a:p>
        </p:txBody>
      </p:sp>
      <p:sp>
        <p:nvSpPr>
          <p:cNvPr id="14" name="badge-255"/>
          <p:cNvSpPr/>
          <p:nvPr/>
        </p:nvSpPr>
        <p:spPr>
          <a:xfrm>
            <a:off x="4864608" y="1783080"/>
            <a:ext cx="548640" cy="548640"/>
          </a:xfrm>
          <a:prstGeom prst="ellipse">
            <a:avLst/>
          </a:prstGeom>
          <a:solidFill>
            <a:schemeClr val="accent1"/>
          </a:solidFill>
          <a:ln w="12700">
            <a:solidFill>
              <a:schemeClr val="accent1"/>
            </a:solidFill>
            <a:prstDash val="solid"/>
          </a:ln>
        </p:spPr>
      </p:sp>
      <p:sp>
        <p:nvSpPr>
          <p:cNvPr id="15" name="badge-text-256"/>
          <p:cNvSpPr txBox="1"/>
          <p:nvPr/>
        </p:nvSpPr>
        <p:spPr>
          <a:xfrm>
            <a:off x="4864608" y="17830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6" name="text-257"/>
          <p:cNvSpPr txBox="1"/>
          <p:nvPr/>
        </p:nvSpPr>
        <p:spPr>
          <a:xfrm>
            <a:off x="4261104" y="2468880"/>
            <a:ext cx="1764792" cy="365760"/>
          </a:xfrm>
          <a:prstGeom prst="rect">
            <a:avLst/>
          </a:prstGeom>
          <a:noFill/>
          <a:ln/>
        </p:spPr>
        <p:txBody>
          <a:bodyPr wrap="square" lIns="0" tIns="0" rIns="0" bIns="0" rtlCol="0" anchor="t"/>
          <a:lstStyle/>
          <a:p>
            <a:pPr algn="ctr" indent="0" marL="0">
              <a:buNone/>
            </a:pPr>
            <a:r>
              <a:rPr lang="en-US" sz="1600" b="1" dirty="0">
                <a:solidFill>
                  <a:schemeClr val="tx2"/>
                </a:solidFill>
              </a:rPr>
              <a:t>Oct 22–28</a:t>
            </a:r>
            <a:endParaRPr lang="en-US" sz="1600" dirty="0"/>
          </a:p>
        </p:txBody>
      </p:sp>
      <p:sp>
        <p:nvSpPr>
          <p:cNvPr id="17" name="card-258"/>
          <p:cNvSpPr/>
          <p:nvPr/>
        </p:nvSpPr>
        <p:spPr>
          <a:xfrm>
            <a:off x="4261104" y="2880360"/>
            <a:ext cx="1764792" cy="1600200"/>
          </a:xfrm>
          <a:prstGeom prst="roundRect">
            <a:avLst>
              <a:gd name="adj" fmla="val 4571"/>
            </a:avLst>
          </a:prstGeom>
          <a:solidFill>
            <a:schemeClr val="bg2"/>
          </a:solidFill>
          <a:ln w="12700">
            <a:solidFill>
              <a:schemeClr val="bg2"/>
            </a:solidFill>
            <a:prstDash val="solid"/>
          </a:ln>
        </p:spPr>
      </p:sp>
      <p:sp>
        <p:nvSpPr>
          <p:cNvPr id="18" name="text-259"/>
          <p:cNvSpPr txBox="1"/>
          <p:nvPr/>
        </p:nvSpPr>
        <p:spPr>
          <a:xfrm>
            <a:off x="4398264" y="3017520"/>
            <a:ext cx="1508760" cy="1371600"/>
          </a:xfrm>
          <a:prstGeom prst="rect">
            <a:avLst/>
          </a:prstGeom>
          <a:noFill/>
          <a:ln/>
        </p:spPr>
        <p:txBody>
          <a:bodyPr wrap="square" lIns="0" tIns="0" rIns="0" bIns="0" rtlCol="0" anchor="t"/>
          <a:lstStyle/>
          <a:p>
            <a:pPr indent="0" marL="0">
              <a:buNone/>
            </a:pPr>
            <a:r>
              <a:rPr lang="en-US" sz="1400" dirty="0">
                <a:solidFill>
                  <a:schemeClr val="tx1"/>
                </a:solidFill>
              </a:rPr>
              <a:t>Requests, slots, approval queue + tests</a:t>
            </a:r>
            <a:endParaRPr lang="en-US" sz="1400" dirty="0"/>
          </a:p>
        </p:txBody>
      </p:sp>
      <p:sp>
        <p:nvSpPr>
          <p:cNvPr id="19" name="badge-260"/>
          <p:cNvSpPr/>
          <p:nvPr/>
        </p:nvSpPr>
        <p:spPr>
          <a:xfrm>
            <a:off x="6720840" y="1783080"/>
            <a:ext cx="548640" cy="548640"/>
          </a:xfrm>
          <a:prstGeom prst="ellipse">
            <a:avLst/>
          </a:prstGeom>
          <a:solidFill>
            <a:schemeClr val="accent1"/>
          </a:solidFill>
          <a:ln w="12700">
            <a:solidFill>
              <a:schemeClr val="accent1"/>
            </a:solidFill>
            <a:prstDash val="solid"/>
          </a:ln>
        </p:spPr>
      </p:sp>
      <p:sp>
        <p:nvSpPr>
          <p:cNvPr id="20" name="badge-text-261"/>
          <p:cNvSpPr txBox="1"/>
          <p:nvPr/>
        </p:nvSpPr>
        <p:spPr>
          <a:xfrm>
            <a:off x="6720840" y="17830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1" name="text-262"/>
          <p:cNvSpPr txBox="1"/>
          <p:nvPr/>
        </p:nvSpPr>
        <p:spPr>
          <a:xfrm>
            <a:off x="6117336" y="2468880"/>
            <a:ext cx="1764792" cy="365760"/>
          </a:xfrm>
          <a:prstGeom prst="rect">
            <a:avLst/>
          </a:prstGeom>
          <a:noFill/>
          <a:ln/>
        </p:spPr>
        <p:txBody>
          <a:bodyPr wrap="square" lIns="0" tIns="0" rIns="0" bIns="0" rtlCol="0" anchor="t"/>
          <a:lstStyle/>
          <a:p>
            <a:pPr algn="ctr" indent="0" marL="0">
              <a:buNone/>
            </a:pPr>
            <a:r>
              <a:rPr lang="en-US" sz="1600" b="1" dirty="0">
                <a:solidFill>
                  <a:schemeClr val="tx2"/>
                </a:solidFill>
              </a:rPr>
              <a:t>Oct 29–Nov 4</a:t>
            </a:r>
            <a:endParaRPr lang="en-US" sz="1600" dirty="0"/>
          </a:p>
        </p:txBody>
      </p:sp>
      <p:sp>
        <p:nvSpPr>
          <p:cNvPr id="22" name="card-263"/>
          <p:cNvSpPr/>
          <p:nvPr/>
        </p:nvSpPr>
        <p:spPr>
          <a:xfrm>
            <a:off x="6117336" y="2880360"/>
            <a:ext cx="1764792" cy="1600200"/>
          </a:xfrm>
          <a:prstGeom prst="roundRect">
            <a:avLst>
              <a:gd name="adj" fmla="val 4571"/>
            </a:avLst>
          </a:prstGeom>
          <a:solidFill>
            <a:schemeClr val="bg2"/>
          </a:solidFill>
          <a:ln w="12700">
            <a:solidFill>
              <a:schemeClr val="bg2"/>
            </a:solidFill>
            <a:prstDash val="solid"/>
          </a:ln>
        </p:spPr>
      </p:sp>
      <p:sp>
        <p:nvSpPr>
          <p:cNvPr id="23" name="text-264"/>
          <p:cNvSpPr txBox="1"/>
          <p:nvPr/>
        </p:nvSpPr>
        <p:spPr>
          <a:xfrm>
            <a:off x="6254496" y="3017520"/>
            <a:ext cx="1508760" cy="1371600"/>
          </a:xfrm>
          <a:prstGeom prst="rect">
            <a:avLst/>
          </a:prstGeom>
          <a:noFill/>
          <a:ln/>
        </p:spPr>
        <p:txBody>
          <a:bodyPr wrap="square" lIns="0" tIns="0" rIns="0" bIns="0" rtlCol="0" anchor="t"/>
          <a:lstStyle/>
          <a:p>
            <a:pPr indent="0" marL="0">
              <a:buNone/>
            </a:pPr>
            <a:r>
              <a:rPr lang="en-US" sz="1400" dirty="0">
                <a:solidFill>
                  <a:schemeClr val="tx1"/>
                </a:solidFill>
              </a:rPr>
              <a:t>Safe distribution, concurrency test, walk-ins</a:t>
            </a:r>
            <a:endParaRPr lang="en-US" sz="1400" dirty="0"/>
          </a:p>
        </p:txBody>
      </p:sp>
      <p:sp>
        <p:nvSpPr>
          <p:cNvPr id="24" name="badge-265"/>
          <p:cNvSpPr/>
          <p:nvPr/>
        </p:nvSpPr>
        <p:spPr>
          <a:xfrm>
            <a:off x="8577072" y="1783080"/>
            <a:ext cx="548640" cy="548640"/>
          </a:xfrm>
          <a:prstGeom prst="ellipse">
            <a:avLst/>
          </a:prstGeom>
          <a:solidFill>
            <a:schemeClr val="accent1"/>
          </a:solidFill>
          <a:ln w="12700">
            <a:solidFill>
              <a:schemeClr val="accent1"/>
            </a:solidFill>
            <a:prstDash val="solid"/>
          </a:ln>
        </p:spPr>
      </p:sp>
      <p:sp>
        <p:nvSpPr>
          <p:cNvPr id="25" name="badge-text-266"/>
          <p:cNvSpPr txBox="1"/>
          <p:nvPr/>
        </p:nvSpPr>
        <p:spPr>
          <a:xfrm>
            <a:off x="8577072" y="17830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6" name="text-267"/>
          <p:cNvSpPr txBox="1"/>
          <p:nvPr/>
        </p:nvSpPr>
        <p:spPr>
          <a:xfrm>
            <a:off x="7973568" y="2468880"/>
            <a:ext cx="1764792" cy="365760"/>
          </a:xfrm>
          <a:prstGeom prst="rect">
            <a:avLst/>
          </a:prstGeom>
          <a:noFill/>
          <a:ln/>
        </p:spPr>
        <p:txBody>
          <a:bodyPr wrap="square" lIns="0" tIns="0" rIns="0" bIns="0" rtlCol="0" anchor="t"/>
          <a:lstStyle/>
          <a:p>
            <a:pPr algn="ctr" indent="0" marL="0">
              <a:buNone/>
            </a:pPr>
            <a:r>
              <a:rPr lang="en-US" sz="1600" b="1" dirty="0">
                <a:solidFill>
                  <a:schemeClr val="tx2"/>
                </a:solidFill>
              </a:rPr>
              <a:t>Nov 5–11</a:t>
            </a:r>
            <a:endParaRPr lang="en-US" sz="1600" dirty="0"/>
          </a:p>
        </p:txBody>
      </p:sp>
      <p:sp>
        <p:nvSpPr>
          <p:cNvPr id="27" name="card-268"/>
          <p:cNvSpPr/>
          <p:nvPr/>
        </p:nvSpPr>
        <p:spPr>
          <a:xfrm>
            <a:off x="7973568" y="2880360"/>
            <a:ext cx="1764792" cy="1600200"/>
          </a:xfrm>
          <a:prstGeom prst="roundRect">
            <a:avLst>
              <a:gd name="adj" fmla="val 4571"/>
            </a:avLst>
          </a:prstGeom>
          <a:solidFill>
            <a:schemeClr val="bg2"/>
          </a:solidFill>
          <a:ln w="12700">
            <a:solidFill>
              <a:schemeClr val="bg2"/>
            </a:solidFill>
            <a:prstDash val="solid"/>
          </a:ln>
        </p:spPr>
      </p:sp>
      <p:sp>
        <p:nvSpPr>
          <p:cNvPr id="28" name="text-269"/>
          <p:cNvSpPr txBox="1"/>
          <p:nvPr/>
        </p:nvSpPr>
        <p:spPr>
          <a:xfrm>
            <a:off x="8110728" y="3017520"/>
            <a:ext cx="1508760" cy="1371600"/>
          </a:xfrm>
          <a:prstGeom prst="rect">
            <a:avLst/>
          </a:prstGeom>
          <a:noFill/>
          <a:ln/>
        </p:spPr>
        <p:txBody>
          <a:bodyPr wrap="square" lIns="0" tIns="0" rIns="0" bIns="0" rtlCol="0" anchor="t"/>
          <a:lstStyle/>
          <a:p>
            <a:pPr indent="0" marL="0">
              <a:buNone/>
            </a:pPr>
            <a:r>
              <a:rPr lang="en-US" sz="1400" dirty="0">
                <a:solidFill>
                  <a:schemeClr val="tx1"/>
                </a:solidFill>
              </a:rPr>
              <a:t>Dashboard, reports, email, admin</a:t>
            </a:r>
            <a:endParaRPr lang="en-US" sz="1400" dirty="0"/>
          </a:p>
        </p:txBody>
      </p:sp>
      <p:sp>
        <p:nvSpPr>
          <p:cNvPr id="29" name="badge-270"/>
          <p:cNvSpPr/>
          <p:nvPr/>
        </p:nvSpPr>
        <p:spPr>
          <a:xfrm>
            <a:off x="10433304" y="1783080"/>
            <a:ext cx="548640" cy="548640"/>
          </a:xfrm>
          <a:prstGeom prst="ellipse">
            <a:avLst/>
          </a:prstGeom>
          <a:solidFill>
            <a:schemeClr val="accent2"/>
          </a:solidFill>
          <a:ln w="12700">
            <a:solidFill>
              <a:schemeClr val="accent2"/>
            </a:solidFill>
            <a:prstDash val="solid"/>
          </a:ln>
        </p:spPr>
      </p:sp>
      <p:sp>
        <p:nvSpPr>
          <p:cNvPr id="30" name="badge-text-271"/>
          <p:cNvSpPr txBox="1"/>
          <p:nvPr/>
        </p:nvSpPr>
        <p:spPr>
          <a:xfrm>
            <a:off x="10433304" y="17830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31" name="text-272"/>
          <p:cNvSpPr txBox="1"/>
          <p:nvPr/>
        </p:nvSpPr>
        <p:spPr>
          <a:xfrm>
            <a:off x="9829800" y="2468880"/>
            <a:ext cx="1764792" cy="365760"/>
          </a:xfrm>
          <a:prstGeom prst="rect">
            <a:avLst/>
          </a:prstGeom>
          <a:noFill/>
          <a:ln/>
        </p:spPr>
        <p:txBody>
          <a:bodyPr wrap="square" lIns="0" tIns="0" rIns="0" bIns="0" rtlCol="0" anchor="t"/>
          <a:lstStyle/>
          <a:p>
            <a:pPr algn="ctr" indent="0" marL="0">
              <a:buNone/>
            </a:pPr>
            <a:r>
              <a:rPr lang="en-US" sz="1600" b="1" dirty="0">
                <a:solidFill>
                  <a:schemeClr val="tx2"/>
                </a:solidFill>
              </a:rPr>
              <a:t>Nov 12–18</a:t>
            </a:r>
            <a:endParaRPr lang="en-US" sz="1600" dirty="0"/>
          </a:p>
        </p:txBody>
      </p:sp>
      <p:sp>
        <p:nvSpPr>
          <p:cNvPr id="32" name="card-273"/>
          <p:cNvSpPr/>
          <p:nvPr/>
        </p:nvSpPr>
        <p:spPr>
          <a:xfrm>
            <a:off x="9829800" y="2880360"/>
            <a:ext cx="1764792" cy="1600200"/>
          </a:xfrm>
          <a:prstGeom prst="roundRect">
            <a:avLst>
              <a:gd name="adj" fmla="val 4571"/>
            </a:avLst>
          </a:prstGeom>
          <a:solidFill>
            <a:schemeClr val="bg2"/>
          </a:solidFill>
          <a:ln w="12700">
            <a:solidFill>
              <a:schemeClr val="bg2"/>
            </a:solidFill>
            <a:prstDash val="solid"/>
          </a:ln>
        </p:spPr>
      </p:sp>
      <p:sp>
        <p:nvSpPr>
          <p:cNvPr id="33" name="text-274"/>
          <p:cNvSpPr txBox="1"/>
          <p:nvPr/>
        </p:nvSpPr>
        <p:spPr>
          <a:xfrm>
            <a:off x="9966960" y="3017520"/>
            <a:ext cx="1508760" cy="1371600"/>
          </a:xfrm>
          <a:prstGeom prst="rect">
            <a:avLst/>
          </a:prstGeom>
          <a:noFill/>
          <a:ln/>
        </p:spPr>
        <p:txBody>
          <a:bodyPr wrap="square" lIns="0" tIns="0" rIns="0" bIns="0" rtlCol="0" anchor="t"/>
          <a:lstStyle/>
          <a:p>
            <a:pPr indent="0" marL="0">
              <a:buNone/>
            </a:pPr>
            <a:r>
              <a:rPr lang="en-US" sz="1400" dirty="0">
                <a:solidFill>
                  <a:schemeClr val="tx1"/>
                </a:solidFill>
              </a:rPr>
              <a:t>Freeze Nov 15, fixes, rehearsals, paper</a:t>
            </a:r>
            <a:endParaRPr lang="en-US" sz="1400" dirty="0"/>
          </a:p>
        </p:txBody>
      </p:sp>
      <p:sp>
        <p:nvSpPr>
          <p:cNvPr id="34" name="card-275"/>
          <p:cNvSpPr/>
          <p:nvPr/>
        </p:nvSpPr>
        <p:spPr>
          <a:xfrm>
            <a:off x="548640" y="4800600"/>
            <a:ext cx="5440680" cy="1325880"/>
          </a:xfrm>
          <a:prstGeom prst="roundRect">
            <a:avLst>
              <a:gd name="adj" fmla="val 5517"/>
            </a:avLst>
          </a:prstGeom>
          <a:solidFill>
            <a:schemeClr val="tx2"/>
          </a:solidFill>
          <a:ln w="12700">
            <a:solidFill>
              <a:schemeClr val="tx2"/>
            </a:solidFill>
            <a:prstDash val="solid"/>
          </a:ln>
        </p:spPr>
      </p:sp>
      <p:sp>
        <p:nvSpPr>
          <p:cNvPr id="35" name="text-276"/>
          <p:cNvSpPr txBox="1"/>
          <p:nvPr/>
        </p:nvSpPr>
        <p:spPr>
          <a:xfrm>
            <a:off x="777240" y="4800600"/>
            <a:ext cx="5029200" cy="1325880"/>
          </a:xfrm>
          <a:prstGeom prst="rect">
            <a:avLst/>
          </a:prstGeom>
          <a:noFill/>
          <a:ln/>
        </p:spPr>
        <p:txBody>
          <a:bodyPr wrap="square" lIns="0" tIns="0" rIns="0" bIns="0" rtlCol="0" anchor="ctr"/>
          <a:lstStyle/>
          <a:p>
            <a:pPr indent="0" marL="0">
              <a:buNone/>
            </a:pPr>
            <a:r>
              <a:rPr lang="en-US" sz="1600" b="1" dirty="0">
                <a:solidFill>
                  <a:schemeClr val="accent2"/>
                </a:solidFill>
              </a:rPr>
              <a:t>Oct 22  </a:t>
            </a:r>
            <a:pPr indent="0" marL="0">
              <a:buNone/>
            </a:pPr>
            <a:r>
              <a:rPr lang="en-US" sz="1600" dirty="0">
                <a:solidFill>
                  <a:schemeClr val="bg1"/>
                </a:solidFill>
              </a:rPr>
              <a:t>Requirements presentation (mid-term project milestone)</a:t>
            </a:r>
            <a:endParaRPr lang="en-US" sz="1600" dirty="0"/>
          </a:p>
        </p:txBody>
      </p:sp>
      <p:sp>
        <p:nvSpPr>
          <p:cNvPr id="36" name="card-277"/>
          <p:cNvSpPr/>
          <p:nvPr/>
        </p:nvSpPr>
        <p:spPr>
          <a:xfrm>
            <a:off x="6199632" y="4800600"/>
            <a:ext cx="5440680" cy="1325880"/>
          </a:xfrm>
          <a:prstGeom prst="roundRect">
            <a:avLst>
              <a:gd name="adj" fmla="val 5517"/>
            </a:avLst>
          </a:prstGeom>
          <a:solidFill>
            <a:schemeClr val="accent1"/>
          </a:solidFill>
          <a:ln w="12700">
            <a:solidFill>
              <a:schemeClr val="accent1"/>
            </a:solidFill>
            <a:prstDash val="solid"/>
          </a:ln>
        </p:spPr>
      </p:sp>
      <p:sp>
        <p:nvSpPr>
          <p:cNvPr id="37" name="text-278"/>
          <p:cNvSpPr txBox="1"/>
          <p:nvPr/>
        </p:nvSpPr>
        <p:spPr>
          <a:xfrm>
            <a:off x="6428232" y="4800600"/>
            <a:ext cx="5029200" cy="1325880"/>
          </a:xfrm>
          <a:prstGeom prst="rect">
            <a:avLst/>
          </a:prstGeom>
          <a:noFill/>
          <a:ln/>
        </p:spPr>
        <p:txBody>
          <a:bodyPr wrap="square" lIns="0" tIns="0" rIns="0" bIns="0" rtlCol="0" anchor="ctr"/>
          <a:lstStyle/>
          <a:p>
            <a:pPr indent="0" marL="0">
              <a:buNone/>
            </a:pPr>
            <a:r>
              <a:rPr lang="en-US" sz="1600" b="1" dirty="0">
                <a:solidFill>
                  <a:schemeClr val="accent2"/>
                </a:solidFill>
              </a:rPr>
              <a:t>Oct 29 checkpoint  </a:t>
            </a:r>
            <a:pPr indent="0" marL="0">
              <a:buNone/>
            </a:pPr>
            <a:r>
              <a:rPr lang="en-US" sz="1600" dirty="0">
                <a:solidFill>
                  <a:schemeClr val="bg1"/>
                </a:solidFill>
              </a:rPr>
              <a:t>One feature live end-to-end, or fall back to Option A</a:t>
            </a:r>
            <a:endParaRPr lang="en-US" sz="1600" dirty="0"/>
          </a:p>
        </p:txBody>
      </p:sp>
      <p:sp>
        <p:nvSpPr>
          <p:cNvPr id="25" name="Slide Number Placeholder 0"/>
          <p:cNvSpPr>
            <a:spLocks noGrp="1"/>
          </p:cNvSpPr>
          <p:nvPr>
            <p:ph type="sldNum" sz="quarter" idx="4294967295"/>
          </p:nvPr>
        </p:nvSpPr>
        <p:spPr>
          <a:xfrm>
            <a:off x="11247120" y="6400800"/>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8"/>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Who owns what</a:t>
            </a:r>
            <a:endParaRPr lang="en-US" sz="3200" dirty="0"/>
          </a:p>
        </p:txBody>
      </p:sp>
      <p:sp>
        <p:nvSpPr>
          <p:cNvPr id="3" name="text-279"/>
          <p:cNvSpPr txBox="1"/>
          <p:nvPr/>
        </p:nvSpPr>
        <p:spPr>
          <a:xfrm>
            <a:off x="548640" y="1097280"/>
            <a:ext cx="11064240" cy="457200"/>
          </a:xfrm>
          <a:prstGeom prst="rect">
            <a:avLst/>
          </a:prstGeom>
          <a:noFill/>
          <a:ln/>
        </p:spPr>
        <p:txBody>
          <a:bodyPr wrap="square" lIns="0" tIns="0" rIns="0" bIns="0" rtlCol="0" anchor="t"/>
          <a:lstStyle/>
          <a:p>
            <a:pPr indent="0" marL="0">
              <a:buNone/>
            </a:pPr>
            <a:r>
              <a:rPr lang="en-US" sz="1800" dirty="0">
                <a:solidFill>
                  <a:srgbClr val="4A4458"/>
                </a:solidFill>
              </a:rPr>
              <a:t>Roles follow the team description in Proposal §8.</a:t>
            </a:r>
            <a:endParaRPr lang="en-US" sz="1800" dirty="0"/>
          </a:p>
        </p:txBody>
      </p:sp>
      <p:sp>
        <p:nvSpPr>
          <p:cNvPr id="4" name="card-280"/>
          <p:cNvSpPr/>
          <p:nvPr/>
        </p:nvSpPr>
        <p:spPr>
          <a:xfrm>
            <a:off x="548640" y="1691640"/>
            <a:ext cx="11091672" cy="749808"/>
          </a:xfrm>
          <a:prstGeom prst="roundRect">
            <a:avLst>
              <a:gd name="adj" fmla="val 9756"/>
            </a:avLst>
          </a:prstGeom>
          <a:solidFill>
            <a:schemeClr val="bg2"/>
          </a:solidFill>
          <a:ln w="12700">
            <a:solidFill>
              <a:schemeClr val="bg2"/>
            </a:solidFill>
            <a:prstDash val="solid"/>
          </a:ln>
        </p:spPr>
      </p:sp>
      <p:sp>
        <p:nvSpPr>
          <p:cNvPr id="5" name="badge-281"/>
          <p:cNvSpPr/>
          <p:nvPr/>
        </p:nvSpPr>
        <p:spPr>
          <a:xfrm>
            <a:off x="731520" y="1792224"/>
            <a:ext cx="548640" cy="548640"/>
          </a:xfrm>
          <a:prstGeom prst="ellipse">
            <a:avLst/>
          </a:prstGeom>
          <a:solidFill>
            <a:schemeClr val="accent1"/>
          </a:solidFill>
          <a:ln w="12700">
            <a:solidFill>
              <a:schemeClr val="accent1"/>
            </a:solidFill>
            <a:prstDash val="solid"/>
          </a:ln>
        </p:spPr>
      </p:sp>
      <p:sp>
        <p:nvSpPr>
          <p:cNvPr id="6" name="badge-text-282"/>
          <p:cNvSpPr txBox="1"/>
          <p:nvPr/>
        </p:nvSpPr>
        <p:spPr>
          <a:xfrm>
            <a:off x="731520" y="1792224"/>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PM</a:t>
            </a:r>
            <a:endParaRPr lang="en-US" sz="1600" dirty="0"/>
          </a:p>
        </p:txBody>
      </p:sp>
      <p:sp>
        <p:nvSpPr>
          <p:cNvPr id="7" name="text-283"/>
          <p:cNvSpPr txBox="1"/>
          <p:nvPr/>
        </p:nvSpPr>
        <p:spPr>
          <a:xfrm>
            <a:off x="1463040" y="1691640"/>
            <a:ext cx="3200400" cy="749808"/>
          </a:xfrm>
          <a:prstGeom prst="rect">
            <a:avLst/>
          </a:prstGeom>
          <a:noFill/>
          <a:ln/>
        </p:spPr>
        <p:txBody>
          <a:bodyPr wrap="square" lIns="0" tIns="0" rIns="0" bIns="0" rtlCol="0" anchor="ctr"/>
          <a:lstStyle/>
          <a:p>
            <a:pPr indent="0" marL="0">
              <a:buNone/>
            </a:pPr>
            <a:r>
              <a:rPr lang="en-US" sz="1600" b="1" dirty="0">
                <a:solidFill>
                  <a:schemeClr val="tx2"/>
                </a:solidFill>
              </a:rPr>
              <a:t>Project management + requirements</a:t>
            </a:r>
            <a:endParaRPr lang="en-US" sz="1600" dirty="0"/>
          </a:p>
        </p:txBody>
      </p:sp>
      <p:sp>
        <p:nvSpPr>
          <p:cNvPr id="8" name="text-284"/>
          <p:cNvSpPr txBox="1"/>
          <p:nvPr/>
        </p:nvSpPr>
        <p:spPr>
          <a:xfrm>
            <a:off x="4709160" y="1691640"/>
            <a:ext cx="3108960" cy="749808"/>
          </a:xfrm>
          <a:prstGeom prst="rect">
            <a:avLst/>
          </a:prstGeom>
          <a:noFill/>
          <a:ln/>
        </p:spPr>
        <p:txBody>
          <a:bodyPr wrap="square" lIns="0" tIns="0" rIns="0" bIns="0" rtlCol="0" anchor="ctr"/>
          <a:lstStyle/>
          <a:p>
            <a:pPr indent="0" marL="0">
              <a:buNone/>
            </a:pPr>
            <a:r>
              <a:rPr lang="en-US" sz="1500" dirty="0">
                <a:solidFill>
                  <a:schemeClr val="tx1"/>
                </a:solidFill>
              </a:rPr>
              <a:t>Cecilio · Damario Johnson</a:t>
            </a:r>
            <a:endParaRPr lang="en-US" sz="1500" dirty="0"/>
          </a:p>
        </p:txBody>
      </p:sp>
      <p:sp>
        <p:nvSpPr>
          <p:cNvPr id="9" name="text-285"/>
          <p:cNvSpPr txBox="1"/>
          <p:nvPr/>
        </p:nvSpPr>
        <p:spPr>
          <a:xfrm>
            <a:off x="7863840" y="1691640"/>
            <a:ext cx="3657600" cy="749808"/>
          </a:xfrm>
          <a:prstGeom prst="rect">
            <a:avLst/>
          </a:prstGeom>
          <a:noFill/>
          <a:ln/>
        </p:spPr>
        <p:txBody>
          <a:bodyPr wrap="square" lIns="0" tIns="0" rIns="0" bIns="0" rtlCol="0" anchor="ctr"/>
          <a:lstStyle/>
          <a:p>
            <a:pPr indent="0" marL="0">
              <a:buNone/>
            </a:pPr>
            <a:r>
              <a:rPr lang="en-US" sz="1400" dirty="0">
                <a:solidFill>
                  <a:srgbClr val="4A4458"/>
                </a:solidFill>
              </a:rPr>
              <a:t>Jira board, requirements document, pantry interview</a:t>
            </a:r>
            <a:endParaRPr lang="en-US" sz="1400" dirty="0"/>
          </a:p>
        </p:txBody>
      </p:sp>
      <p:sp>
        <p:nvSpPr>
          <p:cNvPr id="10" name="card-286"/>
          <p:cNvSpPr/>
          <p:nvPr/>
        </p:nvSpPr>
        <p:spPr>
          <a:xfrm>
            <a:off x="548640" y="2578608"/>
            <a:ext cx="11091672" cy="749808"/>
          </a:xfrm>
          <a:prstGeom prst="roundRect">
            <a:avLst>
              <a:gd name="adj" fmla="val 9756"/>
            </a:avLst>
          </a:prstGeom>
          <a:solidFill>
            <a:schemeClr val="bg2"/>
          </a:solidFill>
          <a:ln w="12700">
            <a:solidFill>
              <a:schemeClr val="bg2"/>
            </a:solidFill>
            <a:prstDash val="solid"/>
          </a:ln>
        </p:spPr>
      </p:sp>
      <p:sp>
        <p:nvSpPr>
          <p:cNvPr id="11" name="badge-287"/>
          <p:cNvSpPr/>
          <p:nvPr/>
        </p:nvSpPr>
        <p:spPr>
          <a:xfrm>
            <a:off x="731520" y="2679192"/>
            <a:ext cx="548640" cy="548640"/>
          </a:xfrm>
          <a:prstGeom prst="ellipse">
            <a:avLst/>
          </a:prstGeom>
          <a:solidFill>
            <a:schemeClr val="accent1"/>
          </a:solidFill>
          <a:ln w="12700">
            <a:solidFill>
              <a:schemeClr val="accent1"/>
            </a:solidFill>
            <a:prstDash val="solid"/>
          </a:ln>
        </p:spPr>
      </p:sp>
      <p:sp>
        <p:nvSpPr>
          <p:cNvPr id="12" name="badge-text-288"/>
          <p:cNvSpPr txBox="1"/>
          <p:nvPr/>
        </p:nvSpPr>
        <p:spPr>
          <a:xfrm>
            <a:off x="731520" y="2679192"/>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UI</a:t>
            </a:r>
            <a:endParaRPr lang="en-US" sz="1600" dirty="0"/>
          </a:p>
        </p:txBody>
      </p:sp>
      <p:sp>
        <p:nvSpPr>
          <p:cNvPr id="13" name="text-289"/>
          <p:cNvSpPr txBox="1"/>
          <p:nvPr/>
        </p:nvSpPr>
        <p:spPr>
          <a:xfrm>
            <a:off x="1463040" y="2578608"/>
            <a:ext cx="3200400" cy="749808"/>
          </a:xfrm>
          <a:prstGeom prst="rect">
            <a:avLst/>
          </a:prstGeom>
          <a:noFill/>
          <a:ln/>
        </p:spPr>
        <p:txBody>
          <a:bodyPr wrap="square" lIns="0" tIns="0" rIns="0" bIns="0" rtlCol="0" anchor="ctr"/>
          <a:lstStyle/>
          <a:p>
            <a:pPr indent="0" marL="0">
              <a:buNone/>
            </a:pPr>
            <a:r>
              <a:rPr lang="en-US" sz="1600" b="1" dirty="0">
                <a:solidFill>
                  <a:schemeClr val="tx2"/>
                </a:solidFill>
              </a:rPr>
              <a:t>Frontend (React)</a:t>
            </a:r>
            <a:endParaRPr lang="en-US" sz="1600" dirty="0"/>
          </a:p>
        </p:txBody>
      </p:sp>
      <p:sp>
        <p:nvSpPr>
          <p:cNvPr id="14" name="text-290"/>
          <p:cNvSpPr txBox="1"/>
          <p:nvPr/>
        </p:nvSpPr>
        <p:spPr>
          <a:xfrm>
            <a:off x="4709160" y="2578608"/>
            <a:ext cx="3108960" cy="749808"/>
          </a:xfrm>
          <a:prstGeom prst="rect">
            <a:avLst/>
          </a:prstGeom>
          <a:noFill/>
          <a:ln/>
        </p:spPr>
        <p:txBody>
          <a:bodyPr wrap="square" lIns="0" tIns="0" rIns="0" bIns="0" rtlCol="0" anchor="ctr"/>
          <a:lstStyle/>
          <a:p>
            <a:pPr indent="0" marL="0">
              <a:buNone/>
            </a:pPr>
            <a:r>
              <a:rPr lang="en-US" sz="1500" dirty="0">
                <a:solidFill>
                  <a:schemeClr val="tx1"/>
                </a:solidFill>
              </a:rPr>
              <a:t>Samuel · Alvi Anowar</a:t>
            </a:r>
            <a:endParaRPr lang="en-US" sz="1500" dirty="0"/>
          </a:p>
        </p:txBody>
      </p:sp>
      <p:sp>
        <p:nvSpPr>
          <p:cNvPr id="15" name="text-291"/>
          <p:cNvSpPr txBox="1"/>
          <p:nvPr/>
        </p:nvSpPr>
        <p:spPr>
          <a:xfrm>
            <a:off x="7863840" y="2578608"/>
            <a:ext cx="3657600" cy="749808"/>
          </a:xfrm>
          <a:prstGeom prst="rect">
            <a:avLst/>
          </a:prstGeom>
          <a:noFill/>
          <a:ln/>
        </p:spPr>
        <p:txBody>
          <a:bodyPr wrap="square" lIns="0" tIns="0" rIns="0" bIns="0" rtlCol="0" anchor="ctr"/>
          <a:lstStyle/>
          <a:p>
            <a:pPr indent="0" marL="0">
              <a:buNone/>
            </a:pPr>
            <a:r>
              <a:rPr lang="en-US" sz="1400" dirty="0">
                <a:solidFill>
                  <a:srgbClr val="4A4458"/>
                </a:solidFill>
              </a:rPr>
              <a:t>Figma wireframes, student and staff screens</a:t>
            </a:r>
            <a:endParaRPr lang="en-US" sz="1400" dirty="0"/>
          </a:p>
        </p:txBody>
      </p:sp>
      <p:sp>
        <p:nvSpPr>
          <p:cNvPr id="16" name="card-292"/>
          <p:cNvSpPr/>
          <p:nvPr/>
        </p:nvSpPr>
        <p:spPr>
          <a:xfrm>
            <a:off x="548640" y="3465576"/>
            <a:ext cx="11091672" cy="749808"/>
          </a:xfrm>
          <a:prstGeom prst="roundRect">
            <a:avLst>
              <a:gd name="adj" fmla="val 9756"/>
            </a:avLst>
          </a:prstGeom>
          <a:solidFill>
            <a:schemeClr val="bg2"/>
          </a:solidFill>
          <a:ln w="12700">
            <a:solidFill>
              <a:schemeClr val="bg2"/>
            </a:solidFill>
            <a:prstDash val="solid"/>
          </a:ln>
        </p:spPr>
      </p:sp>
      <p:sp>
        <p:nvSpPr>
          <p:cNvPr id="17" name="badge-293"/>
          <p:cNvSpPr/>
          <p:nvPr/>
        </p:nvSpPr>
        <p:spPr>
          <a:xfrm>
            <a:off x="731520" y="3566160"/>
            <a:ext cx="548640" cy="548640"/>
          </a:xfrm>
          <a:prstGeom prst="ellipse">
            <a:avLst/>
          </a:prstGeom>
          <a:solidFill>
            <a:schemeClr val="accent1"/>
          </a:solidFill>
          <a:ln w="12700">
            <a:solidFill>
              <a:schemeClr val="accent1"/>
            </a:solidFill>
            <a:prstDash val="solid"/>
          </a:ln>
        </p:spPr>
      </p:sp>
      <p:sp>
        <p:nvSpPr>
          <p:cNvPr id="18" name="badge-text-294"/>
          <p:cNvSpPr txBox="1"/>
          <p:nvPr/>
        </p:nvSpPr>
        <p:spPr>
          <a:xfrm>
            <a:off x="731520" y="3566160"/>
            <a:ext cx="548640" cy="548640"/>
          </a:xfrm>
          <a:prstGeom prst="rect">
            <a:avLst/>
          </a:prstGeom>
          <a:noFill/>
          <a:ln/>
        </p:spPr>
        <p:txBody>
          <a:bodyPr wrap="square" lIns="0" tIns="0" rIns="0" bIns="0" rtlCol="0" anchor="ctr"/>
          <a:lstStyle/>
          <a:p>
            <a:pPr algn="ctr" indent="0" marL="0">
              <a:buNone/>
            </a:pPr>
            <a:r>
              <a:rPr lang="en-US" sz="1300" b="1" dirty="0">
                <a:solidFill>
                  <a:schemeClr val="bg1"/>
                </a:solidFill>
              </a:rPr>
              <a:t>API</a:t>
            </a:r>
            <a:endParaRPr lang="en-US" sz="1300" dirty="0"/>
          </a:p>
        </p:txBody>
      </p:sp>
      <p:sp>
        <p:nvSpPr>
          <p:cNvPr id="19" name="text-295"/>
          <p:cNvSpPr txBox="1"/>
          <p:nvPr/>
        </p:nvSpPr>
        <p:spPr>
          <a:xfrm>
            <a:off x="1463040" y="3465576"/>
            <a:ext cx="3200400" cy="749808"/>
          </a:xfrm>
          <a:prstGeom prst="rect">
            <a:avLst/>
          </a:prstGeom>
          <a:noFill/>
          <a:ln/>
        </p:spPr>
        <p:txBody>
          <a:bodyPr wrap="square" lIns="0" tIns="0" rIns="0" bIns="0" rtlCol="0" anchor="ctr"/>
          <a:lstStyle/>
          <a:p>
            <a:pPr indent="0" marL="0">
              <a:buNone/>
            </a:pPr>
            <a:r>
              <a:rPr lang="en-US" sz="1600" b="1" dirty="0">
                <a:solidFill>
                  <a:schemeClr val="tx2"/>
                </a:solidFill>
              </a:rPr>
              <a:t>Backend + database (FastAPI)</a:t>
            </a:r>
            <a:endParaRPr lang="en-US" sz="1600" dirty="0"/>
          </a:p>
        </p:txBody>
      </p:sp>
      <p:sp>
        <p:nvSpPr>
          <p:cNvPr id="20" name="text-296"/>
          <p:cNvSpPr txBox="1"/>
          <p:nvPr/>
        </p:nvSpPr>
        <p:spPr>
          <a:xfrm>
            <a:off x="4709160" y="3465576"/>
            <a:ext cx="3108960" cy="749808"/>
          </a:xfrm>
          <a:prstGeom prst="rect">
            <a:avLst/>
          </a:prstGeom>
          <a:noFill/>
          <a:ln/>
        </p:spPr>
        <p:txBody>
          <a:bodyPr wrap="square" lIns="0" tIns="0" rIns="0" bIns="0" rtlCol="0" anchor="ctr"/>
          <a:lstStyle/>
          <a:p>
            <a:pPr indent="0" marL="0">
              <a:buNone/>
            </a:pPr>
            <a:r>
              <a:rPr lang="en-US" sz="1500" dirty="0">
                <a:solidFill>
                  <a:schemeClr val="tx1"/>
                </a:solidFill>
              </a:rPr>
              <a:t>Oluwafemi Bamidele · Joshua Gado</a:t>
            </a:r>
            <a:endParaRPr lang="en-US" sz="1500" dirty="0"/>
          </a:p>
        </p:txBody>
      </p:sp>
      <p:sp>
        <p:nvSpPr>
          <p:cNvPr id="21" name="text-297"/>
          <p:cNvSpPr txBox="1"/>
          <p:nvPr/>
        </p:nvSpPr>
        <p:spPr>
          <a:xfrm>
            <a:off x="7863840" y="3465576"/>
            <a:ext cx="3657600" cy="749808"/>
          </a:xfrm>
          <a:prstGeom prst="rect">
            <a:avLst/>
          </a:prstGeom>
          <a:noFill/>
          <a:ln/>
        </p:spPr>
        <p:txBody>
          <a:bodyPr wrap="square" lIns="0" tIns="0" rIns="0" bIns="0" rtlCol="0" anchor="ctr"/>
          <a:lstStyle/>
          <a:p>
            <a:pPr indent="0" marL="0">
              <a:buNone/>
            </a:pPr>
            <a:r>
              <a:rPr lang="en-US" sz="1400" dirty="0">
                <a:solidFill>
                  <a:srgbClr val="4A4458"/>
                </a:solidFill>
              </a:rPr>
              <a:t>Modules, schema, migrations, the distribution transaction</a:t>
            </a:r>
            <a:endParaRPr lang="en-US" sz="1400" dirty="0"/>
          </a:p>
        </p:txBody>
      </p:sp>
      <p:sp>
        <p:nvSpPr>
          <p:cNvPr id="22" name="card-298"/>
          <p:cNvSpPr/>
          <p:nvPr/>
        </p:nvSpPr>
        <p:spPr>
          <a:xfrm>
            <a:off x="548640" y="4352544"/>
            <a:ext cx="11091672" cy="749808"/>
          </a:xfrm>
          <a:prstGeom prst="roundRect">
            <a:avLst>
              <a:gd name="adj" fmla="val 9756"/>
            </a:avLst>
          </a:prstGeom>
          <a:solidFill>
            <a:schemeClr val="bg2"/>
          </a:solidFill>
          <a:ln w="12700">
            <a:solidFill>
              <a:schemeClr val="bg2"/>
            </a:solidFill>
            <a:prstDash val="solid"/>
          </a:ln>
        </p:spPr>
      </p:sp>
      <p:sp>
        <p:nvSpPr>
          <p:cNvPr id="23" name="badge-299"/>
          <p:cNvSpPr/>
          <p:nvPr/>
        </p:nvSpPr>
        <p:spPr>
          <a:xfrm>
            <a:off x="731520" y="4453128"/>
            <a:ext cx="548640" cy="548640"/>
          </a:xfrm>
          <a:prstGeom prst="ellipse">
            <a:avLst/>
          </a:prstGeom>
          <a:solidFill>
            <a:schemeClr val="accent1"/>
          </a:solidFill>
          <a:ln w="12700">
            <a:solidFill>
              <a:schemeClr val="accent1"/>
            </a:solidFill>
            <a:prstDash val="solid"/>
          </a:ln>
        </p:spPr>
      </p:sp>
      <p:sp>
        <p:nvSpPr>
          <p:cNvPr id="24" name="badge-text-300"/>
          <p:cNvSpPr txBox="1"/>
          <p:nvPr/>
        </p:nvSpPr>
        <p:spPr>
          <a:xfrm>
            <a:off x="731520" y="4453128"/>
            <a:ext cx="548640" cy="548640"/>
          </a:xfrm>
          <a:prstGeom prst="rect">
            <a:avLst/>
          </a:prstGeom>
          <a:noFill/>
          <a:ln/>
        </p:spPr>
        <p:txBody>
          <a:bodyPr wrap="square" lIns="0" tIns="0" rIns="0" bIns="0" rtlCol="0" anchor="ctr"/>
          <a:lstStyle/>
          <a:p>
            <a:pPr algn="ctr" indent="0" marL="0">
              <a:buNone/>
            </a:pPr>
            <a:r>
              <a:rPr lang="en-US" sz="1300" b="1" dirty="0">
                <a:solidFill>
                  <a:schemeClr val="bg1"/>
                </a:solidFill>
              </a:rPr>
              <a:t>Ops</a:t>
            </a:r>
            <a:endParaRPr lang="en-US" sz="1300" dirty="0"/>
          </a:p>
        </p:txBody>
      </p:sp>
      <p:sp>
        <p:nvSpPr>
          <p:cNvPr id="25" name="text-301"/>
          <p:cNvSpPr txBox="1"/>
          <p:nvPr/>
        </p:nvSpPr>
        <p:spPr>
          <a:xfrm>
            <a:off x="1463040" y="4352544"/>
            <a:ext cx="3200400" cy="749808"/>
          </a:xfrm>
          <a:prstGeom prst="rect">
            <a:avLst/>
          </a:prstGeom>
          <a:noFill/>
          <a:ln/>
        </p:spPr>
        <p:txBody>
          <a:bodyPr wrap="square" lIns="0" tIns="0" rIns="0" bIns="0" rtlCol="0" anchor="ctr"/>
          <a:lstStyle/>
          <a:p>
            <a:pPr indent="0" marL="0">
              <a:buNone/>
            </a:pPr>
            <a:r>
              <a:rPr lang="en-US" sz="1600" b="1" dirty="0">
                <a:solidFill>
                  <a:schemeClr val="tx2"/>
                </a:solidFill>
              </a:rPr>
              <a:t>DevOps + testing</a:t>
            </a:r>
            <a:endParaRPr lang="en-US" sz="1600" dirty="0"/>
          </a:p>
        </p:txBody>
      </p:sp>
      <p:sp>
        <p:nvSpPr>
          <p:cNvPr id="26" name="text-302"/>
          <p:cNvSpPr txBox="1"/>
          <p:nvPr/>
        </p:nvSpPr>
        <p:spPr>
          <a:xfrm>
            <a:off x="4709160" y="4352544"/>
            <a:ext cx="3108960" cy="749808"/>
          </a:xfrm>
          <a:prstGeom prst="rect">
            <a:avLst/>
          </a:prstGeom>
          <a:noFill/>
          <a:ln/>
        </p:spPr>
        <p:txBody>
          <a:bodyPr wrap="square" lIns="0" tIns="0" rIns="0" bIns="0" rtlCol="0" anchor="ctr"/>
          <a:lstStyle/>
          <a:p>
            <a:pPr indent="0" marL="0">
              <a:buNone/>
            </a:pPr>
            <a:r>
              <a:rPr lang="en-US" sz="1500" dirty="0">
                <a:solidFill>
                  <a:schemeClr val="tx1"/>
                </a:solidFill>
              </a:rPr>
              <a:t>Franck Darole</a:t>
            </a:r>
            <a:endParaRPr lang="en-US" sz="1500" dirty="0"/>
          </a:p>
        </p:txBody>
      </p:sp>
      <p:sp>
        <p:nvSpPr>
          <p:cNvPr id="27" name="text-303"/>
          <p:cNvSpPr txBox="1"/>
          <p:nvPr/>
        </p:nvSpPr>
        <p:spPr>
          <a:xfrm>
            <a:off x="7863840" y="4352544"/>
            <a:ext cx="3657600" cy="749808"/>
          </a:xfrm>
          <a:prstGeom prst="rect">
            <a:avLst/>
          </a:prstGeom>
          <a:noFill/>
          <a:ln/>
        </p:spPr>
        <p:txBody>
          <a:bodyPr wrap="square" lIns="0" tIns="0" rIns="0" bIns="0" rtlCol="0" anchor="ctr"/>
          <a:lstStyle/>
          <a:p>
            <a:pPr indent="0" marL="0">
              <a:buNone/>
            </a:pPr>
            <a:r>
              <a:rPr lang="en-US" sz="1400" dirty="0">
                <a:solidFill>
                  <a:srgbClr val="4A4458"/>
                </a:solidFill>
              </a:rPr>
              <a:t>Docker, CI/CD pipeline, deployment, test suite</a:t>
            </a:r>
            <a:endParaRPr lang="en-US" sz="1400" dirty="0"/>
          </a:p>
        </p:txBody>
      </p:sp>
      <p:sp>
        <p:nvSpPr>
          <p:cNvPr id="28" name="card-304"/>
          <p:cNvSpPr/>
          <p:nvPr/>
        </p:nvSpPr>
        <p:spPr>
          <a:xfrm>
            <a:off x="548640" y="5239512"/>
            <a:ext cx="11091672" cy="749808"/>
          </a:xfrm>
          <a:prstGeom prst="roundRect">
            <a:avLst>
              <a:gd name="adj" fmla="val 9756"/>
            </a:avLst>
          </a:prstGeom>
          <a:solidFill>
            <a:schemeClr val="bg2"/>
          </a:solidFill>
          <a:ln w="12700">
            <a:solidFill>
              <a:schemeClr val="bg2"/>
            </a:solidFill>
            <a:prstDash val="solid"/>
          </a:ln>
        </p:spPr>
      </p:sp>
      <p:sp>
        <p:nvSpPr>
          <p:cNvPr id="29" name="badge-305"/>
          <p:cNvSpPr/>
          <p:nvPr/>
        </p:nvSpPr>
        <p:spPr>
          <a:xfrm>
            <a:off x="731520" y="5340096"/>
            <a:ext cx="548640" cy="548640"/>
          </a:xfrm>
          <a:prstGeom prst="ellipse">
            <a:avLst/>
          </a:prstGeom>
          <a:solidFill>
            <a:schemeClr val="accent1"/>
          </a:solidFill>
          <a:ln w="12700">
            <a:solidFill>
              <a:schemeClr val="accent1"/>
            </a:solidFill>
            <a:prstDash val="solid"/>
          </a:ln>
        </p:spPr>
      </p:sp>
      <p:sp>
        <p:nvSpPr>
          <p:cNvPr id="30" name="badge-text-306"/>
          <p:cNvSpPr txBox="1"/>
          <p:nvPr/>
        </p:nvSpPr>
        <p:spPr>
          <a:xfrm>
            <a:off x="731520" y="5340096"/>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QA</a:t>
            </a:r>
            <a:endParaRPr lang="en-US" sz="1600" dirty="0"/>
          </a:p>
        </p:txBody>
      </p:sp>
      <p:sp>
        <p:nvSpPr>
          <p:cNvPr id="31" name="text-307"/>
          <p:cNvSpPr txBox="1"/>
          <p:nvPr/>
        </p:nvSpPr>
        <p:spPr>
          <a:xfrm>
            <a:off x="1463040" y="5239512"/>
            <a:ext cx="3200400" cy="749808"/>
          </a:xfrm>
          <a:prstGeom prst="rect">
            <a:avLst/>
          </a:prstGeom>
          <a:noFill/>
          <a:ln/>
        </p:spPr>
        <p:txBody>
          <a:bodyPr wrap="square" lIns="0" tIns="0" rIns="0" bIns="0" rtlCol="0" anchor="ctr"/>
          <a:lstStyle/>
          <a:p>
            <a:pPr indent="0" marL="0">
              <a:buNone/>
            </a:pPr>
            <a:r>
              <a:rPr lang="en-US" sz="1600" b="1" dirty="0">
                <a:solidFill>
                  <a:schemeClr val="tx2"/>
                </a:solidFill>
              </a:rPr>
              <a:t>Integration + presentation</a:t>
            </a:r>
            <a:endParaRPr lang="en-US" sz="1600" dirty="0"/>
          </a:p>
        </p:txBody>
      </p:sp>
      <p:sp>
        <p:nvSpPr>
          <p:cNvPr id="32" name="text-308"/>
          <p:cNvSpPr txBox="1"/>
          <p:nvPr/>
        </p:nvSpPr>
        <p:spPr>
          <a:xfrm>
            <a:off x="4709160" y="5239512"/>
            <a:ext cx="3108960" cy="749808"/>
          </a:xfrm>
          <a:prstGeom prst="rect">
            <a:avLst/>
          </a:prstGeom>
          <a:noFill/>
          <a:ln/>
        </p:spPr>
        <p:txBody>
          <a:bodyPr wrap="square" lIns="0" tIns="0" rIns="0" bIns="0" rtlCol="0" anchor="ctr"/>
          <a:lstStyle/>
          <a:p>
            <a:pPr indent="0" marL="0">
              <a:buNone/>
            </a:pPr>
            <a:r>
              <a:rPr lang="en-US" sz="1500" dirty="0">
                <a:solidFill>
                  <a:schemeClr val="tx1"/>
                </a:solidFill>
              </a:rPr>
              <a:t>Usman Jibril</a:t>
            </a:r>
            <a:endParaRPr lang="en-US" sz="1500" dirty="0"/>
          </a:p>
        </p:txBody>
      </p:sp>
      <p:sp>
        <p:nvSpPr>
          <p:cNvPr id="33" name="text-309"/>
          <p:cNvSpPr txBox="1"/>
          <p:nvPr/>
        </p:nvSpPr>
        <p:spPr>
          <a:xfrm>
            <a:off x="7863840" y="5239512"/>
            <a:ext cx="3657600" cy="749808"/>
          </a:xfrm>
          <a:prstGeom prst="rect">
            <a:avLst/>
          </a:prstGeom>
          <a:noFill/>
          <a:ln/>
        </p:spPr>
        <p:txBody>
          <a:bodyPr wrap="square" lIns="0" tIns="0" rIns="0" bIns="0" rtlCol="0" anchor="ctr"/>
          <a:lstStyle/>
          <a:p>
            <a:pPr indent="0" marL="0">
              <a:buNone/>
            </a:pPr>
            <a:r>
              <a:rPr lang="en-US" sz="1400" dirty="0">
                <a:solidFill>
                  <a:srgbClr val="4A4458"/>
                </a:solidFill>
              </a:rPr>
              <a:t>End-to-end tests, documentation, final presentation</a:t>
            </a:r>
            <a:endParaRPr lang="en-US" sz="1400" dirty="0"/>
          </a:p>
        </p:txBody>
      </p:sp>
      <p:sp>
        <p:nvSpPr>
          <p:cNvPr id="25" name="Slide Number Placeholder 0"/>
          <p:cNvSpPr>
            <a:spLocks noGrp="1"/>
          </p:cNvSpPr>
          <p:nvPr>
            <p:ph type="sldNum" sz="quarter" idx="4294967295"/>
          </p:nvPr>
        </p:nvSpPr>
        <p:spPr>
          <a:xfrm>
            <a:off x="11247120" y="6400800"/>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8"/>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Risks and how we handle them</a:t>
            </a:r>
            <a:endParaRPr lang="en-US" sz="3200" dirty="0"/>
          </a:p>
        </p:txBody>
      </p:sp>
      <p:graphicFrame>
        <p:nvGraphicFramePr>
          <p:cNvPr id="28" name="risks-31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3566160"/>
                <a:gridCol w="2743200"/>
                <a:gridCol w="4782312"/>
              </a:tblGrid>
              <a:tr h="868680">
                <a:tc>
                  <a:txBody>
                    <a:bodyPr/>
                    <a:lstStyle/>
                    <a:p>
                      <a:pPr indent="0" marL="0">
                        <a:buNone/>
                      </a:pPr>
                      <a:r>
                        <a:rPr lang="en-US" sz="1400" b="1" dirty="0">
                          <a:solidFill>
                            <a:schemeClr val="bg1"/>
                          </a:solidFill>
                        </a:rPr>
                        <a:t>Risk</a:t>
                      </a:r>
                      <a:endParaRPr lang="en-US" sz="1400" dirty="0"/>
                    </a:p>
                  </a:txBody>
                  <a:tcPr marL="101600" marR="101600" marT="50800" marB="508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Impact</a:t>
                      </a:r>
                      <a:endParaRPr lang="en-US" sz="1400" dirty="0"/>
                    </a:p>
                  </a:txBody>
                  <a:tcPr marL="101600" marR="101600" marT="50800" marB="508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Response</a:t>
                      </a:r>
                      <a:endParaRPr lang="en-US" sz="1400" dirty="0"/>
                    </a:p>
                  </a:txBody>
                  <a:tcPr marL="101600" marR="101600" marT="50800" marB="508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chemeClr val="tx2"/>
                    </a:solidFill>
                  </a:tcPr>
                </a:tc>
              </a:tr>
              <a:tr h="868680">
                <a:tc>
                  <a:txBody>
                    <a:bodyPr/>
                    <a:lstStyle/>
                    <a:p>
                      <a:pPr indent="0" marL="0">
                        <a:buNone/>
                      </a:pPr>
                      <a:r>
                        <a:rPr lang="en-US" sz="1500" b="1" dirty="0">
                          <a:solidFill>
                            <a:schemeClr val="tx1"/>
                          </a:solidFill>
                        </a:rPr>
                        <a:t>We have not interviewed the pantry yet</a:t>
                      </a:r>
                      <a:endParaRPr lang="en-US" sz="1500" dirty="0"/>
                    </a:p>
                  </a:txBody>
                  <a:tcPr marL="101600" marR="101600" marT="50800" marB="508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4F1F8"/>
                    </a:solidFill>
                  </a:tcPr>
                </a:tc>
                <a:tc>
                  <a:txBody>
                    <a:bodyPr/>
                    <a:lstStyle/>
                    <a:p>
                      <a:pPr indent="0" marL="0">
                        <a:buNone/>
                      </a:pPr>
                      <a:r>
                        <a:rPr lang="en-US" sz="1500" dirty="0">
                          <a:solidFill>
                            <a:schemeClr val="tx1"/>
                          </a:solidFill>
                        </a:rPr>
                        <a:t>Requirements may not match reality</a:t>
                      </a:r>
                      <a:endParaRPr lang="en-US" sz="1500" dirty="0"/>
                    </a:p>
                  </a:txBody>
                  <a:tcPr marL="101600" marR="101600" marT="50800" marB="508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4F1F8"/>
                    </a:solidFill>
                  </a:tcPr>
                </a:tc>
                <a:tc>
                  <a:txBody>
                    <a:bodyPr/>
                    <a:lstStyle/>
                    <a:p>
                      <a:pPr indent="0" marL="0">
                        <a:buNone/>
                      </a:pPr>
                      <a:r>
                        <a:rPr lang="en-US" sz="1500" dirty="0">
                          <a:solidFill>
                            <a:schemeClr val="tx1"/>
                          </a:solidFill>
                        </a:rPr>
                        <a:t>30-minute interview before Oct 22; mark assumptions in the requirements document</a:t>
                      </a:r>
                      <a:endParaRPr lang="en-US" sz="1500" dirty="0"/>
                    </a:p>
                  </a:txBody>
                  <a:tcPr marL="101600" marR="101600" marT="50800" marB="508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4F1F8"/>
                    </a:solidFill>
                  </a:tcPr>
                </a:tc>
              </a:tr>
              <a:tr h="868680">
                <a:tc>
                  <a:txBody>
                    <a:bodyPr/>
                    <a:lstStyle/>
                    <a:p>
                      <a:pPr indent="0" marL="0">
                        <a:buNone/>
                      </a:pPr>
                      <a:r>
                        <a:rPr lang="en-US" sz="1500" b="1" dirty="0">
                          <a:solidFill>
                            <a:schemeClr val="tx1"/>
                          </a:solidFill>
                        </a:rPr>
                        <a:t>Free hosting sleeps or changes limits</a:t>
                      </a:r>
                      <a:endParaRPr lang="en-US" sz="1500" dirty="0"/>
                    </a:p>
                  </a:txBody>
                  <a:tcPr marL="101600" marR="101600" marT="50800" marB="508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Slow or failed live demo</a:t>
                      </a:r>
                      <a:endParaRPr lang="en-US" sz="1500" dirty="0"/>
                    </a:p>
                  </a:txBody>
                  <a:tcPr marL="101600" marR="101600" marT="50800" marB="508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Open the site 5 minutes early; local Docker copy ready</a:t>
                      </a:r>
                      <a:endParaRPr lang="en-US" sz="1500" dirty="0"/>
                    </a:p>
                  </a:txBody>
                  <a:tcPr marL="101600" marR="101600" marT="50800" marB="508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FFFFF"/>
                    </a:solidFill>
                  </a:tcPr>
                </a:tc>
              </a:tr>
              <a:tr h="868680">
                <a:tc>
                  <a:txBody>
                    <a:bodyPr/>
                    <a:lstStyle/>
                    <a:p>
                      <a:pPr indent="0" marL="0">
                        <a:buNone/>
                      </a:pPr>
                      <a:r>
                        <a:rPr lang="en-US" sz="1500" b="1" dirty="0">
                          <a:solidFill>
                            <a:schemeClr val="tx1"/>
                          </a:solidFill>
                        </a:rPr>
                        <a:t>Eight people, one codebase</a:t>
                      </a:r>
                      <a:endParaRPr lang="en-US" sz="1500" dirty="0"/>
                    </a:p>
                  </a:txBody>
                  <a:tcPr marL="101600" marR="101600" marT="50800" marB="508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4F1F8"/>
                    </a:solidFill>
                  </a:tcPr>
                </a:tc>
                <a:tc>
                  <a:txBody>
                    <a:bodyPr/>
                    <a:lstStyle/>
                    <a:p>
                      <a:pPr indent="0" marL="0">
                        <a:buNone/>
                      </a:pPr>
                      <a:r>
                        <a:rPr lang="en-US" sz="1500" dirty="0">
                          <a:solidFill>
                            <a:schemeClr val="tx1"/>
                          </a:solidFill>
                        </a:rPr>
                        <a:t>Merge conflicts, blocked work</a:t>
                      </a:r>
                      <a:endParaRPr lang="en-US" sz="1500" dirty="0"/>
                    </a:p>
                  </a:txBody>
                  <a:tcPr marL="101600" marR="101600" marT="50800" marB="508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4F1F8"/>
                    </a:solidFill>
                  </a:tcPr>
                </a:tc>
                <a:tc>
                  <a:txBody>
                    <a:bodyPr/>
                    <a:lstStyle/>
                    <a:p>
                      <a:pPr indent="0" marL="0">
                        <a:buNone/>
                      </a:pPr>
                      <a:r>
                        <a:rPr lang="en-US" sz="1500" dirty="0">
                          <a:solidFill>
                            <a:schemeClr val="tx1"/>
                          </a:solidFill>
                        </a:rPr>
                        <a:t>Module owners, small pull requests, CI must pass to merge</a:t>
                      </a:r>
                      <a:endParaRPr lang="en-US" sz="1500" dirty="0"/>
                    </a:p>
                  </a:txBody>
                  <a:tcPr marL="101600" marR="101600" marT="50800" marB="508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4F1F8"/>
                    </a:solidFill>
                  </a:tcPr>
                </a:tc>
              </a:tr>
              <a:tr h="868680">
                <a:tc>
                  <a:txBody>
                    <a:bodyPr/>
                    <a:lstStyle/>
                    <a:p>
                      <a:pPr indent="0" marL="0">
                        <a:buNone/>
                      </a:pPr>
                      <a:r>
                        <a:rPr lang="en-US" sz="1500" b="1" dirty="0">
                          <a:solidFill>
                            <a:schemeClr val="tx1"/>
                          </a:solidFill>
                        </a:rPr>
                        <a:t>React + FastAPI is new to some</a:t>
                      </a:r>
                      <a:endParaRPr lang="en-US" sz="1500" dirty="0"/>
                    </a:p>
                  </a:txBody>
                  <a:tcPr marL="101600" marR="101600" marT="50800" marB="508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Sprint 1–2 slip</a:t>
                      </a:r>
                      <a:endParaRPr lang="en-US" sz="1500" dirty="0"/>
                    </a:p>
                  </a:txBody>
                  <a:tcPr marL="101600" marR="101600" marT="50800" marB="508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Oct 29 checkpoint with Option A fallback</a:t>
                      </a:r>
                      <a:endParaRPr lang="en-US" sz="1500" dirty="0"/>
                    </a:p>
                  </a:txBody>
                  <a:tcPr marL="101600" marR="101600" marT="50800" marB="50800" anchor="ctr">
                    <a:lnL w="6350" cap="flat" cmpd="sng" algn="ctr">
                      <a:solidFill>
                        <a:srgbClr val="D9D3E3"/>
                      </a:solidFill>
                      <a:prstDash val="solid"/>
                      <a:round/>
                      <a:headEnd type="none" w="med" len="med"/>
                      <a:tailEnd type="none" w="med" len="med"/>
                    </a:lnL>
                    <a:lnR w="6350" cap="flat" cmpd="sng" algn="ctr">
                      <a:solidFill>
                        <a:srgbClr val="D9D3E3"/>
                      </a:solidFill>
                      <a:prstDash val="solid"/>
                      <a:round/>
                      <a:headEnd type="none" w="med" len="med"/>
                      <a:tailEnd type="none" w="med" len="med"/>
                    </a:lnR>
                    <a:lnT w="6350" cap="flat" cmpd="sng" algn="ctr">
                      <a:solidFill>
                        <a:srgbClr val="D9D3E3"/>
                      </a:solidFill>
                      <a:prstDash val="solid"/>
                      <a:round/>
                      <a:headEnd type="none" w="med" len="med"/>
                      <a:tailEnd type="none" w="med" len="med"/>
                    </a:lnT>
                    <a:lnB w="6350" cap="flat" cmpd="sng" algn="ctr">
                      <a:solidFill>
                        <a:srgbClr val="D9D3E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00800"/>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8"/>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rtlCol="0" anchor="b"/>
          <a:lstStyle/>
          <a:p>
            <a:pPr indent="0" marL="0">
              <a:buNone/>
            </a:pPr>
            <a:r>
              <a:rPr lang="en-US" sz="4400" b="1" dirty="0">
                <a:solidFill>
                  <a:schemeClr val="bg1"/>
                </a:solidFill>
                <a:latin typeface="Cambria" pitchFamily="34" charset="0"/>
                <a:ea typeface="Cambria" pitchFamily="34" charset="-122"/>
                <a:cs typeface="Cambria" pitchFamily="34" charset="-120"/>
              </a:rPr>
              <a:t>Questions</a:t>
            </a:r>
            <a:endParaRPr lang="en-US" sz="4400" dirty="0"/>
          </a:p>
        </p:txBody>
      </p:sp>
      <p:sp>
        <p:nvSpPr>
          <p:cNvPr id="3" name="Text 0"/>
          <p:cNvSpPr/>
          <p:nvPr>
            <p:ph idx="101" type="body" hasCustomPrompt="1"/>
          </p:nvPr>
        </p:nvSpPr>
        <p:spPr>
          <a:xfrm>
            <a:off x="731520" y="3794760"/>
            <a:ext cx="10698480" cy="1463040"/>
          </a:xfrm>
          <a:prstGeom prst="rect">
            <a:avLst/>
          </a:prstGeom>
          <a:noFill/>
          <a:ln/>
        </p:spPr>
        <p:txBody>
          <a:bodyPr wrap="square" rtlCol="0" anchor="t"/>
          <a:lstStyle/>
          <a:p>
            <a:pPr indent="0" marL="0">
              <a:buNone/>
            </a:pPr>
            <a:r>
              <a:rPr lang="en-US" sz="1800" dirty="0">
                <a:solidFill>
                  <a:schemeClr val="accent2"/>
                </a:solidFill>
              </a:rPr>
              <a:t>Option B: React SPA + FastAPI modular monolith + PostgreSQL</a:t>
            </a:r>
            <a:endParaRPr lang="en-US" sz="1800" dirty="0"/>
          </a:p>
          <a:p>
            <a:pPr indent="0" marL="0">
              <a:buNone/>
            </a:pPr>
            <a:r>
              <a:rPr lang="en-US" sz="1800" dirty="0">
                <a:solidFill>
                  <a:schemeClr val="accent2"/>
                </a:solidFill>
              </a:rPr>
              <a:t>One container  ·  one transaction per action  ·  stock never wrong</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Prepared answers to likely questions (1 of 2)</a:t>
            </a:r>
            <a:endParaRPr lang="en-US" sz="3200" dirty="0"/>
          </a:p>
        </p:txBody>
      </p:sp>
      <p:sp>
        <p:nvSpPr>
          <p:cNvPr id="3" name="card-311"/>
          <p:cNvSpPr/>
          <p:nvPr/>
        </p:nvSpPr>
        <p:spPr>
          <a:xfrm>
            <a:off x="548640" y="1234440"/>
            <a:ext cx="11091672" cy="1115568"/>
          </a:xfrm>
          <a:prstGeom prst="roundRect">
            <a:avLst>
              <a:gd name="adj" fmla="val 6557"/>
            </a:avLst>
          </a:prstGeom>
          <a:solidFill>
            <a:schemeClr val="bg2"/>
          </a:solidFill>
          <a:ln w="12700">
            <a:solidFill>
              <a:schemeClr val="bg2"/>
            </a:solidFill>
            <a:prstDash val="solid"/>
          </a:ln>
        </p:spPr>
      </p:sp>
      <p:sp>
        <p:nvSpPr>
          <p:cNvPr id="4" name="badge-312"/>
          <p:cNvSpPr/>
          <p:nvPr/>
        </p:nvSpPr>
        <p:spPr>
          <a:xfrm>
            <a:off x="731520" y="1517904"/>
            <a:ext cx="548640" cy="548640"/>
          </a:xfrm>
          <a:prstGeom prst="ellipse">
            <a:avLst/>
          </a:prstGeom>
          <a:solidFill>
            <a:schemeClr val="accent1"/>
          </a:solidFill>
          <a:ln w="12700">
            <a:solidFill>
              <a:schemeClr val="accent1"/>
            </a:solidFill>
            <a:prstDash val="solid"/>
          </a:ln>
        </p:spPr>
      </p:sp>
      <p:sp>
        <p:nvSpPr>
          <p:cNvPr id="5" name="badge-text-313"/>
          <p:cNvSpPr txBox="1"/>
          <p:nvPr/>
        </p:nvSpPr>
        <p:spPr>
          <a:xfrm>
            <a:off x="731520" y="1517904"/>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Q</a:t>
            </a:r>
            <a:endParaRPr lang="en-US" sz="1800" dirty="0"/>
          </a:p>
        </p:txBody>
      </p:sp>
      <p:sp>
        <p:nvSpPr>
          <p:cNvPr id="6" name="text-314"/>
          <p:cNvSpPr txBox="1"/>
          <p:nvPr/>
        </p:nvSpPr>
        <p:spPr>
          <a:xfrm>
            <a:off x="1463040" y="1234440"/>
            <a:ext cx="3383280" cy="1115568"/>
          </a:xfrm>
          <a:prstGeom prst="rect">
            <a:avLst/>
          </a:prstGeom>
          <a:noFill/>
          <a:ln/>
        </p:spPr>
        <p:txBody>
          <a:bodyPr wrap="square" lIns="0" tIns="0" rIns="0" bIns="0" rtlCol="0" anchor="ctr"/>
          <a:lstStyle/>
          <a:p>
            <a:pPr indent="0" marL="0">
              <a:buNone/>
            </a:pPr>
            <a:r>
              <a:rPr lang="en-US" sz="1600" b="1" dirty="0">
                <a:solidFill>
                  <a:schemeClr val="tx2"/>
                </a:solidFill>
              </a:rPr>
              <a:t>Why not microservices?</a:t>
            </a:r>
            <a:endParaRPr lang="en-US" sz="1600" dirty="0"/>
          </a:p>
        </p:txBody>
      </p:sp>
      <p:sp>
        <p:nvSpPr>
          <p:cNvPr id="7" name="text-315"/>
          <p:cNvSpPr txBox="1"/>
          <p:nvPr/>
        </p:nvSpPr>
        <p:spPr>
          <a:xfrm>
            <a:off x="4937760" y="1234440"/>
            <a:ext cx="6537960" cy="1115568"/>
          </a:xfrm>
          <a:prstGeom prst="rect">
            <a:avLst/>
          </a:prstGeom>
          <a:noFill/>
          <a:ln/>
        </p:spPr>
        <p:txBody>
          <a:bodyPr wrap="square" lIns="0" tIns="0" rIns="0" bIns="0" rtlCol="0" anchor="ctr"/>
          <a:lstStyle/>
          <a:p>
            <a:pPr indent="0" marL="0">
              <a:buNone/>
            </a:pPr>
            <a:r>
              <a:rPr lang="en-US" sz="1400" dirty="0">
                <a:solidFill>
                  <a:schemeClr val="tx1"/>
                </a:solidFill>
              </a:rPr>
              <a:t>One pantry, eight students, six weeks. Microservices add network calls, deployments and failure modes. Our modules have clean boundaries, so we can split later if separate teams need it.</a:t>
            </a:r>
            <a:endParaRPr lang="en-US" sz="1400" dirty="0"/>
          </a:p>
        </p:txBody>
      </p:sp>
      <p:sp>
        <p:nvSpPr>
          <p:cNvPr id="8" name="card-316"/>
          <p:cNvSpPr/>
          <p:nvPr/>
        </p:nvSpPr>
        <p:spPr>
          <a:xfrm>
            <a:off x="548640" y="2496312"/>
            <a:ext cx="11091672" cy="1115568"/>
          </a:xfrm>
          <a:prstGeom prst="roundRect">
            <a:avLst>
              <a:gd name="adj" fmla="val 6557"/>
            </a:avLst>
          </a:prstGeom>
          <a:solidFill>
            <a:schemeClr val="bg2"/>
          </a:solidFill>
          <a:ln w="12700">
            <a:solidFill>
              <a:schemeClr val="bg2"/>
            </a:solidFill>
            <a:prstDash val="solid"/>
          </a:ln>
        </p:spPr>
      </p:sp>
      <p:sp>
        <p:nvSpPr>
          <p:cNvPr id="9" name="badge-317"/>
          <p:cNvSpPr/>
          <p:nvPr/>
        </p:nvSpPr>
        <p:spPr>
          <a:xfrm>
            <a:off x="731520" y="2779776"/>
            <a:ext cx="548640" cy="548640"/>
          </a:xfrm>
          <a:prstGeom prst="ellipse">
            <a:avLst/>
          </a:prstGeom>
          <a:solidFill>
            <a:schemeClr val="accent1"/>
          </a:solidFill>
          <a:ln w="12700">
            <a:solidFill>
              <a:schemeClr val="accent1"/>
            </a:solidFill>
            <a:prstDash val="solid"/>
          </a:ln>
        </p:spPr>
      </p:sp>
      <p:sp>
        <p:nvSpPr>
          <p:cNvPr id="10" name="badge-text-318"/>
          <p:cNvSpPr txBox="1"/>
          <p:nvPr/>
        </p:nvSpPr>
        <p:spPr>
          <a:xfrm>
            <a:off x="731520" y="2779776"/>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Q</a:t>
            </a:r>
            <a:endParaRPr lang="en-US" sz="1800" dirty="0"/>
          </a:p>
        </p:txBody>
      </p:sp>
      <p:sp>
        <p:nvSpPr>
          <p:cNvPr id="11" name="text-319"/>
          <p:cNvSpPr txBox="1"/>
          <p:nvPr/>
        </p:nvSpPr>
        <p:spPr>
          <a:xfrm>
            <a:off x="1463040" y="2496312"/>
            <a:ext cx="3383280" cy="1115568"/>
          </a:xfrm>
          <a:prstGeom prst="rect">
            <a:avLst/>
          </a:prstGeom>
          <a:noFill/>
          <a:ln/>
        </p:spPr>
        <p:txBody>
          <a:bodyPr wrap="square" lIns="0" tIns="0" rIns="0" bIns="0" rtlCol="0" anchor="ctr"/>
          <a:lstStyle/>
          <a:p>
            <a:pPr indent="0" marL="0">
              <a:buNone/>
            </a:pPr>
            <a:r>
              <a:rPr lang="en-US" sz="1600" b="1" dirty="0">
                <a:solidFill>
                  <a:schemeClr val="tx2"/>
                </a:solidFill>
              </a:rPr>
              <a:t>Two staff give out the last item at once?</a:t>
            </a:r>
            <a:endParaRPr lang="en-US" sz="1600" dirty="0"/>
          </a:p>
        </p:txBody>
      </p:sp>
      <p:sp>
        <p:nvSpPr>
          <p:cNvPr id="12" name="text-320"/>
          <p:cNvSpPr txBox="1"/>
          <p:nvPr/>
        </p:nvSpPr>
        <p:spPr>
          <a:xfrm>
            <a:off x="4937760" y="2496312"/>
            <a:ext cx="6537960" cy="1115568"/>
          </a:xfrm>
          <a:prstGeom prst="rect">
            <a:avLst/>
          </a:prstGeom>
          <a:noFill/>
          <a:ln/>
        </p:spPr>
        <p:txBody>
          <a:bodyPr wrap="square" lIns="0" tIns="0" rIns="0" bIns="0" rtlCol="0" anchor="ctr"/>
          <a:lstStyle/>
          <a:p>
            <a:pPr indent="0" marL="0">
              <a:buNone/>
            </a:pPr>
            <a:r>
              <a:rPr lang="en-US" sz="1400" dirty="0">
                <a:solidFill>
                  <a:schemeClr val="tx1"/>
                </a:solidFill>
              </a:rPr>
              <a:t>Both lock the same lot rows. The second waits, sees zero and gets 409. A CHECK constraint stops negatives even if our code is wrong. A CI test proves it.</a:t>
            </a:r>
            <a:endParaRPr lang="en-US" sz="1400" dirty="0"/>
          </a:p>
        </p:txBody>
      </p:sp>
      <p:sp>
        <p:nvSpPr>
          <p:cNvPr id="13" name="card-321"/>
          <p:cNvSpPr/>
          <p:nvPr/>
        </p:nvSpPr>
        <p:spPr>
          <a:xfrm>
            <a:off x="548640" y="3758184"/>
            <a:ext cx="11091672" cy="1115568"/>
          </a:xfrm>
          <a:prstGeom prst="roundRect">
            <a:avLst>
              <a:gd name="adj" fmla="val 6557"/>
            </a:avLst>
          </a:prstGeom>
          <a:solidFill>
            <a:schemeClr val="bg2"/>
          </a:solidFill>
          <a:ln w="12700">
            <a:solidFill>
              <a:schemeClr val="bg2"/>
            </a:solidFill>
            <a:prstDash val="solid"/>
          </a:ln>
        </p:spPr>
      </p:sp>
      <p:sp>
        <p:nvSpPr>
          <p:cNvPr id="14" name="badge-322"/>
          <p:cNvSpPr/>
          <p:nvPr/>
        </p:nvSpPr>
        <p:spPr>
          <a:xfrm>
            <a:off x="731520" y="4041648"/>
            <a:ext cx="548640" cy="548640"/>
          </a:xfrm>
          <a:prstGeom prst="ellipse">
            <a:avLst/>
          </a:prstGeom>
          <a:solidFill>
            <a:schemeClr val="accent1"/>
          </a:solidFill>
          <a:ln w="12700">
            <a:solidFill>
              <a:schemeClr val="accent1"/>
            </a:solidFill>
            <a:prstDash val="solid"/>
          </a:ln>
        </p:spPr>
      </p:sp>
      <p:sp>
        <p:nvSpPr>
          <p:cNvPr id="15" name="badge-text-323"/>
          <p:cNvSpPr txBox="1"/>
          <p:nvPr/>
        </p:nvSpPr>
        <p:spPr>
          <a:xfrm>
            <a:off x="731520" y="4041648"/>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Q</a:t>
            </a:r>
            <a:endParaRPr lang="en-US" sz="1800" dirty="0"/>
          </a:p>
        </p:txBody>
      </p:sp>
      <p:sp>
        <p:nvSpPr>
          <p:cNvPr id="16" name="text-324"/>
          <p:cNvSpPr txBox="1"/>
          <p:nvPr/>
        </p:nvSpPr>
        <p:spPr>
          <a:xfrm>
            <a:off x="1463040" y="3758184"/>
            <a:ext cx="3383280" cy="1115568"/>
          </a:xfrm>
          <a:prstGeom prst="rect">
            <a:avLst/>
          </a:prstGeom>
          <a:noFill/>
          <a:ln/>
        </p:spPr>
        <p:txBody>
          <a:bodyPr wrap="square" lIns="0" tIns="0" rIns="0" bIns="0" rtlCol="0" anchor="ctr"/>
          <a:lstStyle/>
          <a:p>
            <a:pPr indent="0" marL="0">
              <a:buNone/>
            </a:pPr>
            <a:r>
              <a:rPr lang="en-US" sz="1600" b="1" dirty="0">
                <a:solidFill>
                  <a:schemeClr val="tx2"/>
                </a:solidFill>
              </a:rPr>
              <a:t>Isn't one container a single point of failure?</a:t>
            </a:r>
            <a:endParaRPr lang="en-US" sz="1600" dirty="0"/>
          </a:p>
        </p:txBody>
      </p:sp>
      <p:sp>
        <p:nvSpPr>
          <p:cNvPr id="17" name="text-325"/>
          <p:cNvSpPr txBox="1"/>
          <p:nvPr/>
        </p:nvSpPr>
        <p:spPr>
          <a:xfrm>
            <a:off x="4937760" y="3758184"/>
            <a:ext cx="6537960" cy="1115568"/>
          </a:xfrm>
          <a:prstGeom prst="rect">
            <a:avLst/>
          </a:prstGeom>
          <a:noFill/>
          <a:ln/>
        </p:spPr>
        <p:txBody>
          <a:bodyPr wrap="square" lIns="0" tIns="0" rIns="0" bIns="0" rtlCol="0" anchor="ctr"/>
          <a:lstStyle/>
          <a:p>
            <a:pPr indent="0" marL="0">
              <a:buNone/>
            </a:pPr>
            <a:r>
              <a:rPr lang="en-US" sz="1400" dirty="0">
                <a:solidFill>
                  <a:schemeClr val="tx1"/>
                </a:solidFill>
              </a:rPr>
              <a:t>Yes. The platform restarts it and the pantry can use paper for a few minutes. For more availability, run two copies; the app keeps no state in memory.</a:t>
            </a:r>
            <a:endParaRPr lang="en-US" sz="1400" dirty="0"/>
          </a:p>
        </p:txBody>
      </p:sp>
      <p:sp>
        <p:nvSpPr>
          <p:cNvPr id="18" name="card-326"/>
          <p:cNvSpPr/>
          <p:nvPr/>
        </p:nvSpPr>
        <p:spPr>
          <a:xfrm>
            <a:off x="548640" y="5020056"/>
            <a:ext cx="11091672" cy="1115568"/>
          </a:xfrm>
          <a:prstGeom prst="roundRect">
            <a:avLst>
              <a:gd name="adj" fmla="val 6557"/>
            </a:avLst>
          </a:prstGeom>
          <a:solidFill>
            <a:schemeClr val="bg2"/>
          </a:solidFill>
          <a:ln w="12700">
            <a:solidFill>
              <a:schemeClr val="bg2"/>
            </a:solidFill>
            <a:prstDash val="solid"/>
          </a:ln>
        </p:spPr>
      </p:sp>
      <p:sp>
        <p:nvSpPr>
          <p:cNvPr id="19" name="badge-327"/>
          <p:cNvSpPr/>
          <p:nvPr/>
        </p:nvSpPr>
        <p:spPr>
          <a:xfrm>
            <a:off x="731520" y="5303520"/>
            <a:ext cx="548640" cy="548640"/>
          </a:xfrm>
          <a:prstGeom prst="ellipse">
            <a:avLst/>
          </a:prstGeom>
          <a:solidFill>
            <a:schemeClr val="accent1"/>
          </a:solidFill>
          <a:ln w="12700">
            <a:solidFill>
              <a:schemeClr val="accent1"/>
            </a:solidFill>
            <a:prstDash val="solid"/>
          </a:ln>
        </p:spPr>
      </p:sp>
      <p:sp>
        <p:nvSpPr>
          <p:cNvPr id="20" name="badge-text-328"/>
          <p:cNvSpPr txBox="1"/>
          <p:nvPr/>
        </p:nvSpPr>
        <p:spPr>
          <a:xfrm>
            <a:off x="731520" y="53035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Q</a:t>
            </a:r>
            <a:endParaRPr lang="en-US" sz="1800" dirty="0"/>
          </a:p>
        </p:txBody>
      </p:sp>
      <p:sp>
        <p:nvSpPr>
          <p:cNvPr id="21" name="text-329"/>
          <p:cNvSpPr txBox="1"/>
          <p:nvPr/>
        </p:nvSpPr>
        <p:spPr>
          <a:xfrm>
            <a:off x="1463040" y="5020056"/>
            <a:ext cx="3383280" cy="1115568"/>
          </a:xfrm>
          <a:prstGeom prst="rect">
            <a:avLst/>
          </a:prstGeom>
          <a:noFill/>
          <a:ln/>
        </p:spPr>
        <p:txBody>
          <a:bodyPr wrap="square" lIns="0" tIns="0" rIns="0" bIns="0" rtlCol="0" anchor="ctr"/>
          <a:lstStyle/>
          <a:p>
            <a:pPr indent="0" marL="0">
              <a:buNone/>
            </a:pPr>
            <a:r>
              <a:rPr lang="en-US" sz="1600" b="1" dirty="0">
                <a:solidFill>
                  <a:schemeClr val="tx2"/>
                </a:solidFill>
              </a:rPr>
              <a:t>Why cookies instead of JWTs?</a:t>
            </a:r>
            <a:endParaRPr lang="en-US" sz="1600" dirty="0"/>
          </a:p>
        </p:txBody>
      </p:sp>
      <p:sp>
        <p:nvSpPr>
          <p:cNvPr id="22" name="text-330"/>
          <p:cNvSpPr txBox="1"/>
          <p:nvPr/>
        </p:nvSpPr>
        <p:spPr>
          <a:xfrm>
            <a:off x="4937760" y="5020056"/>
            <a:ext cx="6537960" cy="1115568"/>
          </a:xfrm>
          <a:prstGeom prst="rect">
            <a:avLst/>
          </a:prstGeom>
          <a:noFill/>
          <a:ln/>
        </p:spPr>
        <p:txBody>
          <a:bodyPr wrap="square" lIns="0" tIns="0" rIns="0" bIns="0" rtlCol="0" anchor="ctr"/>
          <a:lstStyle/>
          <a:p>
            <a:pPr indent="0" marL="0">
              <a:buNone/>
            </a:pPr>
            <a:r>
              <a:rPr lang="en-US" sz="1400" dirty="0">
                <a:solidFill>
                  <a:schemeClr val="tx1"/>
                </a:solidFill>
              </a:rPr>
              <a:t>App and API share one origin, so an httpOnly cookie is simpler and safer: scripts cannot read it and we can revoke it. JWTs help when many services verify tokens.</a:t>
            </a:r>
            <a:endParaRPr lang="en-US" sz="1400" dirty="0"/>
          </a:p>
        </p:txBody>
      </p:sp>
      <p:sp>
        <p:nvSpPr>
          <p:cNvPr id="25" name="Slide Number Placeholder 0"/>
          <p:cNvSpPr>
            <a:spLocks noGrp="1"/>
          </p:cNvSpPr>
          <p:nvPr>
            <p:ph type="sldNum" sz="quarter" idx="4294967295"/>
          </p:nvPr>
        </p:nvSpPr>
        <p:spPr>
          <a:xfrm>
            <a:off x="11247120" y="6400800"/>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8"/>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Prepared answers to likely questions (2 of 2)</a:t>
            </a:r>
            <a:endParaRPr lang="en-US" sz="3200" dirty="0"/>
          </a:p>
        </p:txBody>
      </p:sp>
      <p:sp>
        <p:nvSpPr>
          <p:cNvPr id="3" name="card-331"/>
          <p:cNvSpPr/>
          <p:nvPr/>
        </p:nvSpPr>
        <p:spPr>
          <a:xfrm>
            <a:off x="548640" y="1234440"/>
            <a:ext cx="11091672" cy="1115568"/>
          </a:xfrm>
          <a:prstGeom prst="roundRect">
            <a:avLst>
              <a:gd name="adj" fmla="val 6557"/>
            </a:avLst>
          </a:prstGeom>
          <a:solidFill>
            <a:schemeClr val="bg2"/>
          </a:solidFill>
          <a:ln w="12700">
            <a:solidFill>
              <a:schemeClr val="bg2"/>
            </a:solidFill>
            <a:prstDash val="solid"/>
          </a:ln>
        </p:spPr>
      </p:sp>
      <p:sp>
        <p:nvSpPr>
          <p:cNvPr id="4" name="badge-332"/>
          <p:cNvSpPr/>
          <p:nvPr/>
        </p:nvSpPr>
        <p:spPr>
          <a:xfrm>
            <a:off x="731520" y="1517904"/>
            <a:ext cx="548640" cy="548640"/>
          </a:xfrm>
          <a:prstGeom prst="ellipse">
            <a:avLst/>
          </a:prstGeom>
          <a:solidFill>
            <a:schemeClr val="accent1"/>
          </a:solidFill>
          <a:ln w="12700">
            <a:solidFill>
              <a:schemeClr val="accent1"/>
            </a:solidFill>
            <a:prstDash val="solid"/>
          </a:ln>
        </p:spPr>
      </p:sp>
      <p:sp>
        <p:nvSpPr>
          <p:cNvPr id="5" name="badge-text-333"/>
          <p:cNvSpPr txBox="1"/>
          <p:nvPr/>
        </p:nvSpPr>
        <p:spPr>
          <a:xfrm>
            <a:off x="731520" y="1517904"/>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Q</a:t>
            </a:r>
            <a:endParaRPr lang="en-US" sz="1800" dirty="0"/>
          </a:p>
        </p:txBody>
      </p:sp>
      <p:sp>
        <p:nvSpPr>
          <p:cNvPr id="6" name="text-334"/>
          <p:cNvSpPr txBox="1"/>
          <p:nvPr/>
        </p:nvSpPr>
        <p:spPr>
          <a:xfrm>
            <a:off x="1463040" y="1234440"/>
            <a:ext cx="3383280" cy="1115568"/>
          </a:xfrm>
          <a:prstGeom prst="rect">
            <a:avLst/>
          </a:prstGeom>
          <a:noFill/>
          <a:ln/>
        </p:spPr>
        <p:txBody>
          <a:bodyPr wrap="square" lIns="0" tIns="0" rIns="0" bIns="0" rtlCol="0" anchor="ctr"/>
          <a:lstStyle/>
          <a:p>
            <a:pPr indent="0" marL="0">
              <a:buNone/>
            </a:pPr>
            <a:r>
              <a:rPr lang="en-US" sz="1600" b="1" dirty="0">
                <a:solidFill>
                  <a:schemeClr val="tx2"/>
                </a:solidFill>
              </a:rPr>
              <a:t>How do you protect student privacy?</a:t>
            </a:r>
            <a:endParaRPr lang="en-US" sz="1600" dirty="0"/>
          </a:p>
        </p:txBody>
      </p:sp>
      <p:sp>
        <p:nvSpPr>
          <p:cNvPr id="7" name="text-335"/>
          <p:cNvSpPr txBox="1"/>
          <p:nvPr/>
        </p:nvSpPr>
        <p:spPr>
          <a:xfrm>
            <a:off x="4937760" y="1234440"/>
            <a:ext cx="6537960" cy="1115568"/>
          </a:xfrm>
          <a:prstGeom prst="rect">
            <a:avLst/>
          </a:prstGeom>
          <a:noFill/>
          <a:ln/>
        </p:spPr>
        <p:txBody>
          <a:bodyPr wrap="square" lIns="0" tIns="0" rIns="0" bIns="0" rtlCol="0" anchor="ctr"/>
          <a:lstStyle/>
          <a:p>
            <a:pPr indent="0" marL="0">
              <a:buNone/>
            </a:pPr>
            <a:r>
              <a:rPr lang="en-US" sz="1400" dirty="0">
                <a:solidFill>
                  <a:schemeClr val="tx1"/>
                </a:solidFill>
              </a:rPr>
              <a:t>Own-records-only access, tested. Reports show counts, not names. Staff actions audited. We do not collect why a student needs food. Gap: retention policy.</a:t>
            </a:r>
            <a:endParaRPr lang="en-US" sz="1400" dirty="0"/>
          </a:p>
        </p:txBody>
      </p:sp>
      <p:sp>
        <p:nvSpPr>
          <p:cNvPr id="8" name="card-336"/>
          <p:cNvSpPr/>
          <p:nvPr/>
        </p:nvSpPr>
        <p:spPr>
          <a:xfrm>
            <a:off x="548640" y="2496312"/>
            <a:ext cx="11091672" cy="1115568"/>
          </a:xfrm>
          <a:prstGeom prst="roundRect">
            <a:avLst>
              <a:gd name="adj" fmla="val 6557"/>
            </a:avLst>
          </a:prstGeom>
          <a:solidFill>
            <a:schemeClr val="bg2"/>
          </a:solidFill>
          <a:ln w="12700">
            <a:solidFill>
              <a:schemeClr val="bg2"/>
            </a:solidFill>
            <a:prstDash val="solid"/>
          </a:ln>
        </p:spPr>
      </p:sp>
      <p:sp>
        <p:nvSpPr>
          <p:cNvPr id="9" name="badge-337"/>
          <p:cNvSpPr/>
          <p:nvPr/>
        </p:nvSpPr>
        <p:spPr>
          <a:xfrm>
            <a:off x="731520" y="2779776"/>
            <a:ext cx="548640" cy="548640"/>
          </a:xfrm>
          <a:prstGeom prst="ellipse">
            <a:avLst/>
          </a:prstGeom>
          <a:solidFill>
            <a:schemeClr val="accent1"/>
          </a:solidFill>
          <a:ln w="12700">
            <a:solidFill>
              <a:schemeClr val="accent1"/>
            </a:solidFill>
            <a:prstDash val="solid"/>
          </a:ln>
        </p:spPr>
      </p:sp>
      <p:sp>
        <p:nvSpPr>
          <p:cNvPr id="10" name="badge-text-338"/>
          <p:cNvSpPr txBox="1"/>
          <p:nvPr/>
        </p:nvSpPr>
        <p:spPr>
          <a:xfrm>
            <a:off x="731520" y="2779776"/>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Q</a:t>
            </a:r>
            <a:endParaRPr lang="en-US" sz="1800" dirty="0"/>
          </a:p>
        </p:txBody>
      </p:sp>
      <p:sp>
        <p:nvSpPr>
          <p:cNvPr id="11" name="text-339"/>
          <p:cNvSpPr txBox="1"/>
          <p:nvPr/>
        </p:nvSpPr>
        <p:spPr>
          <a:xfrm>
            <a:off x="1463040" y="2496312"/>
            <a:ext cx="3383280" cy="1115568"/>
          </a:xfrm>
          <a:prstGeom prst="rect">
            <a:avLst/>
          </a:prstGeom>
          <a:noFill/>
          <a:ln/>
        </p:spPr>
        <p:txBody>
          <a:bodyPr wrap="square" lIns="0" tIns="0" rIns="0" bIns="0" rtlCol="0" anchor="ctr"/>
          <a:lstStyle/>
          <a:p>
            <a:pPr indent="0" marL="0">
              <a:buNone/>
            </a:pPr>
            <a:r>
              <a:rPr lang="en-US" sz="1600" b="1" dirty="0">
                <a:solidFill>
                  <a:schemeClr val="tx2"/>
                </a:solidFill>
              </a:rPr>
              <a:t>What if email is down?</a:t>
            </a:r>
            <a:endParaRPr lang="en-US" sz="1600" dirty="0"/>
          </a:p>
        </p:txBody>
      </p:sp>
      <p:sp>
        <p:nvSpPr>
          <p:cNvPr id="12" name="text-340"/>
          <p:cNvSpPr txBox="1"/>
          <p:nvPr/>
        </p:nvSpPr>
        <p:spPr>
          <a:xfrm>
            <a:off x="4937760" y="2496312"/>
            <a:ext cx="6537960" cy="1115568"/>
          </a:xfrm>
          <a:prstGeom prst="rect">
            <a:avLst/>
          </a:prstGeom>
          <a:noFill/>
          <a:ln/>
        </p:spPr>
        <p:txBody>
          <a:bodyPr wrap="square" lIns="0" tIns="0" rIns="0" bIns="0" rtlCol="0" anchor="ctr"/>
          <a:lstStyle/>
          <a:p>
            <a:pPr indent="0" marL="0">
              <a:buNone/>
            </a:pPr>
            <a:r>
              <a:rPr lang="en-US" sz="1400" dirty="0">
                <a:solidFill>
                  <a:schemeClr val="tx1"/>
                </a:solidFill>
              </a:rPr>
              <a:t>Email runs after commit, so the request is already saved. The failure is logged. A queue with retries is the next step if delivery matters more.</a:t>
            </a:r>
            <a:endParaRPr lang="en-US" sz="1400" dirty="0"/>
          </a:p>
        </p:txBody>
      </p:sp>
      <p:sp>
        <p:nvSpPr>
          <p:cNvPr id="13" name="card-341"/>
          <p:cNvSpPr/>
          <p:nvPr/>
        </p:nvSpPr>
        <p:spPr>
          <a:xfrm>
            <a:off x="548640" y="3758184"/>
            <a:ext cx="11091672" cy="1115568"/>
          </a:xfrm>
          <a:prstGeom prst="roundRect">
            <a:avLst>
              <a:gd name="adj" fmla="val 6557"/>
            </a:avLst>
          </a:prstGeom>
          <a:solidFill>
            <a:schemeClr val="bg2"/>
          </a:solidFill>
          <a:ln w="12700">
            <a:solidFill>
              <a:schemeClr val="bg2"/>
            </a:solidFill>
            <a:prstDash val="solid"/>
          </a:ln>
        </p:spPr>
      </p:sp>
      <p:sp>
        <p:nvSpPr>
          <p:cNvPr id="14" name="badge-342"/>
          <p:cNvSpPr/>
          <p:nvPr/>
        </p:nvSpPr>
        <p:spPr>
          <a:xfrm>
            <a:off x="731520" y="4041648"/>
            <a:ext cx="548640" cy="548640"/>
          </a:xfrm>
          <a:prstGeom prst="ellipse">
            <a:avLst/>
          </a:prstGeom>
          <a:solidFill>
            <a:schemeClr val="accent1"/>
          </a:solidFill>
          <a:ln w="12700">
            <a:solidFill>
              <a:schemeClr val="accent1"/>
            </a:solidFill>
            <a:prstDash val="solid"/>
          </a:ln>
        </p:spPr>
      </p:sp>
      <p:sp>
        <p:nvSpPr>
          <p:cNvPr id="15" name="badge-text-343"/>
          <p:cNvSpPr txBox="1"/>
          <p:nvPr/>
        </p:nvSpPr>
        <p:spPr>
          <a:xfrm>
            <a:off x="731520" y="4041648"/>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Q</a:t>
            </a:r>
            <a:endParaRPr lang="en-US" sz="1800" dirty="0"/>
          </a:p>
        </p:txBody>
      </p:sp>
      <p:sp>
        <p:nvSpPr>
          <p:cNvPr id="16" name="text-344"/>
          <p:cNvSpPr txBox="1"/>
          <p:nvPr/>
        </p:nvSpPr>
        <p:spPr>
          <a:xfrm>
            <a:off x="1463040" y="3758184"/>
            <a:ext cx="3383280" cy="1115568"/>
          </a:xfrm>
          <a:prstGeom prst="rect">
            <a:avLst/>
          </a:prstGeom>
          <a:noFill/>
          <a:ln/>
        </p:spPr>
        <p:txBody>
          <a:bodyPr wrap="square" lIns="0" tIns="0" rIns="0" bIns="0" rtlCol="0" anchor="ctr"/>
          <a:lstStyle/>
          <a:p>
            <a:pPr indent="0" marL="0">
              <a:buNone/>
            </a:pPr>
            <a:r>
              <a:rPr lang="en-US" sz="1600" b="1" dirty="0">
                <a:solidFill>
                  <a:schemeClr val="tx2"/>
                </a:solidFill>
              </a:rPr>
              <a:t>How would this scale to every campus?</a:t>
            </a:r>
            <a:endParaRPr lang="en-US" sz="1600" dirty="0"/>
          </a:p>
        </p:txBody>
      </p:sp>
      <p:sp>
        <p:nvSpPr>
          <p:cNvPr id="17" name="text-345"/>
          <p:cNvSpPr txBox="1"/>
          <p:nvPr/>
        </p:nvSpPr>
        <p:spPr>
          <a:xfrm>
            <a:off x="4937760" y="3758184"/>
            <a:ext cx="6537960" cy="1115568"/>
          </a:xfrm>
          <a:prstGeom prst="rect">
            <a:avLst/>
          </a:prstGeom>
          <a:noFill/>
          <a:ln/>
        </p:spPr>
        <p:txBody>
          <a:bodyPr wrap="square" lIns="0" tIns="0" rIns="0" bIns="0" rtlCol="0" anchor="ctr"/>
          <a:lstStyle/>
          <a:p>
            <a:pPr indent="0" marL="0">
              <a:buNone/>
            </a:pPr>
            <a:r>
              <a:rPr lang="en-US" sz="1400" dirty="0">
                <a:solidFill>
                  <a:schemeClr val="tx1"/>
                </a:solidFill>
              </a:rPr>
              <a:t>Add a pantry_id, run more copies, add read replicas for reports. At that point Option D starts to earn its cost. We have no traffic data, so we have not guessed.</a:t>
            </a:r>
            <a:endParaRPr lang="en-US" sz="1400" dirty="0"/>
          </a:p>
        </p:txBody>
      </p:sp>
      <p:sp>
        <p:nvSpPr>
          <p:cNvPr id="18" name="card-346"/>
          <p:cNvSpPr/>
          <p:nvPr/>
        </p:nvSpPr>
        <p:spPr>
          <a:xfrm>
            <a:off x="548640" y="5020056"/>
            <a:ext cx="11091672" cy="1115568"/>
          </a:xfrm>
          <a:prstGeom prst="roundRect">
            <a:avLst>
              <a:gd name="adj" fmla="val 6557"/>
            </a:avLst>
          </a:prstGeom>
          <a:solidFill>
            <a:schemeClr val="bg2"/>
          </a:solidFill>
          <a:ln w="12700">
            <a:solidFill>
              <a:schemeClr val="bg2"/>
            </a:solidFill>
            <a:prstDash val="solid"/>
          </a:ln>
        </p:spPr>
      </p:sp>
      <p:sp>
        <p:nvSpPr>
          <p:cNvPr id="19" name="badge-347"/>
          <p:cNvSpPr/>
          <p:nvPr/>
        </p:nvSpPr>
        <p:spPr>
          <a:xfrm>
            <a:off x="731520" y="5303520"/>
            <a:ext cx="548640" cy="548640"/>
          </a:xfrm>
          <a:prstGeom prst="ellipse">
            <a:avLst/>
          </a:prstGeom>
          <a:solidFill>
            <a:schemeClr val="accent1"/>
          </a:solidFill>
          <a:ln w="12700">
            <a:solidFill>
              <a:schemeClr val="accent1"/>
            </a:solidFill>
            <a:prstDash val="solid"/>
          </a:ln>
        </p:spPr>
      </p:sp>
      <p:sp>
        <p:nvSpPr>
          <p:cNvPr id="20" name="badge-text-348"/>
          <p:cNvSpPr txBox="1"/>
          <p:nvPr/>
        </p:nvSpPr>
        <p:spPr>
          <a:xfrm>
            <a:off x="731520" y="53035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Q</a:t>
            </a:r>
            <a:endParaRPr lang="en-US" sz="1800" dirty="0"/>
          </a:p>
        </p:txBody>
      </p:sp>
      <p:sp>
        <p:nvSpPr>
          <p:cNvPr id="21" name="text-349"/>
          <p:cNvSpPr txBox="1"/>
          <p:nvPr/>
        </p:nvSpPr>
        <p:spPr>
          <a:xfrm>
            <a:off x="1463040" y="5020056"/>
            <a:ext cx="3383280" cy="1115568"/>
          </a:xfrm>
          <a:prstGeom prst="rect">
            <a:avLst/>
          </a:prstGeom>
          <a:noFill/>
          <a:ln/>
        </p:spPr>
        <p:txBody>
          <a:bodyPr wrap="square" lIns="0" tIns="0" rIns="0" bIns="0" rtlCol="0" anchor="ctr"/>
          <a:lstStyle/>
          <a:p>
            <a:pPr indent="0" marL="0">
              <a:buNone/>
            </a:pPr>
            <a:r>
              <a:rPr lang="en-US" sz="1600" b="1" dirty="0">
                <a:solidFill>
                  <a:schemeClr val="tx2"/>
                </a:solidFill>
              </a:rPr>
              <a:t>How do you know it works?</a:t>
            </a:r>
            <a:endParaRPr lang="en-US" sz="1600" dirty="0"/>
          </a:p>
        </p:txBody>
      </p:sp>
      <p:sp>
        <p:nvSpPr>
          <p:cNvPr id="22" name="text-350"/>
          <p:cNvSpPr txBox="1"/>
          <p:nvPr/>
        </p:nvSpPr>
        <p:spPr>
          <a:xfrm>
            <a:off x="4937760" y="5020056"/>
            <a:ext cx="6537960" cy="1115568"/>
          </a:xfrm>
          <a:prstGeom prst="rect">
            <a:avLst/>
          </a:prstGeom>
          <a:noFill/>
          <a:ln/>
        </p:spPr>
        <p:txBody>
          <a:bodyPr wrap="square" lIns="0" tIns="0" rIns="0" bIns="0" rtlCol="0" anchor="ctr"/>
          <a:lstStyle/>
          <a:p>
            <a:pPr indent="0" marL="0">
              <a:buNone/>
            </a:pPr>
            <a:r>
              <a:rPr lang="en-US" sz="1400" dirty="0">
                <a:solidFill>
                  <a:schemeClr val="tx1"/>
                </a:solidFill>
              </a:rPr>
              <a:t>Unit tests per module, a test for every allowed and forbidden status change, the concurrency test, and API tests in CI on every pull request.</a:t>
            </a:r>
            <a:endParaRPr lang="en-US" sz="1400" dirty="0"/>
          </a:p>
        </p:txBody>
      </p:sp>
      <p:sp>
        <p:nvSpPr>
          <p:cNvPr id="25" name="Slide Number Placeholder 0"/>
          <p:cNvSpPr>
            <a:spLocks noGrp="1"/>
          </p:cNvSpPr>
          <p:nvPr>
            <p:ph type="sldNum" sz="quarter" idx="4294967295"/>
          </p:nvPr>
        </p:nvSpPr>
        <p:spPr>
          <a:xfrm>
            <a:off x="11247120" y="6400800"/>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8"/>
                </a:solidFill>
              </a:defRPr>
            </a:lvl1pPr>
          </a:lstStyle>
          <a:p>
            <a:pPr algn="r"/>
            <a:fld id="{F7021451-1387-4CA6-816F-3879F97B5CBC}" type="slidenum">
              <a:rPr b="0" lang="en-US"/>
              <a:t>30</a:t>
            </a:fld>
            <a:endParaRPr lang="en-US"/>
          </a:p>
        </p:txBody>
      </p:sp>
    </p:spTree>
  </p:cSld>
  <p:clrMapOvr>
    <a:masterClrMapping/>
  </p:clrMapOvr>
</p:sld>
</file>

<file path=ppt/theme/theme1.xml><?xml version="1.0" encoding="utf-8"?>
<a:theme xmlns:a="http://schemas.openxmlformats.org/drawingml/2006/main" name="Panther Pantry">
  <a:themeElements>
    <a:clrScheme name="Panther Pantry">
      <a:dk1>
        <a:srgbClr val="1F1A2E"/>
      </a:dk1>
      <a:lt1>
        <a:srgbClr val="FFFFFF"/>
      </a:lt1>
      <a:dk2>
        <a:srgbClr val="3B1F5E"/>
      </a:dk2>
      <a:lt2>
        <a:srgbClr val="F4F1F8"/>
      </a:lt2>
      <a:accent1>
        <a:srgbClr val="5C2D91"/>
      </a:accent1>
      <a:accent2>
        <a:srgbClr val="E8A317"/>
      </a:accent2>
      <a:accent3>
        <a:srgbClr val="2F7D3A"/>
      </a:accent3>
      <a:accent4>
        <a:srgbClr val="3E6AA8"/>
      </a:accent4>
      <a:accent5>
        <a:srgbClr val="B26B00"/>
      </a:accent5>
      <a:accent6>
        <a:srgbClr val="C0392B"/>
      </a:accent6>
      <a:hlink>
        <a:srgbClr val="5C2D91"/>
      </a:hlink>
      <a:folHlink>
        <a:srgbClr val="6A4A9C"/>
      </a:folHlink>
    </a:clrScheme>
    <a:fontScheme name="Panther Pant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Panther Food Pantry Management System — Architecture</dc:title>
  <dc:subject>PptxGenJS Presentation</dc:subject>
  <dc:creator>Franck Darole</dc:creator>
  <cp:lastModifiedBy>Franck Darole</cp:lastModifiedBy>
  <cp:revision>1</cp:revision>
  <dcterms:created xsi:type="dcterms:W3CDTF">2026-10-08T18:03:58Z</dcterms:created>
  <dcterms:modified xsi:type="dcterms:W3CDTF">2026-10-08T18:03:58Z</dcterms:modified>
</cp:coreProperties>
</file>